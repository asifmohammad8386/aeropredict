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t>Teaching example</a:t>
            </a:r>
          </a:p>
        </c:rich>
      </c:tx>
      <c:overlay val="0"/>
    </c:title>
    <c:autoTitleDeleted val="0"/>
    <c:plotArea>
      <c:layout/>
      <c:barChart>
        <c:barDir val="col"/>
        <c:grouping val="clustered"/>
        <c:varyColors val="0"/>
        <c:ser>
          <c:idx val="0"/>
          <c:order val="0"/>
          <c:tx>
            <c:v>Minutes</c:v>
          </c:tx>
          <c:spPr>
            <a:solidFill>
              <a:srgbClr val="B98251"/>
            </a:solidFill>
          </c:spPr>
          <c:invertIfNegative val="0"/>
          <c:dLbls>
            <c:numFmt formatCode="0" sourceLinked="0"/>
            <c:spPr>
              <a:noFill/>
              <a:ln>
                <a:noFill/>
              </a:ln>
              <a:effectLst/>
            </c:spPr>
            <c:txPr>
              <a:bodyPr/>
              <a:lstStyle/>
              <a:p>
                <a:pPr>
                  <a:defRPr sz="15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Tree 1</c:v>
                </c:pt>
                <c:pt idx="1">
                  <c:v>Tree 2</c:v>
                </c:pt>
                <c:pt idx="2">
                  <c:v>Tree 3</c:v>
                </c:pt>
              </c:strCache>
            </c:strRef>
          </c:cat>
          <c:val>
            <c:numRef>
              <c:f>'Chart Data'!$B$2:$B$4</c:f>
              <c:numCache>
                <c:formatCode>General</c:formatCode>
                <c:ptCount val="3"/>
                <c:pt idx="0">
                  <c:v>18</c:v>
                </c:pt>
                <c:pt idx="1">
                  <c:v>22</c:v>
                </c:pt>
                <c:pt idx="2">
                  <c:v>20</c:v>
                </c:pt>
              </c:numCache>
            </c:numRef>
          </c:val>
          <c:extLst>
            <c:ext xmlns:c16="http://schemas.microsoft.com/office/drawing/2014/chart" uri="{C3380CC4-5D6E-409C-BE32-E72D297353CC}">
              <c16:uniqueId val="{00000000-90B2-4E63-BE6D-F973E009C9BE}"/>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lstStyle/>
          <a:p>
            <a:pPr>
              <a:defRPr sz="1400"/>
            </a:pPr>
            <a:endParaRPr lang="en-US"/>
          </a:p>
        </c:txPr>
        <c:crossAx val="48672768"/>
        <c:crosses val="autoZero"/>
        <c:auto val="1"/>
        <c:lblAlgn val="ctr"/>
        <c:lblOffset val="100"/>
        <c:noMultiLvlLbl val="1"/>
      </c:catAx>
      <c:valAx>
        <c:axId val="48672768"/>
        <c:scaling>
          <c:orientation val="minMax"/>
          <c:max val="25"/>
          <c:min val="0"/>
        </c:scaling>
        <c:delete val="0"/>
        <c:axPos val="l"/>
        <c:majorGridlines>
          <c:spPr>
            <a:ln w="4763">
              <a:solidFill>
                <a:srgbClr val="D4D9CE"/>
              </a:solidFill>
            </a:ln>
          </c:spPr>
        </c:majorGridlines>
        <c:numFmt formatCode="General" sourceLinked="1"/>
        <c:majorTickMark val="none"/>
        <c:minorTickMark val="none"/>
        <c:tickLblPos val="nextTo"/>
        <c:spPr>
          <a:ln w="9525">
            <a:solidFill>
              <a:srgbClr val="D4D4D4"/>
            </a:solidFill>
            <a:prstDash val="solid"/>
          </a:ln>
        </c:spPr>
        <c:txPr>
          <a:bodyPr/>
          <a:lstStyle/>
          <a:p>
            <a:pPr>
              <a:defRPr sz="1300"/>
            </a:pPr>
            <a:endParaRPr lang="en-US"/>
          </a:p>
        </c:txPr>
        <c:crossAx val="48650112"/>
        <c:crosses val="autoZero"/>
        <c:crossBetween val="between"/>
        <c:majorUnit val="5"/>
      </c:valAx>
      <c:spPr>
        <a:solidFill>
          <a:srgbClr val="F4F1E9"/>
        </a:solidFill>
      </c:spPr>
    </c:plotArea>
    <c:plotVisOnly val="1"/>
    <c:dispBlanksAs val="zero"/>
    <c:showDLblsOverMax val="1"/>
  </c:chart>
  <c:spPr>
    <a:solidFill>
      <a:srgbClr val="F4F1E9"/>
    </a:solidFill>
    <a:ln w="0">
      <a:noFill/>
    </a:ln>
  </c:spPr>
  <c:txPr>
    <a:bodyPr/>
    <a:lstStyle/>
    <a:p>
      <a:pPr>
        <a:defRPr>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t>Test F1 score</a:t>
            </a:r>
          </a:p>
        </c:rich>
      </c:tx>
      <c:overlay val="0"/>
    </c:title>
    <c:autoTitleDeleted val="0"/>
    <c:plotArea>
      <c:layout/>
      <c:barChart>
        <c:barDir val="bar"/>
        <c:grouping val="clustered"/>
        <c:varyColors val="0"/>
        <c:ser>
          <c:idx val="0"/>
          <c:order val="0"/>
          <c:tx>
            <c:v>F1</c:v>
          </c:tx>
          <c:spPr>
            <a:solidFill>
              <a:srgbClr val="B98251"/>
            </a:solidFill>
          </c:spPr>
          <c:invertIfNegative val="0"/>
          <c:dLbls>
            <c:numFmt formatCode="0.0" sourceLinked="0"/>
            <c:spPr>
              <a:noFill/>
              <a:ln>
                <a:noFill/>
              </a:ln>
              <a:effectLst/>
            </c:spPr>
            <c:txPr>
              <a:bodyPr/>
              <a:lstStyle/>
              <a:p>
                <a:pPr>
                  <a:defRPr sz="15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Baseline</c:v>
                </c:pt>
                <c:pt idx="1">
                  <c:v>Decision Tree</c:v>
                </c:pt>
                <c:pt idx="2">
                  <c:v>Random Forest</c:v>
                </c:pt>
              </c:strCache>
            </c:strRef>
          </c:cat>
          <c:val>
            <c:numRef>
              <c:f>'Chart Data'!$B$2:$B$4</c:f>
              <c:numCache>
                <c:formatCode>General</c:formatCode>
                <c:ptCount val="3"/>
                <c:pt idx="0">
                  <c:v>79.8</c:v>
                </c:pt>
                <c:pt idx="1">
                  <c:v>84.2</c:v>
                </c:pt>
                <c:pt idx="2">
                  <c:v>85.5</c:v>
                </c:pt>
              </c:numCache>
            </c:numRef>
          </c:val>
          <c:extLst>
            <c:ext xmlns:c16="http://schemas.microsoft.com/office/drawing/2014/chart" uri="{C3380CC4-5D6E-409C-BE32-E72D297353CC}">
              <c16:uniqueId val="{00000000-1D03-40DF-9237-281803F58804}"/>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l"/>
        <c:majorGridlines>
          <c:spPr>
            <a:ln w="4763">
              <a:solidFill>
                <a:srgbClr val="D4D9CE"/>
              </a:solidFill>
            </a:ln>
          </c:spPr>
        </c:majorGridlines>
        <c:numFmt formatCode="General" sourceLinked="1"/>
        <c:majorTickMark val="none"/>
        <c:minorTickMark val="none"/>
        <c:tickLblPos val="nextTo"/>
        <c:spPr>
          <a:ln w="9525">
            <a:solidFill>
              <a:srgbClr val="D4D4D4"/>
            </a:solidFill>
            <a:prstDash val="solid"/>
          </a:ln>
        </c:spPr>
        <c:txPr>
          <a:bodyPr/>
          <a:lstStyle/>
          <a:p>
            <a:pPr>
              <a:defRPr sz="1400"/>
            </a:pPr>
            <a:endParaRPr lang="en-US"/>
          </a:p>
        </c:txPr>
        <c:crossAx val="48672768"/>
        <c:crosses val="autoZero"/>
        <c:auto val="1"/>
        <c:lblAlgn val="ctr"/>
        <c:lblOffset val="100"/>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lstStyle/>
          <a:p>
            <a:pPr>
              <a:defRPr sz="1300"/>
            </a:pPr>
            <a:endParaRPr lang="en-US"/>
          </a:p>
        </c:txPr>
        <c:crossAx val="48650112"/>
        <c:crosses val="autoZero"/>
        <c:crossBetween val="between"/>
        <c:majorUnit val="25"/>
      </c:valAx>
      <c:spPr>
        <a:solidFill>
          <a:srgbClr val="F4F1E9"/>
        </a:solidFill>
      </c:spPr>
    </c:plotArea>
    <c:plotVisOnly val="1"/>
    <c:dispBlanksAs val="zero"/>
    <c:showDLblsOverMax val="1"/>
  </c:chart>
  <c:spPr>
    <a:solidFill>
      <a:srgbClr val="F4F1E9"/>
    </a:solidFill>
    <a:ln w="0">
      <a:noFill/>
    </a:ln>
  </c:spPr>
  <c:txPr>
    <a:bodyPr/>
    <a:lstStyle/>
    <a:p>
      <a:pPr>
        <a:defRPr>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Our project, AeroPredict, studies departure delays from Hyderabad to six South India destinations. The project contains a 3D educational website and a separate, newly trained Random Forest study. The Random Forest experiment uses exactly the existing 6000 synthetic records and original ten features. It does not replace the current website rule engine. This presentation follows the supplied academic outline in 12 slides by combining Introduction with Problem Statement and combining Conclusion, Future Scope and References. State the group members verbally. Do not claim operational airline accuracy.</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endParaRPr lang="en-US"/>
          </a:p>
          <a:p>
            <a:r>
              <a:rPr lang="en-US"/>
              <a:t>DESIGN ASSET</a:t>
            </a:r>
          </a:p>
          <a:p>
            <a:r>
              <a:rPr lang="en-US"/>
              <a:t>Illustrative aviation cover background generated with the built-in image tool. It is not a website screenshot or a photo of a real project flight.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departure delays can vary with conditions such as weather, congestion and incoming aircraft delay. These are candidate factors, not a claim of causality proven by this synthetic data. Problem statement: create an understandable prototype that estimates departure delay from flight and scenario features, compares a learned model with simple baselines, and explains the flight through 3D views. Scope: HYD to BLR, MAA, VGA, VTZ, TIR and TRV. Current app features, offline experiments and provider snapshots must remain clearly separated.</a:t>
            </a:r>
          </a:p>
          <a:p>
            <a:endParaRPr lang="en-US"/>
          </a:p>
          <a:p>
            <a:r>
              <a:rPr lang="en-US"/>
              <a:t>SOURCES</a:t>
            </a:r>
          </a:p>
          <a:p>
            <a:r>
              <a:rPr lang="en-US"/>
              <a:t>C:/Users/24u11/Documents/Codex/2026-10-18/th/outputs/AeroPredict_Local_Presentation/public/simulation/engine.mjs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each objective in a sentence. 1. Preserve and study the supplied synthetic dataset rather than changing the project features. 2. Train a classifier for delay of at least 15 minutes and a regressor for delay minutes. 3. Compare Random Forest with a majority/mean baseline and a Decision Tree using chronological validation and test sets. 4. Demonstrate route views, airport stages and live schedule snapshots while explaining their limitations. Camera views belong to visualization and cannot improve the ML test score.</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r>
              <a:rPr lang="en-US"/>
              <a:t>C:/Users/24u11/Documents/Codex/2026-10-18/th/outputs/AeroPredict_Local_Presentation/public/simulation/globe.mjs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system as connected project components with explicit implementation status. The offline Python study reads the original CSV splits, encodes categorical inputs and trains the two Random Forest pipelines. The Node.js website currently uses a transparent scenario rule engine in Simulation and provider-normalized flight information in Live. Three.js loads Blender GLB assets for the airport and globe. The Random Forest study has been implemented and evaluated, but connecting its inference to the website is future work. This separation explains why the same input can yield different RF and website minute estimates.</a:t>
            </a:r>
          </a:p>
          <a:p>
            <a:endParaRPr lang="en-US"/>
          </a:p>
          <a:p>
            <a:r>
              <a:rPr lang="en-US"/>
              <a:t>SOURCES</a:t>
            </a:r>
          </a:p>
          <a:p>
            <a:r>
              <a:rPr lang="en-US"/>
              <a:t>C:/Users/24u11/Documents/Codex/2026-10-18/th/outputs/AeroPredict_RandomForest_Study/train_evaluate.py</a:t>
            </a:r>
          </a:p>
          <a:p>
            <a:r>
              <a:rPr lang="en-US"/>
              <a:t>C:/Users/24u11/Documents/Codex/2026-10-18/th/outputs/AeroPredict_Local_Presentation/server/flights.mjs</a:t>
            </a:r>
          </a:p>
          <a:p>
            <a:r>
              <a:rPr lang="en-US"/>
              <a:t>C:/Users/24u11/Documents/Codex/2026-10-18/th/outputs/AeroPredict_Local_Presentation/public/simulation/engine.mjs</a:t>
            </a:r>
          </a:p>
          <a:p>
            <a:r>
              <a:rPr lang="en-US"/>
              <a:t>C:/Users/24u11/Documents/Codex/2026-10-18/th/outputs/AeroPredict_Local_Presentation/public/simulation/globe.mjs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system as connected project components with explicit implementation status. The offline Python study reads the original CSV splits, encodes categorical inputs and trains the two Random Forest pipelines. The Node.js website currently uses a transparent scenario rule engine in Simulation and provider-normalized flight information in Live. Three.js loads Blender GLB assets for the airport and globe. The Random Forest study has been implemented and evaluated, but connecting its inference to the website is future work. This separation explains why the same input can yield different RF and website minute estimates.</a:t>
            </a:r>
          </a:p>
          <a:p>
            <a:endParaRPr lang="en-US"/>
          </a:p>
          <a:p>
            <a:r>
              <a:rPr lang="en-US"/>
              <a:t>SOURCES</a:t>
            </a:r>
          </a:p>
          <a:p>
            <a:r>
              <a:rPr lang="en-US"/>
              <a:t>C:/Users/24u11/Documents/Codex/2026-10-18/th/outputs/AeroPredict_RandomForest_Study/train_evaluate.py</a:t>
            </a:r>
          </a:p>
          <a:p>
            <a:r>
              <a:rPr lang="en-US"/>
              <a:t>C:/Users/24u11/Documents/Codex/2026-10-18/th/outputs/AeroPredict_Local_Presentation/server/flights.mjs</a:t>
            </a:r>
          </a:p>
          <a:p>
            <a:r>
              <a:rPr lang="en-US"/>
              <a:t>C:/Users/24u11/Documents/Codex/2026-10-18/th/outputs/AeroPredict_Local_Presentation/public/simulation/engine.mjs</a:t>
            </a:r>
          </a:p>
          <a:p>
            <a:r>
              <a:rPr lang="en-US"/>
              <a:t>C:/Users/24u11/Documents/Codex/2026-10-18/th/outputs/AeroPredict_Local_Presentation/public/simulation/globe.mjs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these exact feature names. Dataset: 6000 synthetic rows from 2025-01-01 through 2025-10-27. Original chronological splits: training 4200, validation 900 and test 900. All ten metadata inputs remain unchanged. There are three categorical columns and seven numeric columns. Origin is constant HYD, so it provides no variation, but the study retains it to preserve the feature specification. One-hot encoding inside the fitted pipeline expands raw inputs to 18 numeric model columns. This is an encoding transformation, not an extra raw project feature. Classification target delayed_15_plus means delay &gt;=15 minutes. Regression target departure_delay_minutes. Neither target is an input. All original CSV hashes match after the study.</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Methodology: first check unique record IDs, missing values, valid targets and strict chronological separation. The script retains the original CSV files and hashes. Select exactly the ten input columns. Fit a ColumnTransformer on training data only: OneHotEncoder for origin, destination and weather, numeric passthrough for the other seven. Fit baseline, Decision Tree and Random Forest models on the 4200 training rows. Use validation F1 for classifier parameters and validation MAE for regression parameters. Random Forest search tests depth 8,16,None and leaf size 2,5, always 200 trees. Freeze choices before evaluating on the 900 test rows. Persist the fitted pipelines and verify their reloaded predictions. No flight API requests are required.</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Random Forest combines many decision trees. Bootstrap sampling means each tree trains on a resampled set of training rows with replacement. In our classifier, max_features=sqrt considers a random subset of encoded features at each split. Scikit-learn averages the trees class probabilities and chooses the class with the highest mean probability. The regressor averages tree minute estimates. It uses max_features=1.0, so it considers all encoded features at a split while bootstrap sampling provides diversity. Validation selected max_depth=8 and min_samples_leaf=5 for both forests. Each has 200 trees and random_state=42. The numbers in the teaching example illustrate averaging and are not a measured forest output. The experiment outputs are shown on the next slide.</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r>
              <a:rPr lang="en-US"/>
              <a:t>https://scikit-learn.org/stable/modules/generated/sklearn.ensemble.RandomForestClassifier.html</a:t>
            </a:r>
          </a:p>
          <a:p>
            <a:r>
              <a:rPr lang="en-US"/>
              <a:t>https://scikit-learn.org/stable/modules/generated/sklearn.ensemble.RandomForestRegressor.html</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Measured results on the original 900 synthetic test rows: RF accuracy 81.1%, precision 87.0%, recall 84.1%, F1 85.5%, AUC 0.900. RF regression MAE 9.15 minutes, RMSE 12.92 and R2 0.766. Confusion matrix, rows actual and columns predicted [below 15, delayed]: [[228,75],[95,502]]. Examples use HYD to BLR at hour 18 IST, Friday=5, month 10, distance 456 km, scheduled duration 72 minutes. Clear/35% traffic/10 incoming minutes gives RF 8.1 minutes and 28.9% raw mean probability, class below15. Storm/85%/45 gives RF 53.2 and 97.1%, delayed class. These hypothetical scenarios have no observed outcome. Current website rules give 21 and 66 minutes respectively. Do not present the RF estimate as the value currently shown by the website or as a calibrated probability.</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r>
              <a:rPr lang="en-US"/>
              <a:t>C:/Users/24u11/Documents/Codex/2026-10-18/th/outputs/AeroPredict_RandomForest_Study/worked_examples.csv</a:t>
            </a:r>
          </a:p>
          <a:p>
            <a:r>
              <a:rPr lang="en-US"/>
              <a:t>C:/Users/24u11/Documents/Codex/2026-10-18/th/outputs/AeroPredict_Local_Presentation/public/simulation/engine.mjs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model families use the same training, validation and test splits and identical raw features. Classification baseline always predicts the majority training class, delayed. It has recall 100% but no ability to identify the 303 below-threshold test cases. The regression baseline predicts the training mean. Decision Tree uses validation-selected depth6 and leaf5 for both tasks. RF parameters were selected by validation before test. On this synthetic test, RF improves F1 and MAE compared with these families. These synthetic results do not establish real flight prediction quality. The editable table and chart use literal computed metrics from metrics.json.</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r>
              <a:rPr lang="en-US"/>
              <a:t>C:/Users/24u11/Documents/Codex/2026-10-18/th/outputs/AeroPredict_RandomForest_Study/comparison.csv</a:t>
            </a:r>
          </a:p>
          <a:p>
            <a:r>
              <a:rPr lang="en-US"/>
              <a:t>Chart precision: F1 percentages are rounded to one decimal for display and the embedded chart table. Full precision remains in metrics.json.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choose a simulation scenario, Start prediction and Present to class. Airport film shows the 120-second taxi/takeoff/cruise/landing/unloading sequence. Top, Side and Along route select different camera poses around the same calculated airport connection. World fits the Earth. Follow anchors near the aircraft. Dragging orbits and scrolling changes camera distance. These actions never retrain Random Forest or change the delay estimate. A provider live coordinate is only a timestamped snapshot. The current live dashed connection is not an actual flown track. Run the offline Python study to show measured RF results and the running Node website to show interaction. Show the current QR from the website, because temporary public links can change.</a:t>
            </a:r>
          </a:p>
          <a:p>
            <a:endParaRPr lang="en-US"/>
          </a:p>
          <a:p>
            <a:r>
              <a:rPr lang="en-US"/>
              <a:t>SOURCES</a:t>
            </a:r>
          </a:p>
          <a:p>
            <a:r>
              <a:rPr lang="en-US"/>
              <a:t>C:/Users/24u11/Documents/Codex/2026-10-18/th/outputs/AeroPredict_Local_Presentation/public/simulation/globe.mjs</a:t>
            </a:r>
          </a:p>
          <a:p>
            <a:r>
              <a:rPr lang="en-US"/>
              <a:t>C:/Users/24u11/Documents/Codex/2026-10-18/th/outputs/AeroPredict_Local_Presentation/public/simulation/route-math.mjs</a:t>
            </a:r>
          </a:p>
          <a:p>
            <a:r>
              <a:rPr lang="en-US"/>
              <a:t>C:/Users/24u11/Documents/Codex/2026-10-18/th/outputs/AeroPredict_Local_Presentation/public/simulation/flight-sequence.mjs</a:t>
            </a:r>
          </a:p>
          <a:p>
            <a:r>
              <a:rPr lang="en-US"/>
              <a:t>C:/Users/24u11/Documents/Codex/2026-10-18/th/outputs/AeroPredict_Local_Presentation/presentation/arrival-crew-final.png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Conclusion: the project now includes a reproducible RF experiment on the unchanged dataset and the existing interactive 3D/live website. RF outperformed the tested baseline and single-tree models on synthetic held-out data. Current limitation: the RF pipeline remains offline, the website uses rules, data is synthetic, live provider coverage can be incomplete, and routes are illustrative. Future: connect the saved model through a tested prediction endpoint, obtain licensed observed historical flights with pre-departure features, evaluate chronological generalization and calibration, and obtain timestamped position history for real tracks. References are linked official documentation and the unchanged local dataset metadata. </a:t>
            </a:r>
          </a:p>
          <a:p>
            <a:endParaRPr lang="en-US"/>
          </a:p>
          <a:p>
            <a:r>
              <a:rPr lang="en-US"/>
              <a:t>SOURCES</a:t>
            </a:r>
          </a:p>
          <a:p>
            <a:r>
              <a:rPr lang="en-US"/>
              <a:t>C:/Users/24u11/Documents/Codex/2026-10-18/th/outputs/AeroPredict_RandomForest_Study/train_evaluate.py</a:t>
            </a:r>
          </a:p>
          <a:p>
            <a:r>
              <a:rPr lang="en-US"/>
              <a:t>C:/Users/24u11/Documents/Codex/2026-10-18/th/outputs/AeroPredict_RandomForest_Study/metrics.json</a:t>
            </a:r>
          </a:p>
          <a:p>
            <a:r>
              <a:rPr lang="en-US"/>
              <a:t>C:/Users/24u11/Documents/Codex/2026-10-18/th/outputs/AeroPredict_Local_Presentation/training-data/metadata.json</a:t>
            </a:r>
          </a:p>
          <a:p>
            <a:r>
              <a:rPr lang="en-US"/>
              <a:t>https://scikit-learn.org/stable/modules/generated/sklearn.ensemble.RandomForestClassifier.html</a:t>
            </a:r>
          </a:p>
          <a:p>
            <a:r>
              <a:rPr lang="en-US"/>
              <a:t>https://scikit-learn.org/stable/modules/generated/sklearn.ensemble.RandomForestRegressor.html</a:t>
            </a:r>
          </a:p>
          <a:p>
            <a:r>
              <a:rPr lang="en-US"/>
              <a:t>https://threejs.org/docs/</a:t>
            </a:r>
          </a:p>
          <a:p>
            <a:r>
              <a:rPr lang="en-US"/>
              <a:t>https://docs.blender.org/manual/en/latest/</a:t>
            </a:r>
          </a:p>
          <a:p>
            <a:r>
              <a:rPr lang="en-US"/>
              <a:t>https://aviationstack.com/documentation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40DCE7-E07E-446C-8FA5-1CEFE9786FD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C6A8721-995A-486B-B2F3-D0769A8A4C0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8A3D14B-D0E1-4C10-B084-EB629A4748B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A281580-A62F-4261-84B4-70DD8A01DE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0B3D95B-59A5-49A8-B6E9-4FABCEF2AF5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FECAC8E-3FFD-4160-B1CD-7B095CC3262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5DE8B2E-B466-4315-BC18-12A4A00781B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11268FB-7749-491A-A663-3DEB4952660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AA3ACB8-773F-47AE-8DF5-4ED24F05224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DEFF89B-D2D1-4709-A1A6-12444C9559D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scikit-learn.org/stable/modules/generated/sklearn.ensemble.RandomForestClassifier.html"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hyperlink" Target="https://threejs.org/docs/" TargetMode="External"/><Relationship Id="rId4" Type="http://schemas.openxmlformats.org/officeDocument/2006/relationships/hyperlink" Target="https://scikit-learn.org/stable/modules/generated/sklearn.ensemble.RandomForestRegresso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F7DCBD-56BA-4392-8291-F192B112053B}"/>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eyebrow-0-0">
            <a:extLst>
              <a:ext uri="{FF2B5EF4-FFF2-40B4-BE49-F238E27FC236}">
                <a16:creationId xmlns:a16="http://schemas.microsoft.com/office/drawing/2014/main" id="{98F83FD8-FA31-45C1-8717-7E5B412B1533}"/>
              </a:ext>
            </a:extLst>
          </p:cNvPr>
          <p:cNvSpPr>
            <a:spLocks noGrp="1"/>
          </p:cNvSpPr>
          <p:nvPr/>
        </p:nvSpPr>
        <p:spPr>
          <a:xfrm>
            <a:off x="552450" y="285750"/>
            <a:ext cx="4762500" cy="24765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4" name="footer-2-1">
            <a:extLst>
              <a:ext uri="{FF2B5EF4-FFF2-40B4-BE49-F238E27FC236}">
                <a16:creationId xmlns:a16="http://schemas.microsoft.com/office/drawing/2014/main" id="{B3B5789E-8FDD-4D45-A777-96DF7DA5FF65}"/>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F4F1E9"/>
                </a:solidFill>
                <a:latin typeface="Arial"/>
                <a:ea typeface="Arial"/>
                <a:cs typeface="Arial"/>
              </a:defRPr>
            </a:defPPr>
            <a:lvl1pPr>
              <a:defRPr sz="975" b="0">
                <a:solidFill>
                  <a:srgbClr val="F4F1E9"/>
                </a:solidFill>
                <a:latin typeface="Arial"/>
                <a:ea typeface="Arial"/>
                <a:cs typeface="Arial"/>
              </a:defRPr>
            </a:lvl1pPr>
            <a:lvl2pPr>
              <a:defRPr sz="975" b="0">
                <a:solidFill>
                  <a:srgbClr val="F4F1E9"/>
                </a:solidFill>
                <a:latin typeface="Arial"/>
                <a:ea typeface="Arial"/>
                <a:cs typeface="Arial"/>
              </a:defRPr>
            </a:lvl2pPr>
            <a:lvl3pPr>
              <a:defRPr sz="975" b="0">
                <a:solidFill>
                  <a:srgbClr val="F4F1E9"/>
                </a:solidFill>
                <a:latin typeface="Arial"/>
                <a:ea typeface="Arial"/>
                <a:cs typeface="Arial"/>
              </a:defRPr>
            </a:lvl3pPr>
            <a:lvl4pPr>
              <a:defRPr sz="975" b="0">
                <a:solidFill>
                  <a:srgbClr val="F4F1E9"/>
                </a:solidFill>
                <a:latin typeface="Arial"/>
                <a:ea typeface="Arial"/>
                <a:cs typeface="Arial"/>
              </a:defRPr>
            </a:lvl4pPr>
            <a:lvl5pPr>
              <a:defRPr sz="975" b="0">
                <a:solidFill>
                  <a:srgbClr val="F4F1E9"/>
                </a:solidFill>
                <a:latin typeface="Arial"/>
                <a:ea typeface="Arial"/>
                <a:cs typeface="Arial"/>
              </a:defRPr>
            </a:lvl5pPr>
            <a:lvl6pPr>
              <a:defRPr sz="975" b="0">
                <a:solidFill>
                  <a:srgbClr val="F4F1E9"/>
                </a:solidFill>
                <a:latin typeface="Arial"/>
                <a:ea typeface="Arial"/>
                <a:cs typeface="Arial"/>
              </a:defRPr>
            </a:lvl6pPr>
            <a:lvl7pPr>
              <a:defRPr sz="975" b="0">
                <a:solidFill>
                  <a:srgbClr val="F4F1E9"/>
                </a:solidFill>
                <a:latin typeface="Arial"/>
                <a:ea typeface="Arial"/>
                <a:cs typeface="Arial"/>
              </a:defRPr>
            </a:lvl7pPr>
            <a:lvl8pPr>
              <a:defRPr sz="975" b="0">
                <a:solidFill>
                  <a:srgbClr val="F4F1E9"/>
                </a:solidFill>
                <a:latin typeface="Arial"/>
                <a:ea typeface="Arial"/>
                <a:cs typeface="Arial"/>
              </a:defRPr>
            </a:lvl8pPr>
            <a:lvl9pPr>
              <a:defRPr sz="975" b="0">
                <a:solidFill>
                  <a:srgbClr val="F4F1E9"/>
                </a:solidFill>
                <a:latin typeface="Arial"/>
                <a:ea typeface="Arial"/>
                <a:cs typeface="Arial"/>
              </a:defRPr>
            </a:lvl9pPr>
          </a:lstStyle>
          <a:p>
            <a:pPr>
              <a:defRPr sz="975" b="0">
                <a:solidFill>
                  <a:srgbClr val="F4F1E9"/>
                </a:solidFill>
                <a:latin typeface="Arial"/>
                <a:ea typeface="Arial"/>
                <a:cs typeface="Arial"/>
              </a:defRPr>
            </a:pPr>
            <a:r>
              <a:rPr sz="975" b="0">
                <a:solidFill>
                  <a:srgbClr val="F4F1E9"/>
                </a:solidFill>
                <a:latin typeface="Arial"/>
                <a:ea typeface="Arial"/>
                <a:cs typeface="Arial"/>
              </a:rPr>
              <a:t>PROJECT PRESENTATION</a:t>
            </a:r>
          </a:p>
        </p:txBody>
      </p:sp>
      <p:sp>
        <p:nvSpPr>
          <p:cNvPr id="5" name="footer-3-2">
            <a:extLst>
              <a:ext uri="{FF2B5EF4-FFF2-40B4-BE49-F238E27FC236}">
                <a16:creationId xmlns:a16="http://schemas.microsoft.com/office/drawing/2014/main" id="{E2B6D103-A2BF-49D5-87B0-5CDB183E8DC6}"/>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01 / 12</a:t>
            </a:r>
          </a:p>
        </p:txBody>
      </p:sp>
      <p:sp>
        <p:nvSpPr>
          <p:cNvPr id="6" name="title-1-3">
            <a:extLst>
              <a:ext uri="{FF2B5EF4-FFF2-40B4-BE49-F238E27FC236}">
                <a16:creationId xmlns:a16="http://schemas.microsoft.com/office/drawing/2014/main" id="{A8C87AA3-665F-4CEA-B053-56D06B452466}"/>
              </a:ext>
            </a:extLst>
          </p:cNvPr>
          <p:cNvSpPr>
            <a:spLocks noGrp="1"/>
          </p:cNvSpPr>
          <p:nvPr/>
        </p:nvSpPr>
        <p:spPr>
          <a:xfrm>
            <a:off x="552450" y="1181100"/>
            <a:ext cx="5810250" cy="1666875"/>
          </a:xfrm>
          <a:prstGeom prst="rect">
            <a:avLst/>
          </a:prstGeom>
          <a:noFill/>
          <a:ln w="0">
            <a:noFill/>
          </a:ln>
        </p:spPr>
        <p:txBody>
          <a:bodyPr wrap="square" lIns="0" tIns="0" rIns="0" bIns="0" anchor="t">
            <a:noAutofit/>
          </a:bodyPr>
          <a:lstStyle>
            <a:defPPr>
              <a:defRPr sz="4800" b="1">
                <a:solidFill>
                  <a:srgbClr val="F4F1E9"/>
                </a:solidFill>
                <a:latin typeface="Arial"/>
                <a:ea typeface="Arial"/>
                <a:cs typeface="Arial"/>
              </a:defRPr>
            </a:defPPr>
            <a:lvl1pPr>
              <a:defRPr sz="4800" b="1">
                <a:solidFill>
                  <a:srgbClr val="F4F1E9"/>
                </a:solidFill>
                <a:latin typeface="Arial"/>
                <a:ea typeface="Arial"/>
                <a:cs typeface="Arial"/>
              </a:defRPr>
            </a:lvl1pPr>
            <a:lvl2pPr>
              <a:defRPr sz="4800" b="1">
                <a:solidFill>
                  <a:srgbClr val="F4F1E9"/>
                </a:solidFill>
                <a:latin typeface="Arial"/>
                <a:ea typeface="Arial"/>
                <a:cs typeface="Arial"/>
              </a:defRPr>
            </a:lvl2pPr>
            <a:lvl3pPr>
              <a:defRPr sz="4800" b="1">
                <a:solidFill>
                  <a:srgbClr val="F4F1E9"/>
                </a:solidFill>
                <a:latin typeface="Arial"/>
                <a:ea typeface="Arial"/>
                <a:cs typeface="Arial"/>
              </a:defRPr>
            </a:lvl3pPr>
            <a:lvl4pPr>
              <a:defRPr sz="4800" b="1">
                <a:solidFill>
                  <a:srgbClr val="F4F1E9"/>
                </a:solidFill>
                <a:latin typeface="Arial"/>
                <a:ea typeface="Arial"/>
                <a:cs typeface="Arial"/>
              </a:defRPr>
            </a:lvl4pPr>
            <a:lvl5pPr>
              <a:defRPr sz="4800" b="1">
                <a:solidFill>
                  <a:srgbClr val="F4F1E9"/>
                </a:solidFill>
                <a:latin typeface="Arial"/>
                <a:ea typeface="Arial"/>
                <a:cs typeface="Arial"/>
              </a:defRPr>
            </a:lvl5pPr>
            <a:lvl6pPr>
              <a:defRPr sz="4800" b="1">
                <a:solidFill>
                  <a:srgbClr val="F4F1E9"/>
                </a:solidFill>
                <a:latin typeface="Arial"/>
                <a:ea typeface="Arial"/>
                <a:cs typeface="Arial"/>
              </a:defRPr>
            </a:lvl6pPr>
            <a:lvl7pPr>
              <a:defRPr sz="4800" b="1">
                <a:solidFill>
                  <a:srgbClr val="F4F1E9"/>
                </a:solidFill>
                <a:latin typeface="Arial"/>
                <a:ea typeface="Arial"/>
                <a:cs typeface="Arial"/>
              </a:defRPr>
            </a:lvl7pPr>
            <a:lvl8pPr>
              <a:defRPr sz="4800" b="1">
                <a:solidFill>
                  <a:srgbClr val="F4F1E9"/>
                </a:solidFill>
                <a:latin typeface="Arial"/>
                <a:ea typeface="Arial"/>
                <a:cs typeface="Arial"/>
              </a:defRPr>
            </a:lvl8pPr>
            <a:lvl9pPr>
              <a:defRPr sz="4800" b="1">
                <a:solidFill>
                  <a:srgbClr val="F4F1E9"/>
                </a:solidFill>
                <a:latin typeface="Arial"/>
                <a:ea typeface="Arial"/>
                <a:cs typeface="Arial"/>
              </a:defRPr>
            </a:lvl9pPr>
          </a:lstStyle>
          <a:p>
            <a:pPr>
              <a:defRPr sz="4800" b="1">
                <a:solidFill>
                  <a:srgbClr val="F4F1E9"/>
                </a:solidFill>
                <a:latin typeface="Arial"/>
                <a:ea typeface="Arial"/>
                <a:cs typeface="Arial"/>
              </a:defRPr>
            </a:pPr>
            <a:r>
              <a:rPr sz="4800" b="1">
                <a:solidFill>
                  <a:srgbClr val="F4F1E9"/>
                </a:solidFill>
                <a:latin typeface="Arial"/>
                <a:ea typeface="Arial"/>
                <a:cs typeface="Arial"/>
              </a:rPr>
              <a:t>Flight Delay Prediction</a:t>
            </a:r>
          </a:p>
        </p:txBody>
      </p:sp>
      <p:sp>
        <p:nvSpPr>
          <p:cNvPr id="7" name="reveal-4-4">
            <a:extLst>
              <a:ext uri="{FF2B5EF4-FFF2-40B4-BE49-F238E27FC236}">
                <a16:creationId xmlns:a16="http://schemas.microsoft.com/office/drawing/2014/main" id="{8BB33502-2EC0-4A03-B2D2-2B95E5DB5E43}"/>
              </a:ext>
            </a:extLst>
          </p:cNvPr>
          <p:cNvSpPr>
            <a:spLocks noGrp="1"/>
          </p:cNvSpPr>
          <p:nvPr/>
        </p:nvSpPr>
        <p:spPr>
          <a:xfrm>
            <a:off x="552450" y="3267075"/>
            <a:ext cx="5334000" cy="647700"/>
          </a:xfrm>
          <a:prstGeom prst="rect">
            <a:avLst/>
          </a:prstGeom>
          <a:noFill/>
          <a:ln w="0">
            <a:noFill/>
          </a:ln>
        </p:spPr>
        <p:txBody>
          <a:bodyPr wrap="square" lIns="0" tIns="0" rIns="0" bIns="0" anchor="t">
            <a:noAutofit/>
          </a:bodyPr>
          <a:lstStyle>
            <a:defPPr>
              <a:defRPr sz="3675" b="1">
                <a:solidFill>
                  <a:srgbClr val="D5AF83"/>
                </a:solidFill>
                <a:latin typeface="Arial"/>
                <a:ea typeface="Arial"/>
                <a:cs typeface="Arial"/>
              </a:defRPr>
            </a:defPPr>
            <a:lvl1pPr>
              <a:defRPr sz="3675" b="1">
                <a:solidFill>
                  <a:srgbClr val="D5AF83"/>
                </a:solidFill>
                <a:latin typeface="Arial"/>
                <a:ea typeface="Arial"/>
                <a:cs typeface="Arial"/>
              </a:defRPr>
            </a:lvl1pPr>
            <a:lvl2pPr>
              <a:defRPr sz="3675" b="1">
                <a:solidFill>
                  <a:srgbClr val="D5AF83"/>
                </a:solidFill>
                <a:latin typeface="Arial"/>
                <a:ea typeface="Arial"/>
                <a:cs typeface="Arial"/>
              </a:defRPr>
            </a:lvl2pPr>
            <a:lvl3pPr>
              <a:defRPr sz="3675" b="1">
                <a:solidFill>
                  <a:srgbClr val="D5AF83"/>
                </a:solidFill>
                <a:latin typeface="Arial"/>
                <a:ea typeface="Arial"/>
                <a:cs typeface="Arial"/>
              </a:defRPr>
            </a:lvl3pPr>
            <a:lvl4pPr>
              <a:defRPr sz="3675" b="1">
                <a:solidFill>
                  <a:srgbClr val="D5AF83"/>
                </a:solidFill>
                <a:latin typeface="Arial"/>
                <a:ea typeface="Arial"/>
                <a:cs typeface="Arial"/>
              </a:defRPr>
            </a:lvl4pPr>
            <a:lvl5pPr>
              <a:defRPr sz="3675" b="1">
                <a:solidFill>
                  <a:srgbClr val="D5AF83"/>
                </a:solidFill>
                <a:latin typeface="Arial"/>
                <a:ea typeface="Arial"/>
                <a:cs typeface="Arial"/>
              </a:defRPr>
            </a:lvl5pPr>
            <a:lvl6pPr>
              <a:defRPr sz="3675" b="1">
                <a:solidFill>
                  <a:srgbClr val="D5AF83"/>
                </a:solidFill>
                <a:latin typeface="Arial"/>
                <a:ea typeface="Arial"/>
                <a:cs typeface="Arial"/>
              </a:defRPr>
            </a:lvl6pPr>
            <a:lvl7pPr>
              <a:defRPr sz="3675" b="1">
                <a:solidFill>
                  <a:srgbClr val="D5AF83"/>
                </a:solidFill>
                <a:latin typeface="Arial"/>
                <a:ea typeface="Arial"/>
                <a:cs typeface="Arial"/>
              </a:defRPr>
            </a:lvl7pPr>
            <a:lvl8pPr>
              <a:defRPr sz="3675" b="1">
                <a:solidFill>
                  <a:srgbClr val="D5AF83"/>
                </a:solidFill>
                <a:latin typeface="Arial"/>
                <a:ea typeface="Arial"/>
                <a:cs typeface="Arial"/>
              </a:defRPr>
            </a:lvl8pPr>
            <a:lvl9pPr>
              <a:defRPr sz="3675" b="1">
                <a:solidFill>
                  <a:srgbClr val="D5AF83"/>
                </a:solidFill>
                <a:latin typeface="Arial"/>
                <a:ea typeface="Arial"/>
                <a:cs typeface="Arial"/>
              </a:defRPr>
            </a:lvl9pPr>
          </a:lstStyle>
          <a:p>
            <a:pPr>
              <a:defRPr sz="3675" b="1">
                <a:solidFill>
                  <a:srgbClr val="D5AF83"/>
                </a:solidFill>
                <a:latin typeface="Arial"/>
                <a:ea typeface="Arial"/>
                <a:cs typeface="Arial"/>
              </a:defRPr>
            </a:pPr>
            <a:r>
              <a:rPr sz="3675" b="1">
                <a:solidFill>
                  <a:srgbClr val="D5AF83"/>
                </a:solidFill>
                <a:latin typeface="Arial"/>
                <a:ea typeface="Arial"/>
                <a:cs typeface="Arial"/>
              </a:rPr>
              <a:t>AeroPredict</a:t>
            </a:r>
          </a:p>
        </p:txBody>
      </p:sp>
      <p:sp>
        <p:nvSpPr>
          <p:cNvPr id="8" name="reveal-5-5">
            <a:extLst>
              <a:ext uri="{FF2B5EF4-FFF2-40B4-BE49-F238E27FC236}">
                <a16:creationId xmlns:a16="http://schemas.microsoft.com/office/drawing/2014/main" id="{7DC08EE9-BDDC-4041-9B8F-A87B1CD7651A}"/>
              </a:ext>
            </a:extLst>
          </p:cNvPr>
          <p:cNvSpPr>
            <a:spLocks noGrp="1"/>
          </p:cNvSpPr>
          <p:nvPr/>
        </p:nvSpPr>
        <p:spPr>
          <a:xfrm>
            <a:off x="552450" y="4105275"/>
            <a:ext cx="5619750" cy="1038225"/>
          </a:xfrm>
          <a:prstGeom prst="rect">
            <a:avLst/>
          </a:prstGeom>
          <a:noFill/>
          <a:ln w="0">
            <a:noFill/>
          </a:ln>
        </p:spPr>
        <p:txBody>
          <a:bodyPr wrap="square" lIns="0" tIns="0" rIns="0" bIns="0" anchor="t">
            <a:noAutofit/>
          </a:bodyPr>
          <a:lstStyle>
            <a:defPPr>
              <a:defRPr sz="2325" b="0">
                <a:solidFill>
                  <a:srgbClr val="F4F1E9"/>
                </a:solidFill>
                <a:latin typeface="Arial"/>
                <a:ea typeface="Arial"/>
                <a:cs typeface="Arial"/>
              </a:defRPr>
            </a:defPPr>
            <a:lvl1pPr>
              <a:defRPr sz="2325" b="0">
                <a:solidFill>
                  <a:srgbClr val="F4F1E9"/>
                </a:solidFill>
                <a:latin typeface="Arial"/>
                <a:ea typeface="Arial"/>
                <a:cs typeface="Arial"/>
              </a:defRPr>
            </a:lvl1pPr>
            <a:lvl2pPr>
              <a:defRPr sz="2325" b="0">
                <a:solidFill>
                  <a:srgbClr val="F4F1E9"/>
                </a:solidFill>
                <a:latin typeface="Arial"/>
                <a:ea typeface="Arial"/>
                <a:cs typeface="Arial"/>
              </a:defRPr>
            </a:lvl2pPr>
            <a:lvl3pPr>
              <a:defRPr sz="2325" b="0">
                <a:solidFill>
                  <a:srgbClr val="F4F1E9"/>
                </a:solidFill>
                <a:latin typeface="Arial"/>
                <a:ea typeface="Arial"/>
                <a:cs typeface="Arial"/>
              </a:defRPr>
            </a:lvl3pPr>
            <a:lvl4pPr>
              <a:defRPr sz="2325" b="0">
                <a:solidFill>
                  <a:srgbClr val="F4F1E9"/>
                </a:solidFill>
                <a:latin typeface="Arial"/>
                <a:ea typeface="Arial"/>
                <a:cs typeface="Arial"/>
              </a:defRPr>
            </a:lvl4pPr>
            <a:lvl5pPr>
              <a:defRPr sz="2325" b="0">
                <a:solidFill>
                  <a:srgbClr val="F4F1E9"/>
                </a:solidFill>
                <a:latin typeface="Arial"/>
                <a:ea typeface="Arial"/>
                <a:cs typeface="Arial"/>
              </a:defRPr>
            </a:lvl5pPr>
            <a:lvl6pPr>
              <a:defRPr sz="2325" b="0">
                <a:solidFill>
                  <a:srgbClr val="F4F1E9"/>
                </a:solidFill>
                <a:latin typeface="Arial"/>
                <a:ea typeface="Arial"/>
                <a:cs typeface="Arial"/>
              </a:defRPr>
            </a:lvl6pPr>
            <a:lvl7pPr>
              <a:defRPr sz="2325" b="0">
                <a:solidFill>
                  <a:srgbClr val="F4F1E9"/>
                </a:solidFill>
                <a:latin typeface="Arial"/>
                <a:ea typeface="Arial"/>
                <a:cs typeface="Arial"/>
              </a:defRPr>
            </a:lvl7pPr>
            <a:lvl8pPr>
              <a:defRPr sz="2325" b="0">
                <a:solidFill>
                  <a:srgbClr val="F4F1E9"/>
                </a:solidFill>
                <a:latin typeface="Arial"/>
                <a:ea typeface="Arial"/>
                <a:cs typeface="Arial"/>
              </a:defRPr>
            </a:lvl8pPr>
            <a:lvl9pPr>
              <a:defRPr sz="2325" b="0">
                <a:solidFill>
                  <a:srgbClr val="F4F1E9"/>
                </a:solidFill>
                <a:latin typeface="Arial"/>
                <a:ea typeface="Arial"/>
                <a:cs typeface="Arial"/>
              </a:defRPr>
            </a:lvl9pPr>
          </a:lstStyle>
          <a:p>
            <a:pPr>
              <a:defRPr sz="2325" b="0">
                <a:solidFill>
                  <a:srgbClr val="F4F1E9"/>
                </a:solidFill>
                <a:latin typeface="Arial"/>
                <a:ea typeface="Arial"/>
                <a:cs typeface="Arial"/>
              </a:defRPr>
            </a:pPr>
            <a:r>
              <a:rPr sz="2325" b="0">
                <a:solidFill>
                  <a:srgbClr val="F4F1E9"/>
                </a:solidFill>
                <a:latin typeface="Arial"/>
                <a:ea typeface="Arial"/>
                <a:cs typeface="Arial"/>
              </a:rPr>
              <a:t>Random Forest analysis</a:t>
            </a:r>
          </a:p>
          <a:p>
            <a:pPr>
              <a:defRPr sz="2325" b="0">
                <a:solidFill>
                  <a:srgbClr val="F4F1E9"/>
                </a:solidFill>
                <a:latin typeface="Arial"/>
                <a:ea typeface="Arial"/>
                <a:cs typeface="Arial"/>
              </a:defRPr>
            </a:pPr>
            <a:r>
              <a:rPr sz="2325" b="0">
                <a:solidFill>
                  <a:srgbClr val="F4F1E9"/>
                </a:solidFill>
                <a:latin typeface="Arial"/>
                <a:ea typeface="Arial"/>
                <a:cs typeface="Arial"/>
              </a:rPr>
              <a:t>and an interactive 3D website</a:t>
            </a:r>
          </a:p>
        </p:txBody>
      </p:sp>
      <p:sp>
        <p:nvSpPr>
          <p:cNvPr id="9" name="body-6-6">
            <a:extLst>
              <a:ext uri="{FF2B5EF4-FFF2-40B4-BE49-F238E27FC236}">
                <a16:creationId xmlns:a16="http://schemas.microsoft.com/office/drawing/2014/main" id="{779D13CC-235E-4100-AEAA-D9EBC8286DC8}"/>
              </a:ext>
            </a:extLst>
          </p:cNvPr>
          <p:cNvSpPr>
            <a:spLocks noGrp="1"/>
          </p:cNvSpPr>
          <p:nvPr/>
        </p:nvSpPr>
        <p:spPr>
          <a:xfrm>
            <a:off x="552450" y="5629275"/>
            <a:ext cx="5334000" cy="666750"/>
          </a:xfrm>
          <a:prstGeom prst="rect">
            <a:avLst/>
          </a:prstGeom>
          <a:noFill/>
          <a:ln w="0">
            <a:noFill/>
          </a:ln>
        </p:spPr>
        <p:txBody>
          <a:bodyPr wrap="square" lIns="0" tIns="0" rIns="0" bIns="0" anchor="t">
            <a:noAutofit/>
          </a:bodyPr>
          <a:lstStyle>
            <a:defPPr>
              <a:defRPr sz="1800" b="0">
                <a:solidFill>
                  <a:srgbClr val="D5AF83"/>
                </a:solidFill>
                <a:latin typeface="Arial"/>
                <a:ea typeface="Arial"/>
                <a:cs typeface="Arial"/>
              </a:defRPr>
            </a:defPPr>
            <a:lvl1pPr>
              <a:defRPr sz="1800" b="0">
                <a:solidFill>
                  <a:srgbClr val="D5AF83"/>
                </a:solidFill>
                <a:latin typeface="Arial"/>
                <a:ea typeface="Arial"/>
                <a:cs typeface="Arial"/>
              </a:defRPr>
            </a:lvl1pPr>
            <a:lvl2pPr>
              <a:defRPr sz="1800" b="0">
                <a:solidFill>
                  <a:srgbClr val="D5AF83"/>
                </a:solidFill>
                <a:latin typeface="Arial"/>
                <a:ea typeface="Arial"/>
                <a:cs typeface="Arial"/>
              </a:defRPr>
            </a:lvl2pPr>
            <a:lvl3pPr>
              <a:defRPr sz="1800" b="0">
                <a:solidFill>
                  <a:srgbClr val="D5AF83"/>
                </a:solidFill>
                <a:latin typeface="Arial"/>
                <a:ea typeface="Arial"/>
                <a:cs typeface="Arial"/>
              </a:defRPr>
            </a:lvl3pPr>
            <a:lvl4pPr>
              <a:defRPr sz="1800" b="0">
                <a:solidFill>
                  <a:srgbClr val="D5AF83"/>
                </a:solidFill>
                <a:latin typeface="Arial"/>
                <a:ea typeface="Arial"/>
                <a:cs typeface="Arial"/>
              </a:defRPr>
            </a:lvl4pPr>
            <a:lvl5pPr>
              <a:defRPr sz="1800" b="0">
                <a:solidFill>
                  <a:srgbClr val="D5AF83"/>
                </a:solidFill>
                <a:latin typeface="Arial"/>
                <a:ea typeface="Arial"/>
                <a:cs typeface="Arial"/>
              </a:defRPr>
            </a:lvl5pPr>
            <a:lvl6pPr>
              <a:defRPr sz="1800" b="0">
                <a:solidFill>
                  <a:srgbClr val="D5AF83"/>
                </a:solidFill>
                <a:latin typeface="Arial"/>
                <a:ea typeface="Arial"/>
                <a:cs typeface="Arial"/>
              </a:defRPr>
            </a:lvl6pPr>
            <a:lvl7pPr>
              <a:defRPr sz="1800" b="0">
                <a:solidFill>
                  <a:srgbClr val="D5AF83"/>
                </a:solidFill>
                <a:latin typeface="Arial"/>
                <a:ea typeface="Arial"/>
                <a:cs typeface="Arial"/>
              </a:defRPr>
            </a:lvl7pPr>
            <a:lvl8pPr>
              <a:defRPr sz="1800" b="0">
                <a:solidFill>
                  <a:srgbClr val="D5AF83"/>
                </a:solidFill>
                <a:latin typeface="Arial"/>
                <a:ea typeface="Arial"/>
                <a:cs typeface="Arial"/>
              </a:defRPr>
            </a:lvl8pPr>
            <a:lvl9pPr>
              <a:defRPr sz="1800" b="0">
                <a:solidFill>
                  <a:srgbClr val="D5AF83"/>
                </a:solidFill>
                <a:latin typeface="Arial"/>
                <a:ea typeface="Arial"/>
                <a:cs typeface="Arial"/>
              </a:defRPr>
            </a:lvl9pPr>
          </a:lstStyle>
          <a:p>
            <a:pPr>
              <a:defRPr sz="1800" b="0">
                <a:solidFill>
                  <a:srgbClr val="D5AF83"/>
                </a:solidFill>
                <a:latin typeface="Arial"/>
                <a:ea typeface="Arial"/>
                <a:cs typeface="Arial"/>
              </a:defRPr>
            </a:pPr>
            <a:r>
              <a:rPr sz="1800" b="0">
                <a:solidFill>
                  <a:srgbClr val="D5AF83"/>
                </a:solidFill>
                <a:latin typeface="Arial"/>
                <a:ea typeface="Arial"/>
                <a:cs typeface="Arial"/>
              </a:rPr>
              <a:t>Hyderabad and six South India destinations</a:t>
            </a:r>
          </a:p>
        </p:txBody>
      </p:sp>
    </p:spTree>
    <p:extLst>
      <p:ext uri="{BB962C8B-B14F-4D97-AF65-F5344CB8AC3E}">
        <p14:creationId xmlns:p14="http://schemas.microsoft.com/office/powerpoint/2010/main" val="201835058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FFE8B3CE-C9A4-4347-A16B-47DCFE197EC6}"/>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5F9ED546-EE99-40F3-9A93-FA3CEC7F6204}"/>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B88FA31C-2642-4ED2-94DA-CC9A210CF74A}"/>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02 / 12</a:t>
            </a:r>
          </a:p>
        </p:txBody>
      </p:sp>
      <p:sp>
        <p:nvSpPr>
          <p:cNvPr id="5" name="title-1-3">
            <a:extLst>
              <a:ext uri="{FF2B5EF4-FFF2-40B4-BE49-F238E27FC236}">
                <a16:creationId xmlns:a16="http://schemas.microsoft.com/office/drawing/2014/main" id="{B647CB28-C209-4B8F-A8D3-52389AD509ED}"/>
              </a:ext>
            </a:extLst>
          </p:cNvPr>
          <p:cNvSpPr>
            <a:spLocks noGrp="1"/>
          </p:cNvSpPr>
          <p:nvPr/>
        </p:nvSpPr>
        <p:spPr>
          <a:xfrm>
            <a:off x="552450" y="752475"/>
            <a:ext cx="10572750" cy="1028700"/>
          </a:xfrm>
          <a:prstGeom prst="rect">
            <a:avLst/>
          </a:prstGeom>
          <a:noFill/>
          <a:ln w="0">
            <a:noFill/>
          </a:ln>
        </p:spPr>
        <p:txBody>
          <a:bodyPr wrap="square" lIns="0" tIns="0" rIns="0" bIns="0" anchor="t">
            <a:noAutofit/>
          </a:bodyPr>
          <a:lstStyle>
            <a:defPPr>
              <a:defRPr sz="3225" b="1">
                <a:solidFill>
                  <a:srgbClr val="202925"/>
                </a:solidFill>
                <a:latin typeface="Arial"/>
                <a:ea typeface="Arial"/>
                <a:cs typeface="Arial"/>
              </a:defRPr>
            </a:defPPr>
            <a:lvl1pPr>
              <a:defRPr sz="3225" b="1">
                <a:solidFill>
                  <a:srgbClr val="202925"/>
                </a:solidFill>
                <a:latin typeface="Arial"/>
                <a:ea typeface="Arial"/>
                <a:cs typeface="Arial"/>
              </a:defRPr>
            </a:lvl1pPr>
            <a:lvl2pPr>
              <a:defRPr sz="3225" b="1">
                <a:solidFill>
                  <a:srgbClr val="202925"/>
                </a:solidFill>
                <a:latin typeface="Arial"/>
                <a:ea typeface="Arial"/>
                <a:cs typeface="Arial"/>
              </a:defRPr>
            </a:lvl2pPr>
            <a:lvl3pPr>
              <a:defRPr sz="3225" b="1">
                <a:solidFill>
                  <a:srgbClr val="202925"/>
                </a:solidFill>
                <a:latin typeface="Arial"/>
                <a:ea typeface="Arial"/>
                <a:cs typeface="Arial"/>
              </a:defRPr>
            </a:lvl3pPr>
            <a:lvl4pPr>
              <a:defRPr sz="3225" b="1">
                <a:solidFill>
                  <a:srgbClr val="202925"/>
                </a:solidFill>
                <a:latin typeface="Arial"/>
                <a:ea typeface="Arial"/>
                <a:cs typeface="Arial"/>
              </a:defRPr>
            </a:lvl4pPr>
            <a:lvl5pPr>
              <a:defRPr sz="3225" b="1">
                <a:solidFill>
                  <a:srgbClr val="202925"/>
                </a:solidFill>
                <a:latin typeface="Arial"/>
                <a:ea typeface="Arial"/>
                <a:cs typeface="Arial"/>
              </a:defRPr>
            </a:lvl5pPr>
            <a:lvl6pPr>
              <a:defRPr sz="3225" b="1">
                <a:solidFill>
                  <a:srgbClr val="202925"/>
                </a:solidFill>
                <a:latin typeface="Arial"/>
                <a:ea typeface="Arial"/>
                <a:cs typeface="Arial"/>
              </a:defRPr>
            </a:lvl6pPr>
            <a:lvl7pPr>
              <a:defRPr sz="3225" b="1">
                <a:solidFill>
                  <a:srgbClr val="202925"/>
                </a:solidFill>
                <a:latin typeface="Arial"/>
                <a:ea typeface="Arial"/>
                <a:cs typeface="Arial"/>
              </a:defRPr>
            </a:lvl7pPr>
            <a:lvl8pPr>
              <a:defRPr sz="3225" b="1">
                <a:solidFill>
                  <a:srgbClr val="202925"/>
                </a:solidFill>
                <a:latin typeface="Arial"/>
                <a:ea typeface="Arial"/>
                <a:cs typeface="Arial"/>
              </a:defRPr>
            </a:lvl8pPr>
            <a:lvl9pPr>
              <a:defRPr sz="3225" b="1">
                <a:solidFill>
                  <a:srgbClr val="202925"/>
                </a:solidFill>
                <a:latin typeface="Arial"/>
                <a:ea typeface="Arial"/>
                <a:cs typeface="Arial"/>
              </a:defRPr>
            </a:lvl9pPr>
          </a:lstStyle>
          <a:p>
            <a:pPr>
              <a:defRPr sz="3225" b="1">
                <a:solidFill>
                  <a:srgbClr val="202925"/>
                </a:solidFill>
                <a:latin typeface="Arial"/>
                <a:ea typeface="Arial"/>
                <a:cs typeface="Arial"/>
              </a:defRPr>
            </a:pPr>
            <a:r>
              <a:rPr sz="3225" b="1">
                <a:solidFill>
                  <a:srgbClr val="202925"/>
                </a:solidFill>
                <a:latin typeface="Arial"/>
                <a:ea typeface="Arial"/>
                <a:cs typeface="Arial"/>
              </a:rPr>
              <a:t>Introduction and problem statement</a:t>
            </a:r>
          </a:p>
        </p:txBody>
      </p:sp>
      <p:sp>
        <p:nvSpPr>
          <p:cNvPr id="6" name="background-4">
            <a:extLst>
              <a:ext uri="{FF2B5EF4-FFF2-40B4-BE49-F238E27FC236}">
                <a16:creationId xmlns:a16="http://schemas.microsoft.com/office/drawing/2014/main" id="{564D2D98-6DFD-41CA-8383-C1EA0300898F}"/>
              </a:ext>
            </a:extLst>
          </p:cNvPr>
          <p:cNvSpPr>
            <a:spLocks noGrp="1"/>
          </p:cNvSpPr>
          <p:nvPr/>
        </p:nvSpPr>
        <p:spPr>
          <a:xfrm>
            <a:off x="552450" y="6257925"/>
            <a:ext cx="9906000" cy="9525"/>
          </a:xfrm>
          <a:prstGeom prst="rect">
            <a:avLst/>
          </a:prstGeom>
          <a:solidFill>
            <a:srgbClr val="D4D9CE"/>
          </a:solidFill>
          <a:ln w="0">
            <a:noFill/>
          </a:ln>
        </p:spPr>
      </p:sp>
      <p:sp>
        <p:nvSpPr>
          <p:cNvPr id="7" name="background-5">
            <a:extLst>
              <a:ext uri="{FF2B5EF4-FFF2-40B4-BE49-F238E27FC236}">
                <a16:creationId xmlns:a16="http://schemas.microsoft.com/office/drawing/2014/main" id="{EEE535BD-2F9C-4D69-9B1F-45CA7F5886E6}"/>
              </a:ext>
            </a:extLst>
          </p:cNvPr>
          <p:cNvSpPr>
            <a:spLocks noGrp="1"/>
          </p:cNvSpPr>
          <p:nvPr/>
        </p:nvSpPr>
        <p:spPr>
          <a:xfrm>
            <a:off x="0" y="1762125"/>
            <a:ext cx="4476750" cy="4476750"/>
          </a:xfrm>
          <a:prstGeom prst="rect">
            <a:avLst/>
          </a:prstGeom>
          <a:solidFill>
            <a:srgbClr val="171E1C"/>
          </a:solidFill>
          <a:ln w="0">
            <a:noFill/>
          </a:ln>
        </p:spPr>
      </p:sp>
      <p:sp>
        <p:nvSpPr>
          <p:cNvPr id="8" name="reveal-4-6">
            <a:extLst>
              <a:ext uri="{FF2B5EF4-FFF2-40B4-BE49-F238E27FC236}">
                <a16:creationId xmlns:a16="http://schemas.microsoft.com/office/drawing/2014/main" id="{EB5EBD1E-DCA0-4369-8019-E3A80779032F}"/>
              </a:ext>
            </a:extLst>
          </p:cNvPr>
          <p:cNvSpPr>
            <a:spLocks noGrp="1"/>
          </p:cNvSpPr>
          <p:nvPr/>
        </p:nvSpPr>
        <p:spPr>
          <a:xfrm>
            <a:off x="552450" y="2152650"/>
            <a:ext cx="3333750" cy="4000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Background</a:t>
            </a:r>
          </a:p>
        </p:txBody>
      </p:sp>
      <p:sp>
        <p:nvSpPr>
          <p:cNvPr id="9" name="reveal-5-7">
            <a:extLst>
              <a:ext uri="{FF2B5EF4-FFF2-40B4-BE49-F238E27FC236}">
                <a16:creationId xmlns:a16="http://schemas.microsoft.com/office/drawing/2014/main" id="{28E654EA-D36B-488A-8003-54514F8ED2F8}"/>
              </a:ext>
            </a:extLst>
          </p:cNvPr>
          <p:cNvSpPr>
            <a:spLocks noGrp="1"/>
          </p:cNvSpPr>
          <p:nvPr/>
        </p:nvSpPr>
        <p:spPr>
          <a:xfrm>
            <a:off x="552450" y="2724150"/>
            <a:ext cx="3333750" cy="2305050"/>
          </a:xfrm>
          <a:prstGeom prst="rect">
            <a:avLst/>
          </a:prstGeom>
          <a:noFill/>
          <a:ln w="0">
            <a:noFill/>
          </a:ln>
        </p:spPr>
        <p:txBody>
          <a:bodyPr wrap="square" lIns="0" tIns="0" rIns="0" bIns="0" anchor="t">
            <a:noAutofit/>
          </a:bodyPr>
          <a:lstStyle>
            <a:defPPr>
              <a:defRPr sz="2400" b="0">
                <a:solidFill>
                  <a:srgbClr val="F4F1E9"/>
                </a:solidFill>
                <a:latin typeface="Arial"/>
                <a:ea typeface="Arial"/>
                <a:cs typeface="Arial"/>
              </a:defRPr>
            </a:defPPr>
            <a:lvl1pPr>
              <a:defRPr sz="2400" b="0">
                <a:solidFill>
                  <a:srgbClr val="F4F1E9"/>
                </a:solidFill>
                <a:latin typeface="Arial"/>
                <a:ea typeface="Arial"/>
                <a:cs typeface="Arial"/>
              </a:defRPr>
            </a:lvl1pPr>
            <a:lvl2pPr>
              <a:defRPr sz="2400" b="0">
                <a:solidFill>
                  <a:srgbClr val="F4F1E9"/>
                </a:solidFill>
                <a:latin typeface="Arial"/>
                <a:ea typeface="Arial"/>
                <a:cs typeface="Arial"/>
              </a:defRPr>
            </a:lvl2pPr>
            <a:lvl3pPr>
              <a:defRPr sz="2400" b="0">
                <a:solidFill>
                  <a:srgbClr val="F4F1E9"/>
                </a:solidFill>
                <a:latin typeface="Arial"/>
                <a:ea typeface="Arial"/>
                <a:cs typeface="Arial"/>
              </a:defRPr>
            </a:lvl3pPr>
            <a:lvl4pPr>
              <a:defRPr sz="2400" b="0">
                <a:solidFill>
                  <a:srgbClr val="F4F1E9"/>
                </a:solidFill>
                <a:latin typeface="Arial"/>
                <a:ea typeface="Arial"/>
                <a:cs typeface="Arial"/>
              </a:defRPr>
            </a:lvl4pPr>
            <a:lvl5pPr>
              <a:defRPr sz="2400" b="0">
                <a:solidFill>
                  <a:srgbClr val="F4F1E9"/>
                </a:solidFill>
                <a:latin typeface="Arial"/>
                <a:ea typeface="Arial"/>
                <a:cs typeface="Arial"/>
              </a:defRPr>
            </a:lvl5pPr>
            <a:lvl6pPr>
              <a:defRPr sz="2400" b="0">
                <a:solidFill>
                  <a:srgbClr val="F4F1E9"/>
                </a:solidFill>
                <a:latin typeface="Arial"/>
                <a:ea typeface="Arial"/>
                <a:cs typeface="Arial"/>
              </a:defRPr>
            </a:lvl6pPr>
            <a:lvl7pPr>
              <a:defRPr sz="2400" b="0">
                <a:solidFill>
                  <a:srgbClr val="F4F1E9"/>
                </a:solidFill>
                <a:latin typeface="Arial"/>
                <a:ea typeface="Arial"/>
                <a:cs typeface="Arial"/>
              </a:defRPr>
            </a:lvl7pPr>
            <a:lvl8pPr>
              <a:defRPr sz="2400" b="0">
                <a:solidFill>
                  <a:srgbClr val="F4F1E9"/>
                </a:solidFill>
                <a:latin typeface="Arial"/>
                <a:ea typeface="Arial"/>
                <a:cs typeface="Arial"/>
              </a:defRPr>
            </a:lvl8pPr>
            <a:lvl9pPr>
              <a:defRPr sz="2400" b="0">
                <a:solidFill>
                  <a:srgbClr val="F4F1E9"/>
                </a:solidFill>
                <a:latin typeface="Arial"/>
                <a:ea typeface="Arial"/>
                <a:cs typeface="Arial"/>
              </a:defRPr>
            </a:lvl9pPr>
          </a:lstStyle>
          <a:p>
            <a:pPr>
              <a:defRPr sz="2400" b="0">
                <a:solidFill>
                  <a:srgbClr val="F4F1E9"/>
                </a:solidFill>
                <a:latin typeface="Arial"/>
                <a:ea typeface="Arial"/>
                <a:cs typeface="Arial"/>
              </a:defRPr>
            </a:pPr>
            <a:r>
              <a:rPr sz="2400" b="0">
                <a:solidFill>
                  <a:srgbClr val="F4F1E9"/>
                </a:solidFill>
                <a:latin typeface="Arial"/>
                <a:ea typeface="Arial"/>
                <a:cs typeface="Arial"/>
              </a:rPr>
              <a:t>A departure delay is easier to discuss when the input conditions and the meaning of the output are visible.</a:t>
            </a:r>
          </a:p>
        </p:txBody>
      </p:sp>
      <p:sp>
        <p:nvSpPr>
          <p:cNvPr id="10" name="reveal-6-8">
            <a:extLst>
              <a:ext uri="{FF2B5EF4-FFF2-40B4-BE49-F238E27FC236}">
                <a16:creationId xmlns:a16="http://schemas.microsoft.com/office/drawing/2014/main" id="{487869F0-AEED-4F4D-92CE-4CA7A03B08EB}"/>
              </a:ext>
            </a:extLst>
          </p:cNvPr>
          <p:cNvSpPr>
            <a:spLocks noGrp="1"/>
          </p:cNvSpPr>
          <p:nvPr/>
        </p:nvSpPr>
        <p:spPr>
          <a:xfrm>
            <a:off x="4981575" y="2105025"/>
            <a:ext cx="6572250" cy="41910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Problem statement</a:t>
            </a:r>
          </a:p>
        </p:txBody>
      </p:sp>
      <p:sp>
        <p:nvSpPr>
          <p:cNvPr id="11" name="reveal-7-9">
            <a:extLst>
              <a:ext uri="{FF2B5EF4-FFF2-40B4-BE49-F238E27FC236}">
                <a16:creationId xmlns:a16="http://schemas.microsoft.com/office/drawing/2014/main" id="{63C1E574-A77D-465D-89DD-E739E98A684F}"/>
              </a:ext>
            </a:extLst>
          </p:cNvPr>
          <p:cNvSpPr>
            <a:spLocks noGrp="1"/>
          </p:cNvSpPr>
          <p:nvPr/>
        </p:nvSpPr>
        <p:spPr>
          <a:xfrm>
            <a:off x="4981575" y="2695575"/>
            <a:ext cx="6572250" cy="1733550"/>
          </a:xfrm>
          <a:prstGeom prst="rect">
            <a:avLst/>
          </a:prstGeom>
          <a:noFill/>
          <a:ln w="0">
            <a:noFill/>
          </a:ln>
        </p:spPr>
        <p:txBody>
          <a:bodyPr wrap="square" lIns="0" tIns="0" rIns="0" bIns="0" anchor="t">
            <a:noAutofit/>
          </a:bodyPr>
          <a:lstStyle>
            <a:defPPr>
              <a:defRPr sz="2625" b="1">
                <a:solidFill>
                  <a:srgbClr val="202925"/>
                </a:solidFill>
                <a:latin typeface="Arial"/>
                <a:ea typeface="Arial"/>
                <a:cs typeface="Arial"/>
              </a:defRPr>
            </a:defPPr>
            <a:lvl1pPr>
              <a:defRPr sz="2625" b="1">
                <a:solidFill>
                  <a:srgbClr val="202925"/>
                </a:solidFill>
                <a:latin typeface="Arial"/>
                <a:ea typeface="Arial"/>
                <a:cs typeface="Arial"/>
              </a:defRPr>
            </a:lvl1pPr>
            <a:lvl2pPr>
              <a:defRPr sz="2625" b="1">
                <a:solidFill>
                  <a:srgbClr val="202925"/>
                </a:solidFill>
                <a:latin typeface="Arial"/>
                <a:ea typeface="Arial"/>
                <a:cs typeface="Arial"/>
              </a:defRPr>
            </a:lvl2pPr>
            <a:lvl3pPr>
              <a:defRPr sz="2625" b="1">
                <a:solidFill>
                  <a:srgbClr val="202925"/>
                </a:solidFill>
                <a:latin typeface="Arial"/>
                <a:ea typeface="Arial"/>
                <a:cs typeface="Arial"/>
              </a:defRPr>
            </a:lvl3pPr>
            <a:lvl4pPr>
              <a:defRPr sz="2625" b="1">
                <a:solidFill>
                  <a:srgbClr val="202925"/>
                </a:solidFill>
                <a:latin typeface="Arial"/>
                <a:ea typeface="Arial"/>
                <a:cs typeface="Arial"/>
              </a:defRPr>
            </a:lvl4pPr>
            <a:lvl5pPr>
              <a:defRPr sz="2625" b="1">
                <a:solidFill>
                  <a:srgbClr val="202925"/>
                </a:solidFill>
                <a:latin typeface="Arial"/>
                <a:ea typeface="Arial"/>
                <a:cs typeface="Arial"/>
              </a:defRPr>
            </a:lvl5pPr>
            <a:lvl6pPr>
              <a:defRPr sz="2625" b="1">
                <a:solidFill>
                  <a:srgbClr val="202925"/>
                </a:solidFill>
                <a:latin typeface="Arial"/>
                <a:ea typeface="Arial"/>
                <a:cs typeface="Arial"/>
              </a:defRPr>
            </a:lvl6pPr>
            <a:lvl7pPr>
              <a:defRPr sz="2625" b="1">
                <a:solidFill>
                  <a:srgbClr val="202925"/>
                </a:solidFill>
                <a:latin typeface="Arial"/>
                <a:ea typeface="Arial"/>
                <a:cs typeface="Arial"/>
              </a:defRPr>
            </a:lvl7pPr>
            <a:lvl8pPr>
              <a:defRPr sz="2625" b="1">
                <a:solidFill>
                  <a:srgbClr val="202925"/>
                </a:solidFill>
                <a:latin typeface="Arial"/>
                <a:ea typeface="Arial"/>
                <a:cs typeface="Arial"/>
              </a:defRPr>
            </a:lvl8pPr>
            <a:lvl9pPr>
              <a:defRPr sz="2625" b="1">
                <a:solidFill>
                  <a:srgbClr val="202925"/>
                </a:solidFill>
                <a:latin typeface="Arial"/>
                <a:ea typeface="Arial"/>
                <a:cs typeface="Arial"/>
              </a:defRPr>
            </a:lvl9pPr>
          </a:lstStyle>
          <a:p>
            <a:pPr>
              <a:defRPr sz="2625" b="1">
                <a:solidFill>
                  <a:srgbClr val="202925"/>
                </a:solidFill>
                <a:latin typeface="Arial"/>
                <a:ea typeface="Arial"/>
                <a:cs typeface="Arial"/>
              </a:defRPr>
            </a:pPr>
            <a:r>
              <a:rPr sz="2625" b="1">
                <a:solidFill>
                  <a:srgbClr val="202925"/>
                </a:solidFill>
                <a:latin typeface="Arial"/>
                <a:ea typeface="Arial"/>
                <a:cs typeface="Arial"/>
              </a:rPr>
              <a:t>Estimate delay risk and minutes from the existing features, then explain the journey through an interactive website.</a:t>
            </a:r>
          </a:p>
        </p:txBody>
      </p:sp>
      <p:sp>
        <p:nvSpPr>
          <p:cNvPr id="12" name="body-8-10">
            <a:extLst>
              <a:ext uri="{FF2B5EF4-FFF2-40B4-BE49-F238E27FC236}">
                <a16:creationId xmlns:a16="http://schemas.microsoft.com/office/drawing/2014/main" id="{965B28CE-AE0D-433E-892E-5D0FFEA423AC}"/>
              </a:ext>
            </a:extLst>
          </p:cNvPr>
          <p:cNvSpPr>
            <a:spLocks noGrp="1"/>
          </p:cNvSpPr>
          <p:nvPr/>
        </p:nvSpPr>
        <p:spPr>
          <a:xfrm>
            <a:off x="4981575" y="4724400"/>
            <a:ext cx="6572250" cy="723900"/>
          </a:xfrm>
          <a:prstGeom prst="rect">
            <a:avLst/>
          </a:prstGeom>
          <a:noFill/>
          <a:ln w="0">
            <a:noFill/>
          </a:ln>
        </p:spPr>
        <p:txBody>
          <a:bodyPr wrap="square" lIns="0" tIns="0" rIns="0" bIns="0" anchor="t">
            <a:noAutofit/>
          </a:bodyPr>
          <a:lstStyle>
            <a:defPPr>
              <a:defRPr sz="1950" b="0">
                <a:solidFill>
                  <a:srgbClr val="202925"/>
                </a:solidFill>
                <a:latin typeface="Arial"/>
                <a:ea typeface="Arial"/>
                <a:cs typeface="Arial"/>
              </a:defRPr>
            </a:defPPr>
            <a:lvl1pPr>
              <a:defRPr sz="1950" b="0">
                <a:solidFill>
                  <a:srgbClr val="202925"/>
                </a:solidFill>
                <a:latin typeface="Arial"/>
                <a:ea typeface="Arial"/>
                <a:cs typeface="Arial"/>
              </a:defRPr>
            </a:lvl1pPr>
            <a:lvl2pPr>
              <a:defRPr sz="1950" b="0">
                <a:solidFill>
                  <a:srgbClr val="202925"/>
                </a:solidFill>
                <a:latin typeface="Arial"/>
                <a:ea typeface="Arial"/>
                <a:cs typeface="Arial"/>
              </a:defRPr>
            </a:lvl2pPr>
            <a:lvl3pPr>
              <a:defRPr sz="1950" b="0">
                <a:solidFill>
                  <a:srgbClr val="202925"/>
                </a:solidFill>
                <a:latin typeface="Arial"/>
                <a:ea typeface="Arial"/>
                <a:cs typeface="Arial"/>
              </a:defRPr>
            </a:lvl3pPr>
            <a:lvl4pPr>
              <a:defRPr sz="1950" b="0">
                <a:solidFill>
                  <a:srgbClr val="202925"/>
                </a:solidFill>
                <a:latin typeface="Arial"/>
                <a:ea typeface="Arial"/>
                <a:cs typeface="Arial"/>
              </a:defRPr>
            </a:lvl4pPr>
            <a:lvl5pPr>
              <a:defRPr sz="1950" b="0">
                <a:solidFill>
                  <a:srgbClr val="202925"/>
                </a:solidFill>
                <a:latin typeface="Arial"/>
                <a:ea typeface="Arial"/>
                <a:cs typeface="Arial"/>
              </a:defRPr>
            </a:lvl5pPr>
            <a:lvl6pPr>
              <a:defRPr sz="1950" b="0">
                <a:solidFill>
                  <a:srgbClr val="202925"/>
                </a:solidFill>
                <a:latin typeface="Arial"/>
                <a:ea typeface="Arial"/>
                <a:cs typeface="Arial"/>
              </a:defRPr>
            </a:lvl6pPr>
            <a:lvl7pPr>
              <a:defRPr sz="1950" b="0">
                <a:solidFill>
                  <a:srgbClr val="202925"/>
                </a:solidFill>
                <a:latin typeface="Arial"/>
                <a:ea typeface="Arial"/>
                <a:cs typeface="Arial"/>
              </a:defRPr>
            </a:lvl7pPr>
            <a:lvl8pPr>
              <a:defRPr sz="1950" b="0">
                <a:solidFill>
                  <a:srgbClr val="202925"/>
                </a:solidFill>
                <a:latin typeface="Arial"/>
                <a:ea typeface="Arial"/>
                <a:cs typeface="Arial"/>
              </a:defRPr>
            </a:lvl8pPr>
            <a:lvl9pPr>
              <a:defRPr sz="1950" b="0">
                <a:solidFill>
                  <a:srgbClr val="202925"/>
                </a:solidFill>
                <a:latin typeface="Arial"/>
                <a:ea typeface="Arial"/>
                <a:cs typeface="Arial"/>
              </a:defRPr>
            </a:lvl9pPr>
          </a:lstStyle>
          <a:p>
            <a:pPr>
              <a:defRPr sz="1950" b="0">
                <a:solidFill>
                  <a:srgbClr val="202925"/>
                </a:solidFill>
                <a:latin typeface="Arial"/>
                <a:ea typeface="Arial"/>
                <a:cs typeface="Arial"/>
              </a:defRPr>
            </a:pPr>
            <a:r>
              <a:rPr sz="1950" b="0">
                <a:solidFill>
                  <a:srgbClr val="202925"/>
                </a:solidFill>
                <a:latin typeface="Arial"/>
                <a:ea typeface="Arial"/>
                <a:cs typeface="Arial"/>
              </a:rPr>
              <a:t>Scope: HYD departures to BLR, MAA, VGA, VTZ, TIR and TRV.</a:t>
            </a:r>
          </a:p>
        </p:txBody>
      </p:sp>
      <p:sp>
        <p:nvSpPr>
          <p:cNvPr id="13" name="body-9-11">
            <a:extLst>
              <a:ext uri="{FF2B5EF4-FFF2-40B4-BE49-F238E27FC236}">
                <a16:creationId xmlns:a16="http://schemas.microsoft.com/office/drawing/2014/main" id="{0B3D80DA-BCCB-4205-8457-FE32328707D7}"/>
              </a:ext>
            </a:extLst>
          </p:cNvPr>
          <p:cNvSpPr>
            <a:spLocks noGrp="1"/>
          </p:cNvSpPr>
          <p:nvPr/>
        </p:nvSpPr>
        <p:spPr>
          <a:xfrm>
            <a:off x="552450" y="6410325"/>
            <a:ext cx="9858375" cy="314325"/>
          </a:xfrm>
          <a:prstGeom prst="rect">
            <a:avLst/>
          </a:prstGeom>
          <a:noFill/>
          <a:ln w="0">
            <a:noFill/>
          </a:ln>
        </p:spPr>
        <p:txBody>
          <a:bodyPr wrap="square" lIns="0" tIns="0" rIns="0" bIns="0" anchor="t">
            <a:noAutofit/>
          </a:bodyPr>
          <a:lstStyle>
            <a:defPPr>
              <a:defRPr sz="1275" b="0">
                <a:solidFill>
                  <a:srgbClr val="69736A"/>
                </a:solidFill>
                <a:latin typeface="Arial"/>
                <a:ea typeface="Arial"/>
                <a:cs typeface="Arial"/>
              </a:defRPr>
            </a:defPPr>
            <a:lvl1pPr>
              <a:defRPr sz="1275" b="0">
                <a:solidFill>
                  <a:srgbClr val="69736A"/>
                </a:solidFill>
                <a:latin typeface="Arial"/>
                <a:ea typeface="Arial"/>
                <a:cs typeface="Arial"/>
              </a:defRPr>
            </a:lvl1pPr>
            <a:lvl2pPr>
              <a:defRPr sz="1275" b="0">
                <a:solidFill>
                  <a:srgbClr val="69736A"/>
                </a:solidFill>
                <a:latin typeface="Arial"/>
                <a:ea typeface="Arial"/>
                <a:cs typeface="Arial"/>
              </a:defRPr>
            </a:lvl2pPr>
            <a:lvl3pPr>
              <a:defRPr sz="1275" b="0">
                <a:solidFill>
                  <a:srgbClr val="69736A"/>
                </a:solidFill>
                <a:latin typeface="Arial"/>
                <a:ea typeface="Arial"/>
                <a:cs typeface="Arial"/>
              </a:defRPr>
            </a:lvl3pPr>
            <a:lvl4pPr>
              <a:defRPr sz="1275" b="0">
                <a:solidFill>
                  <a:srgbClr val="69736A"/>
                </a:solidFill>
                <a:latin typeface="Arial"/>
                <a:ea typeface="Arial"/>
                <a:cs typeface="Arial"/>
              </a:defRPr>
            </a:lvl4pPr>
            <a:lvl5pPr>
              <a:defRPr sz="1275" b="0">
                <a:solidFill>
                  <a:srgbClr val="69736A"/>
                </a:solidFill>
                <a:latin typeface="Arial"/>
                <a:ea typeface="Arial"/>
                <a:cs typeface="Arial"/>
              </a:defRPr>
            </a:lvl5pPr>
            <a:lvl6pPr>
              <a:defRPr sz="1275" b="0">
                <a:solidFill>
                  <a:srgbClr val="69736A"/>
                </a:solidFill>
                <a:latin typeface="Arial"/>
                <a:ea typeface="Arial"/>
                <a:cs typeface="Arial"/>
              </a:defRPr>
            </a:lvl6pPr>
            <a:lvl7pPr>
              <a:defRPr sz="1275" b="0">
                <a:solidFill>
                  <a:srgbClr val="69736A"/>
                </a:solidFill>
                <a:latin typeface="Arial"/>
                <a:ea typeface="Arial"/>
                <a:cs typeface="Arial"/>
              </a:defRPr>
            </a:lvl7pPr>
            <a:lvl8pPr>
              <a:defRPr sz="1275" b="0">
                <a:solidFill>
                  <a:srgbClr val="69736A"/>
                </a:solidFill>
                <a:latin typeface="Arial"/>
                <a:ea typeface="Arial"/>
                <a:cs typeface="Arial"/>
              </a:defRPr>
            </a:lvl8pPr>
            <a:lvl9pPr>
              <a:defRPr sz="1275" b="0">
                <a:solidFill>
                  <a:srgbClr val="69736A"/>
                </a:solidFill>
                <a:latin typeface="Arial"/>
                <a:ea typeface="Arial"/>
                <a:cs typeface="Arial"/>
              </a:defRPr>
            </a:lvl9pPr>
          </a:lstStyle>
          <a:p>
            <a:pPr>
              <a:defRPr sz="1275" b="0">
                <a:solidFill>
                  <a:srgbClr val="69736A"/>
                </a:solidFill>
                <a:latin typeface="Arial"/>
                <a:ea typeface="Arial"/>
                <a:cs typeface="Arial"/>
              </a:defRPr>
            </a:pPr>
            <a:r>
              <a:rPr sz="1275" b="0">
                <a:solidFill>
                  <a:srgbClr val="69736A"/>
                </a:solidFill>
                <a:latin typeface="Arial"/>
                <a:ea typeface="Arial"/>
                <a:cs typeface="Arial"/>
              </a:rPr>
              <a:t>Training data is synthetic. Live schedules and the animated journey have separate roles.</a:t>
            </a:r>
          </a:p>
        </p:txBody>
      </p:sp>
    </p:spTree>
    <p:extLst>
      <p:ext uri="{BB962C8B-B14F-4D97-AF65-F5344CB8AC3E}">
        <p14:creationId xmlns:p14="http://schemas.microsoft.com/office/powerpoint/2010/main" val="198574337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
                                        <p:tgtEl>
                                          <p:spTgt spid="8"/>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30"/>
                                        <p:tgtEl>
                                          <p:spTgt spid="9"/>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30"/>
                                        <p:tgtEl>
                                          <p:spTgt spid="12"/>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3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A24EA13E-9748-4468-8277-B4A6C451D172}"/>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948D7727-1C6A-4163-A1F3-5F54D8F89CDF}"/>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PROJECT PRESENTATION</a:t>
            </a:r>
          </a:p>
        </p:txBody>
      </p:sp>
      <p:sp>
        <p:nvSpPr>
          <p:cNvPr id="4" name="footer-3-2">
            <a:extLst>
              <a:ext uri="{FF2B5EF4-FFF2-40B4-BE49-F238E27FC236}">
                <a16:creationId xmlns:a16="http://schemas.microsoft.com/office/drawing/2014/main" id="{C6007C31-8A48-40D9-825D-DC216F7A0B5B}"/>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03 / 12</a:t>
            </a:r>
          </a:p>
        </p:txBody>
      </p:sp>
      <p:sp>
        <p:nvSpPr>
          <p:cNvPr id="5" name="title-1-3">
            <a:extLst>
              <a:ext uri="{FF2B5EF4-FFF2-40B4-BE49-F238E27FC236}">
                <a16:creationId xmlns:a16="http://schemas.microsoft.com/office/drawing/2014/main" id="{DC982C3B-ACF0-4CB5-BAD7-7C0F41A42E0A}"/>
              </a:ext>
            </a:extLst>
          </p:cNvPr>
          <p:cNvSpPr>
            <a:spLocks noGrp="1"/>
          </p:cNvSpPr>
          <p:nvPr/>
        </p:nvSpPr>
        <p:spPr>
          <a:xfrm>
            <a:off x="552450" y="752475"/>
            <a:ext cx="5238750" cy="1028700"/>
          </a:xfrm>
          <a:prstGeom prst="rect">
            <a:avLst/>
          </a:prstGeom>
          <a:noFill/>
          <a:ln w="0">
            <a:noFill/>
          </a:ln>
        </p:spPr>
        <p:txBody>
          <a:bodyPr wrap="square" lIns="0" tIns="0" rIns="0" bIns="0" anchor="t">
            <a:noAutofit/>
          </a:bodyPr>
          <a:lstStyle>
            <a:defPPr>
              <a:defRPr sz="4275" b="1">
                <a:solidFill>
                  <a:srgbClr val="F4F1E9"/>
                </a:solidFill>
                <a:latin typeface="Arial"/>
                <a:ea typeface="Arial"/>
                <a:cs typeface="Arial"/>
              </a:defRPr>
            </a:defPPr>
            <a:lvl1pPr>
              <a:defRPr sz="4275" b="1">
                <a:solidFill>
                  <a:srgbClr val="F4F1E9"/>
                </a:solidFill>
                <a:latin typeface="Arial"/>
                <a:ea typeface="Arial"/>
                <a:cs typeface="Arial"/>
              </a:defRPr>
            </a:lvl1pPr>
            <a:lvl2pPr>
              <a:defRPr sz="4275" b="1">
                <a:solidFill>
                  <a:srgbClr val="F4F1E9"/>
                </a:solidFill>
                <a:latin typeface="Arial"/>
                <a:ea typeface="Arial"/>
                <a:cs typeface="Arial"/>
              </a:defRPr>
            </a:lvl2pPr>
            <a:lvl3pPr>
              <a:defRPr sz="4275" b="1">
                <a:solidFill>
                  <a:srgbClr val="F4F1E9"/>
                </a:solidFill>
                <a:latin typeface="Arial"/>
                <a:ea typeface="Arial"/>
                <a:cs typeface="Arial"/>
              </a:defRPr>
            </a:lvl3pPr>
            <a:lvl4pPr>
              <a:defRPr sz="4275" b="1">
                <a:solidFill>
                  <a:srgbClr val="F4F1E9"/>
                </a:solidFill>
                <a:latin typeface="Arial"/>
                <a:ea typeface="Arial"/>
                <a:cs typeface="Arial"/>
              </a:defRPr>
            </a:lvl4pPr>
            <a:lvl5pPr>
              <a:defRPr sz="4275" b="1">
                <a:solidFill>
                  <a:srgbClr val="F4F1E9"/>
                </a:solidFill>
                <a:latin typeface="Arial"/>
                <a:ea typeface="Arial"/>
                <a:cs typeface="Arial"/>
              </a:defRPr>
            </a:lvl5pPr>
            <a:lvl6pPr>
              <a:defRPr sz="4275" b="1">
                <a:solidFill>
                  <a:srgbClr val="F4F1E9"/>
                </a:solidFill>
                <a:latin typeface="Arial"/>
                <a:ea typeface="Arial"/>
                <a:cs typeface="Arial"/>
              </a:defRPr>
            </a:lvl6pPr>
            <a:lvl7pPr>
              <a:defRPr sz="4275" b="1">
                <a:solidFill>
                  <a:srgbClr val="F4F1E9"/>
                </a:solidFill>
                <a:latin typeface="Arial"/>
                <a:ea typeface="Arial"/>
                <a:cs typeface="Arial"/>
              </a:defRPr>
            </a:lvl7pPr>
            <a:lvl8pPr>
              <a:defRPr sz="4275" b="1">
                <a:solidFill>
                  <a:srgbClr val="F4F1E9"/>
                </a:solidFill>
                <a:latin typeface="Arial"/>
                <a:ea typeface="Arial"/>
                <a:cs typeface="Arial"/>
              </a:defRPr>
            </a:lvl8pPr>
            <a:lvl9pPr>
              <a:defRPr sz="4275" b="1">
                <a:solidFill>
                  <a:srgbClr val="F4F1E9"/>
                </a:solidFill>
                <a:latin typeface="Arial"/>
                <a:ea typeface="Arial"/>
                <a:cs typeface="Arial"/>
              </a:defRPr>
            </a:lvl9pPr>
          </a:lstStyle>
          <a:p>
            <a:pPr>
              <a:defRPr sz="4275" b="1">
                <a:solidFill>
                  <a:srgbClr val="F4F1E9"/>
                </a:solidFill>
                <a:latin typeface="Arial"/>
                <a:ea typeface="Arial"/>
                <a:cs typeface="Arial"/>
              </a:defRPr>
            </a:pPr>
            <a:r>
              <a:rPr sz="4275" b="1">
                <a:solidFill>
                  <a:srgbClr val="F4F1E9"/>
                </a:solidFill>
                <a:latin typeface="Arial"/>
                <a:ea typeface="Arial"/>
                <a:cs typeface="Arial"/>
              </a:rPr>
              <a:t>Objectives</a:t>
            </a:r>
          </a:p>
        </p:txBody>
      </p:sp>
      <p:sp>
        <p:nvSpPr>
          <p:cNvPr id="6" name="background-4">
            <a:extLst>
              <a:ext uri="{FF2B5EF4-FFF2-40B4-BE49-F238E27FC236}">
                <a16:creationId xmlns:a16="http://schemas.microsoft.com/office/drawing/2014/main" id="{D832DE0C-D72C-4E10-8D23-FB3ED5299234}"/>
              </a:ext>
            </a:extLst>
          </p:cNvPr>
          <p:cNvSpPr>
            <a:spLocks noGrp="1"/>
          </p:cNvSpPr>
          <p:nvPr/>
        </p:nvSpPr>
        <p:spPr>
          <a:xfrm>
            <a:off x="552450" y="6257925"/>
            <a:ext cx="9906000" cy="9525"/>
          </a:xfrm>
          <a:prstGeom prst="rect">
            <a:avLst/>
          </a:prstGeom>
          <a:solidFill>
            <a:srgbClr val="435046"/>
          </a:solidFill>
          <a:ln w="0">
            <a:noFill/>
          </a:ln>
        </p:spPr>
      </p:sp>
      <p:pic>
        <p:nvPicPr>
          <p:cNvPr id="7" name="Picture 6">
            <a:extLst>
              <a:ext uri="{FF2B5EF4-FFF2-40B4-BE49-F238E27FC236}">
                <a16:creationId xmlns:a16="http://schemas.microsoft.com/office/drawing/2014/main" id="{02AE40D0-E66A-484B-A13A-437A0024605F}"/>
              </a:ext>
            </a:extLst>
          </p:cNvPr>
          <p:cNvPicPr>
            <a:picLocks noChangeAspect="1"/>
          </p:cNvPicPr>
          <p:nvPr/>
        </p:nvPicPr>
        <p:blipFill>
          <a:blip r:embed="rId3"/>
          <a:stretch/>
        </p:blipFill>
        <p:spPr>
          <a:xfrm>
            <a:off x="190500" y="2447925"/>
            <a:ext cx="4286250" cy="3000375"/>
          </a:xfrm>
          <a:prstGeom prst="rect">
            <a:avLst/>
          </a:prstGeom>
        </p:spPr>
      </p:pic>
      <p:sp>
        <p:nvSpPr>
          <p:cNvPr id="8" name="reveal-4-5">
            <a:extLst>
              <a:ext uri="{FF2B5EF4-FFF2-40B4-BE49-F238E27FC236}">
                <a16:creationId xmlns:a16="http://schemas.microsoft.com/office/drawing/2014/main" id="{25E22328-47EE-47AA-8537-10147C55B6F8}"/>
              </a:ext>
            </a:extLst>
          </p:cNvPr>
          <p:cNvSpPr>
            <a:spLocks noGrp="1"/>
          </p:cNvSpPr>
          <p:nvPr/>
        </p:nvSpPr>
        <p:spPr>
          <a:xfrm>
            <a:off x="4886325" y="1885950"/>
            <a:ext cx="762000" cy="619125"/>
          </a:xfrm>
          <a:prstGeom prst="rect">
            <a:avLst/>
          </a:prstGeom>
          <a:noFill/>
          <a:ln w="0">
            <a:noFill/>
          </a:ln>
        </p:spPr>
        <p:txBody>
          <a:bodyPr wrap="square" lIns="0" tIns="0" rIns="0" bIns="0" anchor="t">
            <a:noAutofit/>
          </a:bodyPr>
          <a:lstStyle>
            <a:defPPr>
              <a:defRPr sz="3750" b="1">
                <a:solidFill>
                  <a:srgbClr val="D5AF83"/>
                </a:solidFill>
                <a:latin typeface="Arial"/>
                <a:ea typeface="Arial"/>
                <a:cs typeface="Arial"/>
              </a:defRPr>
            </a:defPPr>
            <a:lvl1pPr>
              <a:defRPr sz="3750" b="1">
                <a:solidFill>
                  <a:srgbClr val="D5AF83"/>
                </a:solidFill>
                <a:latin typeface="Arial"/>
                <a:ea typeface="Arial"/>
                <a:cs typeface="Arial"/>
              </a:defRPr>
            </a:lvl1pPr>
            <a:lvl2pPr>
              <a:defRPr sz="3750" b="1">
                <a:solidFill>
                  <a:srgbClr val="D5AF83"/>
                </a:solidFill>
                <a:latin typeface="Arial"/>
                <a:ea typeface="Arial"/>
                <a:cs typeface="Arial"/>
              </a:defRPr>
            </a:lvl2pPr>
            <a:lvl3pPr>
              <a:defRPr sz="3750" b="1">
                <a:solidFill>
                  <a:srgbClr val="D5AF83"/>
                </a:solidFill>
                <a:latin typeface="Arial"/>
                <a:ea typeface="Arial"/>
                <a:cs typeface="Arial"/>
              </a:defRPr>
            </a:lvl3pPr>
            <a:lvl4pPr>
              <a:defRPr sz="3750" b="1">
                <a:solidFill>
                  <a:srgbClr val="D5AF83"/>
                </a:solidFill>
                <a:latin typeface="Arial"/>
                <a:ea typeface="Arial"/>
                <a:cs typeface="Arial"/>
              </a:defRPr>
            </a:lvl4pPr>
            <a:lvl5pPr>
              <a:defRPr sz="3750" b="1">
                <a:solidFill>
                  <a:srgbClr val="D5AF83"/>
                </a:solidFill>
                <a:latin typeface="Arial"/>
                <a:ea typeface="Arial"/>
                <a:cs typeface="Arial"/>
              </a:defRPr>
            </a:lvl5pPr>
            <a:lvl6pPr>
              <a:defRPr sz="3750" b="1">
                <a:solidFill>
                  <a:srgbClr val="D5AF83"/>
                </a:solidFill>
                <a:latin typeface="Arial"/>
                <a:ea typeface="Arial"/>
                <a:cs typeface="Arial"/>
              </a:defRPr>
            </a:lvl6pPr>
            <a:lvl7pPr>
              <a:defRPr sz="3750" b="1">
                <a:solidFill>
                  <a:srgbClr val="D5AF83"/>
                </a:solidFill>
                <a:latin typeface="Arial"/>
                <a:ea typeface="Arial"/>
                <a:cs typeface="Arial"/>
              </a:defRPr>
            </a:lvl7pPr>
            <a:lvl8pPr>
              <a:defRPr sz="3750" b="1">
                <a:solidFill>
                  <a:srgbClr val="D5AF83"/>
                </a:solidFill>
                <a:latin typeface="Arial"/>
                <a:ea typeface="Arial"/>
                <a:cs typeface="Arial"/>
              </a:defRPr>
            </a:lvl8pPr>
            <a:lvl9pPr>
              <a:defRPr sz="3750" b="1">
                <a:solidFill>
                  <a:srgbClr val="D5AF83"/>
                </a:solidFill>
                <a:latin typeface="Arial"/>
                <a:ea typeface="Arial"/>
                <a:cs typeface="Arial"/>
              </a:defRPr>
            </a:lvl9pPr>
          </a:lstStyle>
          <a:p>
            <a:pPr>
              <a:defRPr sz="3750" b="1">
                <a:solidFill>
                  <a:srgbClr val="D5AF83"/>
                </a:solidFill>
                <a:latin typeface="Arial"/>
                <a:ea typeface="Arial"/>
                <a:cs typeface="Arial"/>
              </a:defRPr>
            </a:pPr>
            <a:r>
              <a:rPr sz="3750" b="1">
                <a:solidFill>
                  <a:srgbClr val="D5AF83"/>
                </a:solidFill>
                <a:latin typeface="Arial"/>
                <a:ea typeface="Arial"/>
                <a:cs typeface="Arial"/>
              </a:rPr>
              <a:t>01</a:t>
            </a:r>
          </a:p>
        </p:txBody>
      </p:sp>
      <p:sp>
        <p:nvSpPr>
          <p:cNvPr id="9" name="reveal-5-6">
            <a:extLst>
              <a:ext uri="{FF2B5EF4-FFF2-40B4-BE49-F238E27FC236}">
                <a16:creationId xmlns:a16="http://schemas.microsoft.com/office/drawing/2014/main" id="{F7027098-C1B0-407A-929D-B607119531F9}"/>
              </a:ext>
            </a:extLst>
          </p:cNvPr>
          <p:cNvSpPr>
            <a:spLocks noGrp="1"/>
          </p:cNvSpPr>
          <p:nvPr/>
        </p:nvSpPr>
        <p:spPr>
          <a:xfrm>
            <a:off x="5876925" y="1914525"/>
            <a:ext cx="5657850" cy="781050"/>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Study the unchanged dataset and its ten input features.</a:t>
            </a:r>
          </a:p>
        </p:txBody>
      </p:sp>
      <p:sp>
        <p:nvSpPr>
          <p:cNvPr id="10" name="background-7">
            <a:extLst>
              <a:ext uri="{FF2B5EF4-FFF2-40B4-BE49-F238E27FC236}">
                <a16:creationId xmlns:a16="http://schemas.microsoft.com/office/drawing/2014/main" id="{21260741-CA9F-49AC-A5EB-41DE95CFCA6A}"/>
              </a:ext>
            </a:extLst>
          </p:cNvPr>
          <p:cNvSpPr>
            <a:spLocks noGrp="1"/>
          </p:cNvSpPr>
          <p:nvPr/>
        </p:nvSpPr>
        <p:spPr>
          <a:xfrm>
            <a:off x="4886325" y="2790825"/>
            <a:ext cx="6648450" cy="9525"/>
          </a:xfrm>
          <a:prstGeom prst="rect">
            <a:avLst/>
          </a:prstGeom>
          <a:solidFill>
            <a:srgbClr val="435046"/>
          </a:solidFill>
          <a:ln w="0">
            <a:noFill/>
          </a:ln>
        </p:spPr>
      </p:sp>
      <p:sp>
        <p:nvSpPr>
          <p:cNvPr id="11" name="reveal-6-8">
            <a:extLst>
              <a:ext uri="{FF2B5EF4-FFF2-40B4-BE49-F238E27FC236}">
                <a16:creationId xmlns:a16="http://schemas.microsoft.com/office/drawing/2014/main" id="{6410550D-0E34-4559-815B-7706EE44AAF8}"/>
              </a:ext>
            </a:extLst>
          </p:cNvPr>
          <p:cNvSpPr>
            <a:spLocks noGrp="1"/>
          </p:cNvSpPr>
          <p:nvPr/>
        </p:nvSpPr>
        <p:spPr>
          <a:xfrm>
            <a:off x="4886325" y="2905125"/>
            <a:ext cx="762000" cy="619125"/>
          </a:xfrm>
          <a:prstGeom prst="rect">
            <a:avLst/>
          </a:prstGeom>
          <a:noFill/>
          <a:ln w="0">
            <a:noFill/>
          </a:ln>
        </p:spPr>
        <p:txBody>
          <a:bodyPr wrap="square" lIns="0" tIns="0" rIns="0" bIns="0" anchor="t">
            <a:noAutofit/>
          </a:bodyPr>
          <a:lstStyle>
            <a:defPPr>
              <a:defRPr sz="3750" b="1">
                <a:solidFill>
                  <a:srgbClr val="D5AF83"/>
                </a:solidFill>
                <a:latin typeface="Arial"/>
                <a:ea typeface="Arial"/>
                <a:cs typeface="Arial"/>
              </a:defRPr>
            </a:defPPr>
            <a:lvl1pPr>
              <a:defRPr sz="3750" b="1">
                <a:solidFill>
                  <a:srgbClr val="D5AF83"/>
                </a:solidFill>
                <a:latin typeface="Arial"/>
                <a:ea typeface="Arial"/>
                <a:cs typeface="Arial"/>
              </a:defRPr>
            </a:lvl1pPr>
            <a:lvl2pPr>
              <a:defRPr sz="3750" b="1">
                <a:solidFill>
                  <a:srgbClr val="D5AF83"/>
                </a:solidFill>
                <a:latin typeface="Arial"/>
                <a:ea typeface="Arial"/>
                <a:cs typeface="Arial"/>
              </a:defRPr>
            </a:lvl2pPr>
            <a:lvl3pPr>
              <a:defRPr sz="3750" b="1">
                <a:solidFill>
                  <a:srgbClr val="D5AF83"/>
                </a:solidFill>
                <a:latin typeface="Arial"/>
                <a:ea typeface="Arial"/>
                <a:cs typeface="Arial"/>
              </a:defRPr>
            </a:lvl3pPr>
            <a:lvl4pPr>
              <a:defRPr sz="3750" b="1">
                <a:solidFill>
                  <a:srgbClr val="D5AF83"/>
                </a:solidFill>
                <a:latin typeface="Arial"/>
                <a:ea typeface="Arial"/>
                <a:cs typeface="Arial"/>
              </a:defRPr>
            </a:lvl4pPr>
            <a:lvl5pPr>
              <a:defRPr sz="3750" b="1">
                <a:solidFill>
                  <a:srgbClr val="D5AF83"/>
                </a:solidFill>
                <a:latin typeface="Arial"/>
                <a:ea typeface="Arial"/>
                <a:cs typeface="Arial"/>
              </a:defRPr>
            </a:lvl5pPr>
            <a:lvl6pPr>
              <a:defRPr sz="3750" b="1">
                <a:solidFill>
                  <a:srgbClr val="D5AF83"/>
                </a:solidFill>
                <a:latin typeface="Arial"/>
                <a:ea typeface="Arial"/>
                <a:cs typeface="Arial"/>
              </a:defRPr>
            </a:lvl6pPr>
            <a:lvl7pPr>
              <a:defRPr sz="3750" b="1">
                <a:solidFill>
                  <a:srgbClr val="D5AF83"/>
                </a:solidFill>
                <a:latin typeface="Arial"/>
                <a:ea typeface="Arial"/>
                <a:cs typeface="Arial"/>
              </a:defRPr>
            </a:lvl7pPr>
            <a:lvl8pPr>
              <a:defRPr sz="3750" b="1">
                <a:solidFill>
                  <a:srgbClr val="D5AF83"/>
                </a:solidFill>
                <a:latin typeface="Arial"/>
                <a:ea typeface="Arial"/>
                <a:cs typeface="Arial"/>
              </a:defRPr>
            </a:lvl8pPr>
            <a:lvl9pPr>
              <a:defRPr sz="3750" b="1">
                <a:solidFill>
                  <a:srgbClr val="D5AF83"/>
                </a:solidFill>
                <a:latin typeface="Arial"/>
                <a:ea typeface="Arial"/>
                <a:cs typeface="Arial"/>
              </a:defRPr>
            </a:lvl9pPr>
          </a:lstStyle>
          <a:p>
            <a:pPr>
              <a:defRPr sz="3750" b="1">
                <a:solidFill>
                  <a:srgbClr val="D5AF83"/>
                </a:solidFill>
                <a:latin typeface="Arial"/>
                <a:ea typeface="Arial"/>
                <a:cs typeface="Arial"/>
              </a:defRPr>
            </a:pPr>
            <a:r>
              <a:rPr sz="3750" b="1">
                <a:solidFill>
                  <a:srgbClr val="D5AF83"/>
                </a:solidFill>
                <a:latin typeface="Arial"/>
                <a:ea typeface="Arial"/>
                <a:cs typeface="Arial"/>
              </a:rPr>
              <a:t>02</a:t>
            </a:r>
          </a:p>
        </p:txBody>
      </p:sp>
      <p:sp>
        <p:nvSpPr>
          <p:cNvPr id="12" name="reveal-7-9">
            <a:extLst>
              <a:ext uri="{FF2B5EF4-FFF2-40B4-BE49-F238E27FC236}">
                <a16:creationId xmlns:a16="http://schemas.microsoft.com/office/drawing/2014/main" id="{BF269D9C-2F10-4F20-A697-1F06FBD6F207}"/>
              </a:ext>
            </a:extLst>
          </p:cNvPr>
          <p:cNvSpPr>
            <a:spLocks noGrp="1"/>
          </p:cNvSpPr>
          <p:nvPr/>
        </p:nvSpPr>
        <p:spPr>
          <a:xfrm>
            <a:off x="5876925" y="2933700"/>
            <a:ext cx="5657850" cy="781050"/>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Train Random Forest models for delay class and minutes.</a:t>
            </a:r>
          </a:p>
        </p:txBody>
      </p:sp>
      <p:sp>
        <p:nvSpPr>
          <p:cNvPr id="13" name="background-10">
            <a:extLst>
              <a:ext uri="{FF2B5EF4-FFF2-40B4-BE49-F238E27FC236}">
                <a16:creationId xmlns:a16="http://schemas.microsoft.com/office/drawing/2014/main" id="{5A50316C-8296-4124-8B96-5FFB2CA7E00B}"/>
              </a:ext>
            </a:extLst>
          </p:cNvPr>
          <p:cNvSpPr>
            <a:spLocks noGrp="1"/>
          </p:cNvSpPr>
          <p:nvPr/>
        </p:nvSpPr>
        <p:spPr>
          <a:xfrm>
            <a:off x="4886325" y="3810000"/>
            <a:ext cx="6648450" cy="9525"/>
          </a:xfrm>
          <a:prstGeom prst="rect">
            <a:avLst/>
          </a:prstGeom>
          <a:solidFill>
            <a:srgbClr val="435046"/>
          </a:solidFill>
          <a:ln w="0">
            <a:noFill/>
          </a:ln>
        </p:spPr>
      </p:sp>
      <p:sp>
        <p:nvSpPr>
          <p:cNvPr id="14" name="reveal-8-11">
            <a:extLst>
              <a:ext uri="{FF2B5EF4-FFF2-40B4-BE49-F238E27FC236}">
                <a16:creationId xmlns:a16="http://schemas.microsoft.com/office/drawing/2014/main" id="{E665042D-71B2-4D37-8C73-868B2EDBF169}"/>
              </a:ext>
            </a:extLst>
          </p:cNvPr>
          <p:cNvSpPr>
            <a:spLocks noGrp="1"/>
          </p:cNvSpPr>
          <p:nvPr/>
        </p:nvSpPr>
        <p:spPr>
          <a:xfrm>
            <a:off x="4886325" y="3924300"/>
            <a:ext cx="762000" cy="619125"/>
          </a:xfrm>
          <a:prstGeom prst="rect">
            <a:avLst/>
          </a:prstGeom>
          <a:noFill/>
          <a:ln w="0">
            <a:noFill/>
          </a:ln>
        </p:spPr>
        <p:txBody>
          <a:bodyPr wrap="square" lIns="0" tIns="0" rIns="0" bIns="0" anchor="t">
            <a:noAutofit/>
          </a:bodyPr>
          <a:lstStyle>
            <a:defPPr>
              <a:defRPr sz="3750" b="1">
                <a:solidFill>
                  <a:srgbClr val="D5AF83"/>
                </a:solidFill>
                <a:latin typeface="Arial"/>
                <a:ea typeface="Arial"/>
                <a:cs typeface="Arial"/>
              </a:defRPr>
            </a:defPPr>
            <a:lvl1pPr>
              <a:defRPr sz="3750" b="1">
                <a:solidFill>
                  <a:srgbClr val="D5AF83"/>
                </a:solidFill>
                <a:latin typeface="Arial"/>
                <a:ea typeface="Arial"/>
                <a:cs typeface="Arial"/>
              </a:defRPr>
            </a:lvl1pPr>
            <a:lvl2pPr>
              <a:defRPr sz="3750" b="1">
                <a:solidFill>
                  <a:srgbClr val="D5AF83"/>
                </a:solidFill>
                <a:latin typeface="Arial"/>
                <a:ea typeface="Arial"/>
                <a:cs typeface="Arial"/>
              </a:defRPr>
            </a:lvl2pPr>
            <a:lvl3pPr>
              <a:defRPr sz="3750" b="1">
                <a:solidFill>
                  <a:srgbClr val="D5AF83"/>
                </a:solidFill>
                <a:latin typeface="Arial"/>
                <a:ea typeface="Arial"/>
                <a:cs typeface="Arial"/>
              </a:defRPr>
            </a:lvl3pPr>
            <a:lvl4pPr>
              <a:defRPr sz="3750" b="1">
                <a:solidFill>
                  <a:srgbClr val="D5AF83"/>
                </a:solidFill>
                <a:latin typeface="Arial"/>
                <a:ea typeface="Arial"/>
                <a:cs typeface="Arial"/>
              </a:defRPr>
            </a:lvl4pPr>
            <a:lvl5pPr>
              <a:defRPr sz="3750" b="1">
                <a:solidFill>
                  <a:srgbClr val="D5AF83"/>
                </a:solidFill>
                <a:latin typeface="Arial"/>
                <a:ea typeface="Arial"/>
                <a:cs typeface="Arial"/>
              </a:defRPr>
            </a:lvl5pPr>
            <a:lvl6pPr>
              <a:defRPr sz="3750" b="1">
                <a:solidFill>
                  <a:srgbClr val="D5AF83"/>
                </a:solidFill>
                <a:latin typeface="Arial"/>
                <a:ea typeface="Arial"/>
                <a:cs typeface="Arial"/>
              </a:defRPr>
            </a:lvl6pPr>
            <a:lvl7pPr>
              <a:defRPr sz="3750" b="1">
                <a:solidFill>
                  <a:srgbClr val="D5AF83"/>
                </a:solidFill>
                <a:latin typeface="Arial"/>
                <a:ea typeface="Arial"/>
                <a:cs typeface="Arial"/>
              </a:defRPr>
            </a:lvl7pPr>
            <a:lvl8pPr>
              <a:defRPr sz="3750" b="1">
                <a:solidFill>
                  <a:srgbClr val="D5AF83"/>
                </a:solidFill>
                <a:latin typeface="Arial"/>
                <a:ea typeface="Arial"/>
                <a:cs typeface="Arial"/>
              </a:defRPr>
            </a:lvl8pPr>
            <a:lvl9pPr>
              <a:defRPr sz="3750" b="1">
                <a:solidFill>
                  <a:srgbClr val="D5AF83"/>
                </a:solidFill>
                <a:latin typeface="Arial"/>
                <a:ea typeface="Arial"/>
                <a:cs typeface="Arial"/>
              </a:defRPr>
            </a:lvl9pPr>
          </a:lstStyle>
          <a:p>
            <a:pPr>
              <a:defRPr sz="3750" b="1">
                <a:solidFill>
                  <a:srgbClr val="D5AF83"/>
                </a:solidFill>
                <a:latin typeface="Arial"/>
                <a:ea typeface="Arial"/>
                <a:cs typeface="Arial"/>
              </a:defRPr>
            </a:pPr>
            <a:r>
              <a:rPr sz="3750" b="1">
                <a:solidFill>
                  <a:srgbClr val="D5AF83"/>
                </a:solidFill>
                <a:latin typeface="Arial"/>
                <a:ea typeface="Arial"/>
                <a:cs typeface="Arial"/>
              </a:rPr>
              <a:t>03</a:t>
            </a:r>
          </a:p>
        </p:txBody>
      </p:sp>
      <p:sp>
        <p:nvSpPr>
          <p:cNvPr id="15" name="reveal-9-12">
            <a:extLst>
              <a:ext uri="{FF2B5EF4-FFF2-40B4-BE49-F238E27FC236}">
                <a16:creationId xmlns:a16="http://schemas.microsoft.com/office/drawing/2014/main" id="{6E3B416C-0A4F-49A6-A8EC-003669DEFA04}"/>
              </a:ext>
            </a:extLst>
          </p:cNvPr>
          <p:cNvSpPr>
            <a:spLocks noGrp="1"/>
          </p:cNvSpPr>
          <p:nvPr/>
        </p:nvSpPr>
        <p:spPr>
          <a:xfrm>
            <a:off x="5876925" y="3952875"/>
            <a:ext cx="5657850" cy="781050"/>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Compare models using the held-out synthetic test set.</a:t>
            </a:r>
          </a:p>
        </p:txBody>
      </p:sp>
      <p:sp>
        <p:nvSpPr>
          <p:cNvPr id="16" name="background-13">
            <a:extLst>
              <a:ext uri="{FF2B5EF4-FFF2-40B4-BE49-F238E27FC236}">
                <a16:creationId xmlns:a16="http://schemas.microsoft.com/office/drawing/2014/main" id="{2C8FD901-6EEF-4168-99B3-F3FF027FBC23}"/>
              </a:ext>
            </a:extLst>
          </p:cNvPr>
          <p:cNvSpPr>
            <a:spLocks noGrp="1"/>
          </p:cNvSpPr>
          <p:nvPr/>
        </p:nvSpPr>
        <p:spPr>
          <a:xfrm>
            <a:off x="4886325" y="4829175"/>
            <a:ext cx="6648450" cy="9525"/>
          </a:xfrm>
          <a:prstGeom prst="rect">
            <a:avLst/>
          </a:prstGeom>
          <a:solidFill>
            <a:srgbClr val="435046"/>
          </a:solidFill>
          <a:ln w="0">
            <a:noFill/>
          </a:ln>
        </p:spPr>
      </p:sp>
      <p:sp>
        <p:nvSpPr>
          <p:cNvPr id="17" name="reveal-10-14">
            <a:extLst>
              <a:ext uri="{FF2B5EF4-FFF2-40B4-BE49-F238E27FC236}">
                <a16:creationId xmlns:a16="http://schemas.microsoft.com/office/drawing/2014/main" id="{0225F501-D98F-47B8-BE3F-345B7E03973C}"/>
              </a:ext>
            </a:extLst>
          </p:cNvPr>
          <p:cNvSpPr>
            <a:spLocks noGrp="1"/>
          </p:cNvSpPr>
          <p:nvPr/>
        </p:nvSpPr>
        <p:spPr>
          <a:xfrm>
            <a:off x="4886325" y="4943475"/>
            <a:ext cx="762000" cy="619125"/>
          </a:xfrm>
          <a:prstGeom prst="rect">
            <a:avLst/>
          </a:prstGeom>
          <a:noFill/>
          <a:ln w="0">
            <a:noFill/>
          </a:ln>
        </p:spPr>
        <p:txBody>
          <a:bodyPr wrap="square" lIns="0" tIns="0" rIns="0" bIns="0" anchor="t">
            <a:noAutofit/>
          </a:bodyPr>
          <a:lstStyle>
            <a:defPPr>
              <a:defRPr sz="3750" b="1">
                <a:solidFill>
                  <a:srgbClr val="D5AF83"/>
                </a:solidFill>
                <a:latin typeface="Arial"/>
                <a:ea typeface="Arial"/>
                <a:cs typeface="Arial"/>
              </a:defRPr>
            </a:defPPr>
            <a:lvl1pPr>
              <a:defRPr sz="3750" b="1">
                <a:solidFill>
                  <a:srgbClr val="D5AF83"/>
                </a:solidFill>
                <a:latin typeface="Arial"/>
                <a:ea typeface="Arial"/>
                <a:cs typeface="Arial"/>
              </a:defRPr>
            </a:lvl1pPr>
            <a:lvl2pPr>
              <a:defRPr sz="3750" b="1">
                <a:solidFill>
                  <a:srgbClr val="D5AF83"/>
                </a:solidFill>
                <a:latin typeface="Arial"/>
                <a:ea typeface="Arial"/>
                <a:cs typeface="Arial"/>
              </a:defRPr>
            </a:lvl2pPr>
            <a:lvl3pPr>
              <a:defRPr sz="3750" b="1">
                <a:solidFill>
                  <a:srgbClr val="D5AF83"/>
                </a:solidFill>
                <a:latin typeface="Arial"/>
                <a:ea typeface="Arial"/>
                <a:cs typeface="Arial"/>
              </a:defRPr>
            </a:lvl3pPr>
            <a:lvl4pPr>
              <a:defRPr sz="3750" b="1">
                <a:solidFill>
                  <a:srgbClr val="D5AF83"/>
                </a:solidFill>
                <a:latin typeface="Arial"/>
                <a:ea typeface="Arial"/>
                <a:cs typeface="Arial"/>
              </a:defRPr>
            </a:lvl4pPr>
            <a:lvl5pPr>
              <a:defRPr sz="3750" b="1">
                <a:solidFill>
                  <a:srgbClr val="D5AF83"/>
                </a:solidFill>
                <a:latin typeface="Arial"/>
                <a:ea typeface="Arial"/>
                <a:cs typeface="Arial"/>
              </a:defRPr>
            </a:lvl5pPr>
            <a:lvl6pPr>
              <a:defRPr sz="3750" b="1">
                <a:solidFill>
                  <a:srgbClr val="D5AF83"/>
                </a:solidFill>
                <a:latin typeface="Arial"/>
                <a:ea typeface="Arial"/>
                <a:cs typeface="Arial"/>
              </a:defRPr>
            </a:lvl6pPr>
            <a:lvl7pPr>
              <a:defRPr sz="3750" b="1">
                <a:solidFill>
                  <a:srgbClr val="D5AF83"/>
                </a:solidFill>
                <a:latin typeface="Arial"/>
                <a:ea typeface="Arial"/>
                <a:cs typeface="Arial"/>
              </a:defRPr>
            </a:lvl7pPr>
            <a:lvl8pPr>
              <a:defRPr sz="3750" b="1">
                <a:solidFill>
                  <a:srgbClr val="D5AF83"/>
                </a:solidFill>
                <a:latin typeface="Arial"/>
                <a:ea typeface="Arial"/>
                <a:cs typeface="Arial"/>
              </a:defRPr>
            </a:lvl8pPr>
            <a:lvl9pPr>
              <a:defRPr sz="3750" b="1">
                <a:solidFill>
                  <a:srgbClr val="D5AF83"/>
                </a:solidFill>
                <a:latin typeface="Arial"/>
                <a:ea typeface="Arial"/>
                <a:cs typeface="Arial"/>
              </a:defRPr>
            </a:lvl9pPr>
          </a:lstStyle>
          <a:p>
            <a:pPr>
              <a:defRPr sz="3750" b="1">
                <a:solidFill>
                  <a:srgbClr val="D5AF83"/>
                </a:solidFill>
                <a:latin typeface="Arial"/>
                <a:ea typeface="Arial"/>
                <a:cs typeface="Arial"/>
              </a:defRPr>
            </a:pPr>
            <a:r>
              <a:rPr sz="3750" b="1">
                <a:solidFill>
                  <a:srgbClr val="D5AF83"/>
                </a:solidFill>
                <a:latin typeface="Arial"/>
                <a:ea typeface="Arial"/>
                <a:cs typeface="Arial"/>
              </a:rPr>
              <a:t>04</a:t>
            </a:r>
          </a:p>
        </p:txBody>
      </p:sp>
      <p:sp>
        <p:nvSpPr>
          <p:cNvPr id="18" name="reveal-11-15">
            <a:extLst>
              <a:ext uri="{FF2B5EF4-FFF2-40B4-BE49-F238E27FC236}">
                <a16:creationId xmlns:a16="http://schemas.microsoft.com/office/drawing/2014/main" id="{E8621DA3-18A5-45AC-8D6C-6276702B06E6}"/>
              </a:ext>
            </a:extLst>
          </p:cNvPr>
          <p:cNvSpPr>
            <a:spLocks noGrp="1"/>
          </p:cNvSpPr>
          <p:nvPr/>
        </p:nvSpPr>
        <p:spPr>
          <a:xfrm>
            <a:off x="5876925" y="4972050"/>
            <a:ext cx="5657850" cy="781050"/>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Explain the website, camera controls and complete flight journey.</a:t>
            </a:r>
          </a:p>
        </p:txBody>
      </p:sp>
      <p:sp>
        <p:nvSpPr>
          <p:cNvPr id="19" name="background-16">
            <a:extLst>
              <a:ext uri="{FF2B5EF4-FFF2-40B4-BE49-F238E27FC236}">
                <a16:creationId xmlns:a16="http://schemas.microsoft.com/office/drawing/2014/main" id="{67E77336-9F23-4458-9443-70D3A2A4AE15}"/>
              </a:ext>
            </a:extLst>
          </p:cNvPr>
          <p:cNvSpPr>
            <a:spLocks noGrp="1"/>
          </p:cNvSpPr>
          <p:nvPr/>
        </p:nvSpPr>
        <p:spPr>
          <a:xfrm>
            <a:off x="4886325" y="5848350"/>
            <a:ext cx="6648450" cy="9525"/>
          </a:xfrm>
          <a:prstGeom prst="rect">
            <a:avLst/>
          </a:prstGeom>
          <a:solidFill>
            <a:srgbClr val="435046"/>
          </a:solidFill>
          <a:ln w="0">
            <a:noFill/>
          </a:ln>
        </p:spPr>
      </p:sp>
    </p:spTree>
    <p:extLst>
      <p:ext uri="{BB962C8B-B14F-4D97-AF65-F5344CB8AC3E}">
        <p14:creationId xmlns:p14="http://schemas.microsoft.com/office/powerpoint/2010/main" val="18364960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600" fill="hold"/>
                                        <p:tgtEl>
                                          <p:spTgt spid="7"/>
                                        </p:tgtEl>
                                        <p:attrNameLst>
                                          <p:attrName>ppt_w</p:attrName>
                                        </p:attrNameLst>
                                      </p:cBhvr>
                                      <p:tavLst>
                                        <p:tav tm="0">
                                          <p:val>
                                            <p:fltVal val="0"/>
                                          </p:val>
                                        </p:tav>
                                        <p:tav tm="100000">
                                          <p:val>
                                            <p:strVal val="#ppt_w"/>
                                          </p:val>
                                        </p:tav>
                                      </p:tavLst>
                                    </p:anim>
                                    <p:anim calcmode="lin" valueType="num">
                                      <p:cBhvr>
                                        <p:cTn id="11" dur="600" fill="hold"/>
                                        <p:tgtEl>
                                          <p:spTgt spid="7"/>
                                        </p:tgtEl>
                                        <p:attrNameLst>
                                          <p:attrName>ppt_h</p:attrName>
                                        </p:attrNameLst>
                                      </p:cBhvr>
                                      <p:tavLst>
                                        <p:tav tm="0">
                                          <p:val>
                                            <p:fltVal val="0"/>
                                          </p:val>
                                        </p:tav>
                                        <p:tav tm="100000">
                                          <p:val>
                                            <p:strVal val="#ppt_h"/>
                                          </p:val>
                                        </p:tav>
                                      </p:tavLst>
                                    </p:anim>
                                    <p:animEffect transition="in" filter="fade">
                                      <p:cBhvr>
                                        <p:cTn id="12" dur="600"/>
                                        <p:tgtEl>
                                          <p:spTgt spid="7"/>
                                        </p:tgtEl>
                                      </p:cBhvr>
                                    </p:animEffect>
                                  </p:childTnLst>
                                </p:cTn>
                              </p:par>
                            </p:childTnLst>
                          </p:cTn>
                        </p:par>
                        <p:par>
                          <p:cTn id="13"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30"/>
                                        <p:tgtEl>
                                          <p:spTgt spid="8"/>
                                        </p:tgtEl>
                                      </p:cBhvr>
                                    </p:animEffect>
                                  </p:childTnLst>
                                </p:cTn>
                              </p:par>
                            </p:childTnLst>
                          </p:cTn>
                        </p:par>
                        <p:par>
                          <p:cTn id="17" fill="hold">
                            <p:stCondLst>
                              <p:cond delay="73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30"/>
                                        <p:tgtEl>
                                          <p:spTgt spid="9"/>
                                        </p:tgtEl>
                                      </p:cBhvr>
                                    </p:animEffect>
                                  </p:childTnLst>
                                </p:cTn>
                              </p:par>
                            </p:childTnLst>
                          </p:cTn>
                        </p:par>
                        <p:par>
                          <p:cTn id="21" fill="hold">
                            <p:stCondLst>
                              <p:cond delay="86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30"/>
                                        <p:tgtEl>
                                          <p:spTgt spid="11"/>
                                        </p:tgtEl>
                                      </p:cBhvr>
                                    </p:animEffect>
                                  </p:childTnLst>
                                </p:cTn>
                              </p:par>
                            </p:childTnLst>
                          </p:cTn>
                        </p:par>
                        <p:par>
                          <p:cTn id="25" fill="hold">
                            <p:stCondLst>
                              <p:cond delay="99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30"/>
                                        <p:tgtEl>
                                          <p:spTgt spid="12"/>
                                        </p:tgtEl>
                                      </p:cBhvr>
                                    </p:animEffect>
                                  </p:childTnLst>
                                </p:cTn>
                              </p:par>
                            </p:childTnLst>
                          </p:cTn>
                        </p:par>
                        <p:par>
                          <p:cTn id="29" fill="hold">
                            <p:stCondLst>
                              <p:cond delay="1120"/>
                            </p:stCondLst>
                            <p:childTnLst>
                              <p:par>
                                <p:cTn id="30" presetID="10" presetClass="entr" presetSubtype="0"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30"/>
                                        <p:tgtEl>
                                          <p:spTgt spid="14"/>
                                        </p:tgtEl>
                                      </p:cBhvr>
                                    </p:animEffect>
                                  </p:childTnLst>
                                </p:cTn>
                              </p:par>
                            </p:childTnLst>
                          </p:cTn>
                        </p:par>
                        <p:par>
                          <p:cTn id="33" fill="hold">
                            <p:stCondLst>
                              <p:cond delay="1250"/>
                            </p:stCondLst>
                            <p:childTnLst>
                              <p:par>
                                <p:cTn id="34" presetID="10" presetClass="entr" presetSubtype="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30"/>
                                        <p:tgtEl>
                                          <p:spTgt spid="15"/>
                                        </p:tgtEl>
                                      </p:cBhvr>
                                    </p:animEffect>
                                  </p:childTnLst>
                                </p:cTn>
                              </p:par>
                            </p:childTnLst>
                          </p:cTn>
                        </p:par>
                        <p:par>
                          <p:cTn id="37" fill="hold">
                            <p:stCondLst>
                              <p:cond delay="138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130"/>
                                        <p:tgtEl>
                                          <p:spTgt spid="17"/>
                                        </p:tgtEl>
                                      </p:cBhvr>
                                    </p:animEffect>
                                  </p:childTnLst>
                                </p:cTn>
                              </p:par>
                            </p:childTnLst>
                          </p:cTn>
                        </p:par>
                        <p:par>
                          <p:cTn id="41" fill="hold">
                            <p:stCondLst>
                              <p:cond delay="151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13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P spid="12" grpId="0"/>
      <p:bldP spid="14" grpId="0"/>
      <p:bldP spid="15" grpId="0"/>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E61ED084-2031-44BE-BE6A-96B2FDAB7D26}"/>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C5E31A66-6996-4251-A5E9-6FEE945F309A}"/>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7BD0ECDF-FC42-44B1-8674-AC430146DC2E}"/>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04 / 12</a:t>
            </a:r>
          </a:p>
        </p:txBody>
      </p:sp>
      <p:sp>
        <p:nvSpPr>
          <p:cNvPr id="5" name="title-1-3">
            <a:extLst>
              <a:ext uri="{FF2B5EF4-FFF2-40B4-BE49-F238E27FC236}">
                <a16:creationId xmlns:a16="http://schemas.microsoft.com/office/drawing/2014/main" id="{A6C7B2E8-2E3D-456E-BDAD-5CF24DC8B1C1}"/>
              </a:ext>
            </a:extLst>
          </p:cNvPr>
          <p:cNvSpPr>
            <a:spLocks noGrp="1"/>
          </p:cNvSpPr>
          <p:nvPr/>
        </p:nvSpPr>
        <p:spPr>
          <a:xfrm>
            <a:off x="552450" y="752475"/>
            <a:ext cx="1057275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lang="en-US" sz="3300" b="1">
                <a:solidFill>
                  <a:srgbClr val="202925"/>
                </a:solidFill>
                <a:latin typeface="Arial"/>
                <a:ea typeface="Arial"/>
                <a:cs typeface="Arial"/>
              </a:rPr>
              <a:t>Proposed system: overview</a:t>
            </a:r>
            <a:endParaRPr sz="3300" b="1">
              <a:solidFill>
                <a:srgbClr val="202925"/>
              </a:solidFill>
              <a:latin typeface="Arial"/>
              <a:ea typeface="Arial"/>
              <a:cs typeface="Arial"/>
            </a:endParaRPr>
          </a:p>
        </p:txBody>
      </p:sp>
      <p:sp>
        <p:nvSpPr>
          <p:cNvPr id="6" name="background-4">
            <a:extLst>
              <a:ext uri="{FF2B5EF4-FFF2-40B4-BE49-F238E27FC236}">
                <a16:creationId xmlns:a16="http://schemas.microsoft.com/office/drawing/2014/main" id="{B2792F99-3EA6-44EF-8ED7-BFCD1CACDDC0}"/>
              </a:ext>
            </a:extLst>
          </p:cNvPr>
          <p:cNvSpPr>
            <a:spLocks noGrp="1"/>
          </p:cNvSpPr>
          <p:nvPr/>
        </p:nvSpPr>
        <p:spPr>
          <a:xfrm>
            <a:off x="552450" y="6257925"/>
            <a:ext cx="9906000" cy="9525"/>
          </a:xfrm>
          <a:prstGeom prst="rect">
            <a:avLst/>
          </a:prstGeom>
          <a:solidFill>
            <a:srgbClr val="D4D9CE"/>
          </a:solidFill>
          <a:ln w="0">
            <a:noFill/>
          </a:ln>
        </p:spPr>
      </p:sp>
      <p:sp>
        <p:nvSpPr>
          <p:cNvPr id="7" name="reveal-4-5">
            <a:extLst>
              <a:ext uri="{FF2B5EF4-FFF2-40B4-BE49-F238E27FC236}">
                <a16:creationId xmlns:a16="http://schemas.microsoft.com/office/drawing/2014/main" id="{A60E69E0-ADC8-4248-A050-9551CB0EB1BB}"/>
              </a:ext>
            </a:extLst>
          </p:cNvPr>
          <p:cNvSpPr>
            <a:spLocks noGrp="1"/>
          </p:cNvSpPr>
          <p:nvPr/>
        </p:nvSpPr>
        <p:spPr>
          <a:xfrm>
            <a:off x="552450" y="2028825"/>
            <a:ext cx="5238750" cy="552450"/>
          </a:xfrm>
          <a:prstGeom prst="rect">
            <a:avLst/>
          </a:prstGeom>
          <a:noFill/>
          <a:ln w="0">
            <a:noFill/>
          </a:ln>
        </p:spPr>
        <p:txBody>
          <a:bodyPr wrap="square" lIns="0" tIns="0" rIns="0" bIns="0" anchor="t">
            <a:noAutofit/>
          </a:bodyPr>
          <a:lstStyle>
            <a:defPPr>
              <a:defRPr sz="3225" b="1">
                <a:solidFill>
                  <a:srgbClr val="202925"/>
                </a:solidFill>
                <a:latin typeface="Arial"/>
                <a:ea typeface="Arial"/>
                <a:cs typeface="Arial"/>
              </a:defRPr>
            </a:defPPr>
            <a:lvl1pPr>
              <a:defRPr sz="3225" b="1">
                <a:solidFill>
                  <a:srgbClr val="202925"/>
                </a:solidFill>
                <a:latin typeface="Arial"/>
                <a:ea typeface="Arial"/>
                <a:cs typeface="Arial"/>
              </a:defRPr>
            </a:lvl1pPr>
            <a:lvl2pPr>
              <a:defRPr sz="3225" b="1">
                <a:solidFill>
                  <a:srgbClr val="202925"/>
                </a:solidFill>
                <a:latin typeface="Arial"/>
                <a:ea typeface="Arial"/>
                <a:cs typeface="Arial"/>
              </a:defRPr>
            </a:lvl2pPr>
            <a:lvl3pPr>
              <a:defRPr sz="3225" b="1">
                <a:solidFill>
                  <a:srgbClr val="202925"/>
                </a:solidFill>
                <a:latin typeface="Arial"/>
                <a:ea typeface="Arial"/>
                <a:cs typeface="Arial"/>
              </a:defRPr>
            </a:lvl3pPr>
            <a:lvl4pPr>
              <a:defRPr sz="3225" b="1">
                <a:solidFill>
                  <a:srgbClr val="202925"/>
                </a:solidFill>
                <a:latin typeface="Arial"/>
                <a:ea typeface="Arial"/>
                <a:cs typeface="Arial"/>
              </a:defRPr>
            </a:lvl4pPr>
            <a:lvl5pPr>
              <a:defRPr sz="3225" b="1">
                <a:solidFill>
                  <a:srgbClr val="202925"/>
                </a:solidFill>
                <a:latin typeface="Arial"/>
                <a:ea typeface="Arial"/>
                <a:cs typeface="Arial"/>
              </a:defRPr>
            </a:lvl5pPr>
            <a:lvl6pPr>
              <a:defRPr sz="3225" b="1">
                <a:solidFill>
                  <a:srgbClr val="202925"/>
                </a:solidFill>
                <a:latin typeface="Arial"/>
                <a:ea typeface="Arial"/>
                <a:cs typeface="Arial"/>
              </a:defRPr>
            </a:lvl6pPr>
            <a:lvl7pPr>
              <a:defRPr sz="3225" b="1">
                <a:solidFill>
                  <a:srgbClr val="202925"/>
                </a:solidFill>
                <a:latin typeface="Arial"/>
                <a:ea typeface="Arial"/>
                <a:cs typeface="Arial"/>
              </a:defRPr>
            </a:lvl7pPr>
            <a:lvl8pPr>
              <a:defRPr sz="3225" b="1">
                <a:solidFill>
                  <a:srgbClr val="202925"/>
                </a:solidFill>
                <a:latin typeface="Arial"/>
                <a:ea typeface="Arial"/>
                <a:cs typeface="Arial"/>
              </a:defRPr>
            </a:lvl8pPr>
            <a:lvl9pPr>
              <a:defRPr sz="3225" b="1">
                <a:solidFill>
                  <a:srgbClr val="202925"/>
                </a:solidFill>
                <a:latin typeface="Arial"/>
                <a:ea typeface="Arial"/>
                <a:cs typeface="Arial"/>
              </a:defRPr>
            </a:lvl9pPr>
          </a:lstStyle>
          <a:p>
            <a:pPr>
              <a:defRPr sz="3225" b="1">
                <a:solidFill>
                  <a:srgbClr val="202925"/>
                </a:solidFill>
                <a:latin typeface="Arial"/>
                <a:ea typeface="Arial"/>
                <a:cs typeface="Arial"/>
              </a:defRPr>
            </a:pPr>
            <a:r>
              <a:rPr lang="en-US" sz="3225" b="1">
                <a:solidFill>
                  <a:srgbClr val="202925"/>
                </a:solidFill>
                <a:latin typeface="Arial"/>
                <a:ea typeface="Arial"/>
                <a:cs typeface="Arial"/>
              </a:rPr>
              <a:t>Random Forest study</a:t>
            </a:r>
            <a:endParaRPr sz="3225" b="1">
              <a:solidFill>
                <a:srgbClr val="202925"/>
              </a:solidFill>
              <a:latin typeface="Arial"/>
              <a:ea typeface="Arial"/>
              <a:cs typeface="Arial"/>
            </a:endParaRPr>
          </a:p>
        </p:txBody>
      </p:sp>
      <p:sp>
        <p:nvSpPr>
          <p:cNvPr id="8" name="reveal-5-6">
            <a:extLst>
              <a:ext uri="{FF2B5EF4-FFF2-40B4-BE49-F238E27FC236}">
                <a16:creationId xmlns:a16="http://schemas.microsoft.com/office/drawing/2014/main" id="{FCB7733A-D163-49F6-AA14-88E173FF52AF}"/>
              </a:ext>
            </a:extLst>
          </p:cNvPr>
          <p:cNvSpPr>
            <a:spLocks noGrp="1"/>
          </p:cNvSpPr>
          <p:nvPr/>
        </p:nvSpPr>
        <p:spPr>
          <a:xfrm>
            <a:off x="552450" y="2809875"/>
            <a:ext cx="5095875" cy="1476375"/>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lang="en-US" sz="2400" b="0">
                <a:solidFill>
                  <a:srgbClr val="202925"/>
                </a:solidFill>
                <a:latin typeface="Arial"/>
                <a:ea typeface="Arial"/>
                <a:cs typeface="Arial"/>
              </a:rPr>
              <a:t>An offline Random Forest study uses the existing dataset.</a:t>
            </a:r>
            <a:endParaRPr sz="2400" b="0">
              <a:solidFill>
                <a:srgbClr val="202925"/>
              </a:solidFill>
              <a:latin typeface="Arial"/>
              <a:ea typeface="Arial"/>
              <a:cs typeface="Arial"/>
            </a:endParaRPr>
          </a:p>
        </p:txBody>
      </p:sp>
      <p:sp>
        <p:nvSpPr>
          <p:cNvPr id="10" name="reveal-7-8">
            <a:extLst>
              <a:ext uri="{FF2B5EF4-FFF2-40B4-BE49-F238E27FC236}">
                <a16:creationId xmlns:a16="http://schemas.microsoft.com/office/drawing/2014/main" id="{29C2DA3D-1188-4D89-81F1-2D286A6E1BC7}"/>
              </a:ext>
            </a:extLst>
          </p:cNvPr>
          <p:cNvSpPr>
            <a:spLocks noGrp="1"/>
          </p:cNvSpPr>
          <p:nvPr/>
        </p:nvSpPr>
        <p:spPr>
          <a:xfrm>
            <a:off x="6353175" y="2028825"/>
            <a:ext cx="5238750" cy="552450"/>
          </a:xfrm>
          <a:prstGeom prst="rect">
            <a:avLst/>
          </a:prstGeom>
          <a:noFill/>
          <a:ln w="0">
            <a:noFill/>
          </a:ln>
        </p:spPr>
        <p:txBody>
          <a:bodyPr wrap="square" lIns="0" tIns="0" rIns="0" bIns="0" anchor="t">
            <a:noAutofit/>
          </a:bodyPr>
          <a:lstStyle>
            <a:defPPr>
              <a:defRPr sz="3225" b="1">
                <a:solidFill>
                  <a:srgbClr val="202925"/>
                </a:solidFill>
                <a:latin typeface="Arial"/>
                <a:ea typeface="Arial"/>
                <a:cs typeface="Arial"/>
              </a:defRPr>
            </a:defPPr>
            <a:lvl1pPr>
              <a:defRPr sz="3225" b="1">
                <a:solidFill>
                  <a:srgbClr val="202925"/>
                </a:solidFill>
                <a:latin typeface="Arial"/>
                <a:ea typeface="Arial"/>
                <a:cs typeface="Arial"/>
              </a:defRPr>
            </a:lvl1pPr>
            <a:lvl2pPr>
              <a:defRPr sz="3225" b="1">
                <a:solidFill>
                  <a:srgbClr val="202925"/>
                </a:solidFill>
                <a:latin typeface="Arial"/>
                <a:ea typeface="Arial"/>
                <a:cs typeface="Arial"/>
              </a:defRPr>
            </a:lvl2pPr>
            <a:lvl3pPr>
              <a:defRPr sz="3225" b="1">
                <a:solidFill>
                  <a:srgbClr val="202925"/>
                </a:solidFill>
                <a:latin typeface="Arial"/>
                <a:ea typeface="Arial"/>
                <a:cs typeface="Arial"/>
              </a:defRPr>
            </a:lvl3pPr>
            <a:lvl4pPr>
              <a:defRPr sz="3225" b="1">
                <a:solidFill>
                  <a:srgbClr val="202925"/>
                </a:solidFill>
                <a:latin typeface="Arial"/>
                <a:ea typeface="Arial"/>
                <a:cs typeface="Arial"/>
              </a:defRPr>
            </a:lvl4pPr>
            <a:lvl5pPr>
              <a:defRPr sz="3225" b="1">
                <a:solidFill>
                  <a:srgbClr val="202925"/>
                </a:solidFill>
                <a:latin typeface="Arial"/>
                <a:ea typeface="Arial"/>
                <a:cs typeface="Arial"/>
              </a:defRPr>
            </a:lvl5pPr>
            <a:lvl6pPr>
              <a:defRPr sz="3225" b="1">
                <a:solidFill>
                  <a:srgbClr val="202925"/>
                </a:solidFill>
                <a:latin typeface="Arial"/>
                <a:ea typeface="Arial"/>
                <a:cs typeface="Arial"/>
              </a:defRPr>
            </a:lvl6pPr>
            <a:lvl7pPr>
              <a:defRPr sz="3225" b="1">
                <a:solidFill>
                  <a:srgbClr val="202925"/>
                </a:solidFill>
                <a:latin typeface="Arial"/>
                <a:ea typeface="Arial"/>
                <a:cs typeface="Arial"/>
              </a:defRPr>
            </a:lvl7pPr>
            <a:lvl8pPr>
              <a:defRPr sz="3225" b="1">
                <a:solidFill>
                  <a:srgbClr val="202925"/>
                </a:solidFill>
                <a:latin typeface="Arial"/>
                <a:ea typeface="Arial"/>
                <a:cs typeface="Arial"/>
              </a:defRPr>
            </a:lvl8pPr>
            <a:lvl9pPr>
              <a:defRPr sz="3225" b="1">
                <a:solidFill>
                  <a:srgbClr val="202925"/>
                </a:solidFill>
                <a:latin typeface="Arial"/>
                <a:ea typeface="Arial"/>
                <a:cs typeface="Arial"/>
              </a:defRPr>
            </a:lvl9pPr>
          </a:lstStyle>
          <a:p>
            <a:pPr>
              <a:defRPr sz="3225" b="1">
                <a:solidFill>
                  <a:srgbClr val="202925"/>
                </a:solidFill>
                <a:latin typeface="Arial"/>
                <a:ea typeface="Arial"/>
                <a:cs typeface="Arial"/>
              </a:defRPr>
            </a:pPr>
            <a:r>
              <a:rPr lang="en-US" sz="3225" b="1">
                <a:solidFill>
                  <a:srgbClr val="202925"/>
                </a:solidFill>
                <a:latin typeface="Arial"/>
                <a:ea typeface="Arial"/>
                <a:cs typeface="Arial"/>
              </a:rPr>
              <a:t>3D flight website</a:t>
            </a:r>
            <a:endParaRPr sz="3225" b="1">
              <a:solidFill>
                <a:srgbClr val="202925"/>
              </a:solidFill>
              <a:latin typeface="Arial"/>
              <a:ea typeface="Arial"/>
              <a:cs typeface="Arial"/>
            </a:endParaRPr>
          </a:p>
        </p:txBody>
      </p:sp>
      <p:sp>
        <p:nvSpPr>
          <p:cNvPr id="11" name="reveal-8-9">
            <a:extLst>
              <a:ext uri="{FF2B5EF4-FFF2-40B4-BE49-F238E27FC236}">
                <a16:creationId xmlns:a16="http://schemas.microsoft.com/office/drawing/2014/main" id="{4D0507AC-5B85-4FCF-AB6C-B9E4314F58AB}"/>
              </a:ext>
            </a:extLst>
          </p:cNvPr>
          <p:cNvSpPr>
            <a:spLocks noGrp="1"/>
          </p:cNvSpPr>
          <p:nvPr/>
        </p:nvSpPr>
        <p:spPr>
          <a:xfrm>
            <a:off x="6353175" y="2809875"/>
            <a:ext cx="5238750" cy="1476375"/>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lang="en-US" sz="2400" b="0">
                <a:solidFill>
                  <a:srgbClr val="202925"/>
                </a:solidFill>
                <a:latin typeface="Arial"/>
                <a:ea typeface="Arial"/>
                <a:cs typeface="Arial"/>
              </a:rPr>
              <a:t>The 3D website explains scenario conditions and flight journeys.</a:t>
            </a:r>
            <a:endParaRPr sz="2400" b="0">
              <a:solidFill>
                <a:srgbClr val="202925"/>
              </a:solidFill>
              <a:latin typeface="Arial"/>
              <a:ea typeface="Arial"/>
              <a:cs typeface="Arial"/>
            </a:endParaRPr>
          </a:p>
        </p:txBody>
      </p:sp>
      <p:sp>
        <p:nvSpPr>
          <p:cNvPr id="13" name="background-11">
            <a:extLst>
              <a:ext uri="{FF2B5EF4-FFF2-40B4-BE49-F238E27FC236}">
                <a16:creationId xmlns:a16="http://schemas.microsoft.com/office/drawing/2014/main" id="{06816084-B444-4DEA-9F82-65FD41CFD008}"/>
              </a:ext>
            </a:extLst>
          </p:cNvPr>
          <p:cNvSpPr>
            <a:spLocks noGrp="1"/>
          </p:cNvSpPr>
          <p:nvPr/>
        </p:nvSpPr>
        <p:spPr>
          <a:xfrm>
            <a:off x="0" y="4762500"/>
            <a:ext cx="12192000" cy="1495425"/>
          </a:xfrm>
          <a:prstGeom prst="rect">
            <a:avLst/>
          </a:prstGeom>
          <a:solidFill>
            <a:srgbClr val="171E1C"/>
          </a:solidFill>
          <a:ln w="0">
            <a:noFill/>
          </a:ln>
        </p:spPr>
      </p:sp>
      <p:sp>
        <p:nvSpPr>
          <p:cNvPr id="14" name="body-10-12">
            <a:extLst>
              <a:ext uri="{FF2B5EF4-FFF2-40B4-BE49-F238E27FC236}">
                <a16:creationId xmlns:a16="http://schemas.microsoft.com/office/drawing/2014/main" id="{DCB3C568-3A5E-4A01-BBCF-74C78A641FC4}"/>
              </a:ext>
            </a:extLst>
          </p:cNvPr>
          <p:cNvSpPr>
            <a:spLocks noGrp="1"/>
          </p:cNvSpPr>
          <p:nvPr/>
        </p:nvSpPr>
        <p:spPr>
          <a:xfrm>
            <a:off x="552450" y="4981575"/>
            <a:ext cx="3238500" cy="409575"/>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Our project focus</a:t>
            </a:r>
          </a:p>
        </p:txBody>
      </p:sp>
      <p:sp>
        <p:nvSpPr>
          <p:cNvPr id="15" name="body-11-13">
            <a:extLst>
              <a:ext uri="{FF2B5EF4-FFF2-40B4-BE49-F238E27FC236}">
                <a16:creationId xmlns:a16="http://schemas.microsoft.com/office/drawing/2014/main" id="{E4C80DFC-8505-4EC2-9574-7BA54AA74C5A}"/>
              </a:ext>
            </a:extLst>
          </p:cNvPr>
          <p:cNvSpPr>
            <a:spLocks noGrp="1"/>
          </p:cNvSpPr>
          <p:nvPr/>
        </p:nvSpPr>
        <p:spPr>
          <a:xfrm>
            <a:off x="4133850" y="4972050"/>
            <a:ext cx="7400925" cy="962025"/>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A transparent college experiment using the existing dataset, with a local 3D teaching website.</a:t>
            </a:r>
          </a:p>
        </p:txBody>
      </p:sp>
    </p:spTree>
    <p:extLst>
      <p:ext uri="{BB962C8B-B14F-4D97-AF65-F5344CB8AC3E}">
        <p14:creationId xmlns:p14="http://schemas.microsoft.com/office/powerpoint/2010/main" val="170926822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30"/>
                                        <p:tgtEl>
                                          <p:spTgt spid="14"/>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3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52037814-E512-4DB7-9269-BAF2FC532DA9}"/>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FD05058F-DCC6-47A6-99EA-4F145BECAEE8}"/>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PROJECT PRESENTATION</a:t>
            </a:r>
          </a:p>
        </p:txBody>
      </p:sp>
      <p:sp>
        <p:nvSpPr>
          <p:cNvPr id="4" name="footer-3-2">
            <a:extLst>
              <a:ext uri="{FF2B5EF4-FFF2-40B4-BE49-F238E27FC236}">
                <a16:creationId xmlns:a16="http://schemas.microsoft.com/office/drawing/2014/main" id="{1C1CA4A3-DF3D-4771-8051-4C7C6192B33F}"/>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05 / 12</a:t>
            </a:r>
          </a:p>
        </p:txBody>
      </p:sp>
      <p:sp>
        <p:nvSpPr>
          <p:cNvPr id="5" name="title-1-3">
            <a:extLst>
              <a:ext uri="{FF2B5EF4-FFF2-40B4-BE49-F238E27FC236}">
                <a16:creationId xmlns:a16="http://schemas.microsoft.com/office/drawing/2014/main" id="{B7529B07-C9D0-4513-A6C0-D873432D487E}"/>
              </a:ext>
            </a:extLst>
          </p:cNvPr>
          <p:cNvSpPr>
            <a:spLocks noGrp="1"/>
          </p:cNvSpPr>
          <p:nvPr/>
        </p:nvSpPr>
        <p:spPr>
          <a:xfrm>
            <a:off x="552450" y="752475"/>
            <a:ext cx="1057275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lang="en-US" sz="3300" b="1">
                <a:solidFill>
                  <a:srgbClr val="F4F1E9"/>
                </a:solidFill>
                <a:latin typeface="Arial"/>
                <a:ea typeface="Arial"/>
                <a:cs typeface="Arial"/>
              </a:rPr>
              <a:t>Proposed system: components</a:t>
            </a:r>
            <a:endParaRPr sz="3300" b="1">
              <a:solidFill>
                <a:srgbClr val="F4F1E9"/>
              </a:solidFill>
              <a:latin typeface="Arial"/>
              <a:ea typeface="Arial"/>
              <a:cs typeface="Arial"/>
            </a:endParaRPr>
          </a:p>
        </p:txBody>
      </p:sp>
      <p:sp>
        <p:nvSpPr>
          <p:cNvPr id="6" name="background-4">
            <a:extLst>
              <a:ext uri="{FF2B5EF4-FFF2-40B4-BE49-F238E27FC236}">
                <a16:creationId xmlns:a16="http://schemas.microsoft.com/office/drawing/2014/main" id="{D0515D19-4111-43E5-8076-AEDE32C97552}"/>
              </a:ext>
            </a:extLst>
          </p:cNvPr>
          <p:cNvSpPr>
            <a:spLocks noGrp="1"/>
          </p:cNvSpPr>
          <p:nvPr/>
        </p:nvSpPr>
        <p:spPr>
          <a:xfrm>
            <a:off x="552450" y="6257925"/>
            <a:ext cx="9906000" cy="9525"/>
          </a:xfrm>
          <a:prstGeom prst="rect">
            <a:avLst/>
          </a:prstGeom>
          <a:solidFill>
            <a:srgbClr val="435046"/>
          </a:solidFill>
          <a:ln w="0">
            <a:noFill/>
          </a:ln>
        </p:spPr>
      </p:sp>
      <p:sp>
        <p:nvSpPr>
          <p:cNvPr id="7" name="reveal-5">
            <a:extLst>
              <a:ext uri="{FF2B5EF4-FFF2-40B4-BE49-F238E27FC236}">
                <a16:creationId xmlns:a16="http://schemas.microsoft.com/office/drawing/2014/main" id="{DE88DF42-9AF5-402F-9829-612FC923F9D8}"/>
              </a:ext>
            </a:extLst>
          </p:cNvPr>
          <p:cNvSpPr>
            <a:spLocks noGrp="1"/>
          </p:cNvSpPr>
          <p:nvPr/>
        </p:nvSpPr>
        <p:spPr>
          <a:xfrm>
            <a:off x="552450" y="1990725"/>
            <a:ext cx="3547872" cy="2667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Component</a:t>
            </a:r>
          </a:p>
        </p:txBody>
      </p:sp>
      <p:sp>
        <p:nvSpPr>
          <p:cNvPr id="8" name="reveal-6">
            <a:extLst>
              <a:ext uri="{FF2B5EF4-FFF2-40B4-BE49-F238E27FC236}">
                <a16:creationId xmlns:a16="http://schemas.microsoft.com/office/drawing/2014/main" id="{289C1A78-D4C9-4324-B990-24D6689BA452}"/>
              </a:ext>
            </a:extLst>
          </p:cNvPr>
          <p:cNvSpPr>
            <a:spLocks noGrp="1"/>
          </p:cNvSpPr>
          <p:nvPr/>
        </p:nvSpPr>
        <p:spPr>
          <a:xfrm>
            <a:off x="4010025" y="1990725"/>
            <a:ext cx="7629525" cy="2667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Implementation and role</a:t>
            </a:r>
          </a:p>
        </p:txBody>
      </p:sp>
      <p:sp>
        <p:nvSpPr>
          <p:cNvPr id="9" name="background-7">
            <a:extLst>
              <a:ext uri="{FF2B5EF4-FFF2-40B4-BE49-F238E27FC236}">
                <a16:creationId xmlns:a16="http://schemas.microsoft.com/office/drawing/2014/main" id="{7940F191-2181-4461-83E4-0CB8E8C115D7}"/>
              </a:ext>
            </a:extLst>
          </p:cNvPr>
          <p:cNvSpPr>
            <a:spLocks noGrp="1"/>
          </p:cNvSpPr>
          <p:nvPr/>
        </p:nvSpPr>
        <p:spPr>
          <a:xfrm>
            <a:off x="552450" y="2314575"/>
            <a:ext cx="11087100" cy="9525"/>
          </a:xfrm>
          <a:prstGeom prst="rect">
            <a:avLst/>
          </a:prstGeom>
          <a:solidFill>
            <a:srgbClr val="435046"/>
          </a:solidFill>
          <a:ln w="0">
            <a:noFill/>
          </a:ln>
        </p:spPr>
      </p:sp>
      <p:sp>
        <p:nvSpPr>
          <p:cNvPr id="10" name="reveal-8">
            <a:extLst>
              <a:ext uri="{FF2B5EF4-FFF2-40B4-BE49-F238E27FC236}">
                <a16:creationId xmlns:a16="http://schemas.microsoft.com/office/drawing/2014/main" id="{90FAA7E5-9339-4F1F-A9FD-6C07B9F2F2ED}"/>
              </a:ext>
            </a:extLst>
          </p:cNvPr>
          <p:cNvSpPr>
            <a:spLocks noGrp="1"/>
          </p:cNvSpPr>
          <p:nvPr/>
        </p:nvSpPr>
        <p:spPr>
          <a:xfrm>
            <a:off x="552450" y="2447925"/>
            <a:ext cx="3190875" cy="600075"/>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Random Forest study</a:t>
            </a:r>
          </a:p>
        </p:txBody>
      </p:sp>
      <p:sp>
        <p:nvSpPr>
          <p:cNvPr id="11" name="reveal-9">
            <a:extLst>
              <a:ext uri="{FF2B5EF4-FFF2-40B4-BE49-F238E27FC236}">
                <a16:creationId xmlns:a16="http://schemas.microsoft.com/office/drawing/2014/main" id="{63A379B2-DF5D-4326-A090-7010140EF392}"/>
              </a:ext>
            </a:extLst>
          </p:cNvPr>
          <p:cNvSpPr>
            <a:spLocks noGrp="1"/>
          </p:cNvSpPr>
          <p:nvPr/>
        </p:nvSpPr>
        <p:spPr>
          <a:xfrm>
            <a:off x="4010025" y="2447925"/>
            <a:ext cx="7629525" cy="600075"/>
          </a:xfrm>
          <a:prstGeom prst="rect">
            <a:avLst/>
          </a:prstGeom>
          <a:noFill/>
          <a:ln w="0">
            <a:noFill/>
          </a:ln>
        </p:spPr>
        <p:txBody>
          <a:bodyPr wrap="square" lIns="0" tIns="0" rIns="0" bIns="0" anchor="t">
            <a:noAutofit/>
          </a:bodyPr>
          <a:lstStyle>
            <a:defPPr>
              <a:defRPr sz="2025" b="0">
                <a:solidFill>
                  <a:srgbClr val="F4F1E9"/>
                </a:solidFill>
                <a:latin typeface="Arial"/>
                <a:ea typeface="Arial"/>
                <a:cs typeface="Arial"/>
              </a:defRPr>
            </a:defPPr>
            <a:lvl1pPr>
              <a:defRPr sz="2025" b="0">
                <a:solidFill>
                  <a:srgbClr val="F4F1E9"/>
                </a:solidFill>
                <a:latin typeface="Arial"/>
                <a:ea typeface="Arial"/>
                <a:cs typeface="Arial"/>
              </a:defRPr>
            </a:lvl1pPr>
            <a:lvl2pPr>
              <a:defRPr sz="2025" b="0">
                <a:solidFill>
                  <a:srgbClr val="F4F1E9"/>
                </a:solidFill>
                <a:latin typeface="Arial"/>
                <a:ea typeface="Arial"/>
                <a:cs typeface="Arial"/>
              </a:defRPr>
            </a:lvl2pPr>
            <a:lvl3pPr>
              <a:defRPr sz="2025" b="0">
                <a:solidFill>
                  <a:srgbClr val="F4F1E9"/>
                </a:solidFill>
                <a:latin typeface="Arial"/>
                <a:ea typeface="Arial"/>
                <a:cs typeface="Arial"/>
              </a:defRPr>
            </a:lvl3pPr>
            <a:lvl4pPr>
              <a:defRPr sz="2025" b="0">
                <a:solidFill>
                  <a:srgbClr val="F4F1E9"/>
                </a:solidFill>
                <a:latin typeface="Arial"/>
                <a:ea typeface="Arial"/>
                <a:cs typeface="Arial"/>
              </a:defRPr>
            </a:lvl4pPr>
            <a:lvl5pPr>
              <a:defRPr sz="2025" b="0">
                <a:solidFill>
                  <a:srgbClr val="F4F1E9"/>
                </a:solidFill>
                <a:latin typeface="Arial"/>
                <a:ea typeface="Arial"/>
                <a:cs typeface="Arial"/>
              </a:defRPr>
            </a:lvl5pPr>
            <a:lvl6pPr>
              <a:defRPr sz="2025" b="0">
                <a:solidFill>
                  <a:srgbClr val="F4F1E9"/>
                </a:solidFill>
                <a:latin typeface="Arial"/>
                <a:ea typeface="Arial"/>
                <a:cs typeface="Arial"/>
              </a:defRPr>
            </a:lvl6pPr>
            <a:lvl7pPr>
              <a:defRPr sz="2025" b="0">
                <a:solidFill>
                  <a:srgbClr val="F4F1E9"/>
                </a:solidFill>
                <a:latin typeface="Arial"/>
                <a:ea typeface="Arial"/>
                <a:cs typeface="Arial"/>
              </a:defRPr>
            </a:lvl7pPr>
            <a:lvl8pPr>
              <a:defRPr sz="2025" b="0">
                <a:solidFill>
                  <a:srgbClr val="F4F1E9"/>
                </a:solidFill>
                <a:latin typeface="Arial"/>
                <a:ea typeface="Arial"/>
                <a:cs typeface="Arial"/>
              </a:defRPr>
            </a:lvl8pPr>
            <a:lvl9pPr>
              <a:defRPr sz="2025" b="0">
                <a:solidFill>
                  <a:srgbClr val="F4F1E9"/>
                </a:solidFill>
                <a:latin typeface="Arial"/>
                <a:ea typeface="Arial"/>
                <a:cs typeface="Arial"/>
              </a:defRPr>
            </a:lvl9pPr>
          </a:lstStyle>
          <a:p>
            <a:pPr>
              <a:defRPr sz="2025" b="0">
                <a:solidFill>
                  <a:srgbClr val="F4F1E9"/>
                </a:solidFill>
                <a:latin typeface="Arial"/>
                <a:ea typeface="Arial"/>
                <a:cs typeface="Arial"/>
              </a:defRPr>
            </a:pPr>
            <a:r>
              <a:rPr sz="2025" b="0">
                <a:solidFill>
                  <a:srgbClr val="F4F1E9"/>
                </a:solidFill>
                <a:latin typeface="Arial"/>
                <a:ea typeface="Arial"/>
                <a:cs typeface="Arial"/>
              </a:rPr>
              <a:t>Offline Python models for delay class and minutes</a:t>
            </a:r>
          </a:p>
        </p:txBody>
      </p:sp>
      <p:sp>
        <p:nvSpPr>
          <p:cNvPr id="12" name="background-10">
            <a:extLst>
              <a:ext uri="{FF2B5EF4-FFF2-40B4-BE49-F238E27FC236}">
                <a16:creationId xmlns:a16="http://schemas.microsoft.com/office/drawing/2014/main" id="{6189C575-4457-43F5-B6AE-83B159044E31}"/>
              </a:ext>
            </a:extLst>
          </p:cNvPr>
          <p:cNvSpPr>
            <a:spLocks noGrp="1"/>
          </p:cNvSpPr>
          <p:nvPr/>
        </p:nvSpPr>
        <p:spPr>
          <a:xfrm>
            <a:off x="552450" y="3076575"/>
            <a:ext cx="11087100" cy="9525"/>
          </a:xfrm>
          <a:prstGeom prst="rect">
            <a:avLst/>
          </a:prstGeom>
          <a:solidFill>
            <a:srgbClr val="435046"/>
          </a:solidFill>
          <a:ln w="0">
            <a:noFill/>
          </a:ln>
        </p:spPr>
      </p:sp>
      <p:sp>
        <p:nvSpPr>
          <p:cNvPr id="13" name="reveal-11">
            <a:extLst>
              <a:ext uri="{FF2B5EF4-FFF2-40B4-BE49-F238E27FC236}">
                <a16:creationId xmlns:a16="http://schemas.microsoft.com/office/drawing/2014/main" id="{4E27E3D8-6C59-43A3-ACC8-4066EE92ECAB}"/>
              </a:ext>
            </a:extLst>
          </p:cNvPr>
          <p:cNvSpPr>
            <a:spLocks noGrp="1"/>
          </p:cNvSpPr>
          <p:nvPr/>
        </p:nvSpPr>
        <p:spPr>
          <a:xfrm>
            <a:off x="552450" y="3209925"/>
            <a:ext cx="3190875" cy="600075"/>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Simulation website</a:t>
            </a:r>
          </a:p>
        </p:txBody>
      </p:sp>
      <p:sp>
        <p:nvSpPr>
          <p:cNvPr id="14" name="reveal-12">
            <a:extLst>
              <a:ext uri="{FF2B5EF4-FFF2-40B4-BE49-F238E27FC236}">
                <a16:creationId xmlns:a16="http://schemas.microsoft.com/office/drawing/2014/main" id="{0785F417-59AF-45AE-B92E-5B0F6A451EB9}"/>
              </a:ext>
            </a:extLst>
          </p:cNvPr>
          <p:cNvSpPr>
            <a:spLocks noGrp="1"/>
          </p:cNvSpPr>
          <p:nvPr/>
        </p:nvSpPr>
        <p:spPr>
          <a:xfrm>
            <a:off x="4010025" y="3209925"/>
            <a:ext cx="7629525" cy="600075"/>
          </a:xfrm>
          <a:prstGeom prst="rect">
            <a:avLst/>
          </a:prstGeom>
          <a:noFill/>
          <a:ln w="0">
            <a:noFill/>
          </a:ln>
        </p:spPr>
        <p:txBody>
          <a:bodyPr wrap="square" lIns="0" tIns="0" rIns="0" bIns="0" anchor="t">
            <a:noAutofit/>
          </a:bodyPr>
          <a:lstStyle>
            <a:defPPr>
              <a:defRPr sz="2025" b="0">
                <a:solidFill>
                  <a:srgbClr val="F4F1E9"/>
                </a:solidFill>
                <a:latin typeface="Arial"/>
                <a:ea typeface="Arial"/>
                <a:cs typeface="Arial"/>
              </a:defRPr>
            </a:defPPr>
            <a:lvl1pPr>
              <a:defRPr sz="2025" b="0">
                <a:solidFill>
                  <a:srgbClr val="F4F1E9"/>
                </a:solidFill>
                <a:latin typeface="Arial"/>
                <a:ea typeface="Arial"/>
                <a:cs typeface="Arial"/>
              </a:defRPr>
            </a:lvl1pPr>
            <a:lvl2pPr>
              <a:defRPr sz="2025" b="0">
                <a:solidFill>
                  <a:srgbClr val="F4F1E9"/>
                </a:solidFill>
                <a:latin typeface="Arial"/>
                <a:ea typeface="Arial"/>
                <a:cs typeface="Arial"/>
              </a:defRPr>
            </a:lvl2pPr>
            <a:lvl3pPr>
              <a:defRPr sz="2025" b="0">
                <a:solidFill>
                  <a:srgbClr val="F4F1E9"/>
                </a:solidFill>
                <a:latin typeface="Arial"/>
                <a:ea typeface="Arial"/>
                <a:cs typeface="Arial"/>
              </a:defRPr>
            </a:lvl3pPr>
            <a:lvl4pPr>
              <a:defRPr sz="2025" b="0">
                <a:solidFill>
                  <a:srgbClr val="F4F1E9"/>
                </a:solidFill>
                <a:latin typeface="Arial"/>
                <a:ea typeface="Arial"/>
                <a:cs typeface="Arial"/>
              </a:defRPr>
            </a:lvl4pPr>
            <a:lvl5pPr>
              <a:defRPr sz="2025" b="0">
                <a:solidFill>
                  <a:srgbClr val="F4F1E9"/>
                </a:solidFill>
                <a:latin typeface="Arial"/>
                <a:ea typeface="Arial"/>
                <a:cs typeface="Arial"/>
              </a:defRPr>
            </a:lvl5pPr>
            <a:lvl6pPr>
              <a:defRPr sz="2025" b="0">
                <a:solidFill>
                  <a:srgbClr val="F4F1E9"/>
                </a:solidFill>
                <a:latin typeface="Arial"/>
                <a:ea typeface="Arial"/>
                <a:cs typeface="Arial"/>
              </a:defRPr>
            </a:lvl6pPr>
            <a:lvl7pPr>
              <a:defRPr sz="2025" b="0">
                <a:solidFill>
                  <a:srgbClr val="F4F1E9"/>
                </a:solidFill>
                <a:latin typeface="Arial"/>
                <a:ea typeface="Arial"/>
                <a:cs typeface="Arial"/>
              </a:defRPr>
            </a:lvl7pPr>
            <a:lvl8pPr>
              <a:defRPr sz="2025" b="0">
                <a:solidFill>
                  <a:srgbClr val="F4F1E9"/>
                </a:solidFill>
                <a:latin typeface="Arial"/>
                <a:ea typeface="Arial"/>
                <a:cs typeface="Arial"/>
              </a:defRPr>
            </a:lvl8pPr>
            <a:lvl9pPr>
              <a:defRPr sz="2025" b="0">
                <a:solidFill>
                  <a:srgbClr val="F4F1E9"/>
                </a:solidFill>
                <a:latin typeface="Arial"/>
                <a:ea typeface="Arial"/>
                <a:cs typeface="Arial"/>
              </a:defRPr>
            </a:lvl9pPr>
          </a:lstStyle>
          <a:p>
            <a:pPr>
              <a:defRPr sz="2025" b="0">
                <a:solidFill>
                  <a:srgbClr val="F4F1E9"/>
                </a:solidFill>
                <a:latin typeface="Arial"/>
                <a:ea typeface="Arial"/>
                <a:cs typeface="Arial"/>
              </a:defRPr>
            </a:pPr>
            <a:r>
              <a:rPr sz="2025" b="0">
                <a:solidFill>
                  <a:srgbClr val="F4F1E9"/>
                </a:solidFill>
                <a:latin typeface="Arial"/>
                <a:ea typeface="Arial"/>
                <a:cs typeface="Arial"/>
              </a:rPr>
              <a:t>Scenario inputs, current rule estimate and 3D journey</a:t>
            </a:r>
          </a:p>
        </p:txBody>
      </p:sp>
      <p:sp>
        <p:nvSpPr>
          <p:cNvPr id="15" name="background-13">
            <a:extLst>
              <a:ext uri="{FF2B5EF4-FFF2-40B4-BE49-F238E27FC236}">
                <a16:creationId xmlns:a16="http://schemas.microsoft.com/office/drawing/2014/main" id="{A6F1BBCB-ED28-465A-B613-165393A6D1CB}"/>
              </a:ext>
            </a:extLst>
          </p:cNvPr>
          <p:cNvSpPr>
            <a:spLocks noGrp="1"/>
          </p:cNvSpPr>
          <p:nvPr/>
        </p:nvSpPr>
        <p:spPr>
          <a:xfrm>
            <a:off x="552450" y="3838575"/>
            <a:ext cx="11087100" cy="9525"/>
          </a:xfrm>
          <a:prstGeom prst="rect">
            <a:avLst/>
          </a:prstGeom>
          <a:solidFill>
            <a:srgbClr val="435046"/>
          </a:solidFill>
          <a:ln w="0">
            <a:noFill/>
          </a:ln>
        </p:spPr>
      </p:sp>
      <p:sp>
        <p:nvSpPr>
          <p:cNvPr id="16" name="reveal-14">
            <a:extLst>
              <a:ext uri="{FF2B5EF4-FFF2-40B4-BE49-F238E27FC236}">
                <a16:creationId xmlns:a16="http://schemas.microsoft.com/office/drawing/2014/main" id="{B225DFF2-72B9-4E4A-9AF1-98464B8FA4E3}"/>
              </a:ext>
            </a:extLst>
          </p:cNvPr>
          <p:cNvSpPr>
            <a:spLocks noGrp="1"/>
          </p:cNvSpPr>
          <p:nvPr/>
        </p:nvSpPr>
        <p:spPr>
          <a:xfrm>
            <a:off x="552450" y="3971925"/>
            <a:ext cx="3190875" cy="600075"/>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Live flights mode</a:t>
            </a:r>
          </a:p>
        </p:txBody>
      </p:sp>
      <p:sp>
        <p:nvSpPr>
          <p:cNvPr id="17" name="reveal-15">
            <a:extLst>
              <a:ext uri="{FF2B5EF4-FFF2-40B4-BE49-F238E27FC236}">
                <a16:creationId xmlns:a16="http://schemas.microsoft.com/office/drawing/2014/main" id="{17AE9B23-6A02-443A-9BA7-87355ED250BD}"/>
              </a:ext>
            </a:extLst>
          </p:cNvPr>
          <p:cNvSpPr>
            <a:spLocks noGrp="1"/>
          </p:cNvSpPr>
          <p:nvPr/>
        </p:nvSpPr>
        <p:spPr>
          <a:xfrm>
            <a:off x="4010025" y="3971925"/>
            <a:ext cx="7629525" cy="600075"/>
          </a:xfrm>
          <a:prstGeom prst="rect">
            <a:avLst/>
          </a:prstGeom>
          <a:noFill/>
          <a:ln w="0">
            <a:noFill/>
          </a:ln>
        </p:spPr>
        <p:txBody>
          <a:bodyPr wrap="square" lIns="0" tIns="0" rIns="0" bIns="0" anchor="t">
            <a:noAutofit/>
          </a:bodyPr>
          <a:lstStyle>
            <a:defPPr>
              <a:defRPr sz="2025" b="0">
                <a:solidFill>
                  <a:srgbClr val="F4F1E9"/>
                </a:solidFill>
                <a:latin typeface="Arial"/>
                <a:ea typeface="Arial"/>
                <a:cs typeface="Arial"/>
              </a:defRPr>
            </a:defPPr>
            <a:lvl1pPr>
              <a:defRPr sz="2025" b="0">
                <a:solidFill>
                  <a:srgbClr val="F4F1E9"/>
                </a:solidFill>
                <a:latin typeface="Arial"/>
                <a:ea typeface="Arial"/>
                <a:cs typeface="Arial"/>
              </a:defRPr>
            </a:lvl1pPr>
            <a:lvl2pPr>
              <a:defRPr sz="2025" b="0">
                <a:solidFill>
                  <a:srgbClr val="F4F1E9"/>
                </a:solidFill>
                <a:latin typeface="Arial"/>
                <a:ea typeface="Arial"/>
                <a:cs typeface="Arial"/>
              </a:defRPr>
            </a:lvl2pPr>
            <a:lvl3pPr>
              <a:defRPr sz="2025" b="0">
                <a:solidFill>
                  <a:srgbClr val="F4F1E9"/>
                </a:solidFill>
                <a:latin typeface="Arial"/>
                <a:ea typeface="Arial"/>
                <a:cs typeface="Arial"/>
              </a:defRPr>
            </a:lvl3pPr>
            <a:lvl4pPr>
              <a:defRPr sz="2025" b="0">
                <a:solidFill>
                  <a:srgbClr val="F4F1E9"/>
                </a:solidFill>
                <a:latin typeface="Arial"/>
                <a:ea typeface="Arial"/>
                <a:cs typeface="Arial"/>
              </a:defRPr>
            </a:lvl4pPr>
            <a:lvl5pPr>
              <a:defRPr sz="2025" b="0">
                <a:solidFill>
                  <a:srgbClr val="F4F1E9"/>
                </a:solidFill>
                <a:latin typeface="Arial"/>
                <a:ea typeface="Arial"/>
                <a:cs typeface="Arial"/>
              </a:defRPr>
            </a:lvl5pPr>
            <a:lvl6pPr>
              <a:defRPr sz="2025" b="0">
                <a:solidFill>
                  <a:srgbClr val="F4F1E9"/>
                </a:solidFill>
                <a:latin typeface="Arial"/>
                <a:ea typeface="Arial"/>
                <a:cs typeface="Arial"/>
              </a:defRPr>
            </a:lvl6pPr>
            <a:lvl7pPr>
              <a:defRPr sz="2025" b="0">
                <a:solidFill>
                  <a:srgbClr val="F4F1E9"/>
                </a:solidFill>
                <a:latin typeface="Arial"/>
                <a:ea typeface="Arial"/>
                <a:cs typeface="Arial"/>
              </a:defRPr>
            </a:lvl7pPr>
            <a:lvl8pPr>
              <a:defRPr sz="2025" b="0">
                <a:solidFill>
                  <a:srgbClr val="F4F1E9"/>
                </a:solidFill>
                <a:latin typeface="Arial"/>
                <a:ea typeface="Arial"/>
                <a:cs typeface="Arial"/>
              </a:defRPr>
            </a:lvl8pPr>
            <a:lvl9pPr>
              <a:defRPr sz="2025" b="0">
                <a:solidFill>
                  <a:srgbClr val="F4F1E9"/>
                </a:solidFill>
                <a:latin typeface="Arial"/>
                <a:ea typeface="Arial"/>
                <a:cs typeface="Arial"/>
              </a:defRPr>
            </a:lvl9pPr>
          </a:lstStyle>
          <a:p>
            <a:pPr>
              <a:defRPr sz="2025" b="0">
                <a:solidFill>
                  <a:srgbClr val="F4F1E9"/>
                </a:solidFill>
                <a:latin typeface="Arial"/>
                <a:ea typeface="Arial"/>
                <a:cs typeface="Arial"/>
              </a:defRPr>
            </a:pPr>
            <a:r>
              <a:rPr sz="2025" b="0">
                <a:solidFill>
                  <a:srgbClr val="F4F1E9"/>
                </a:solidFill>
                <a:latin typeface="Arial"/>
                <a:ea typeface="Arial"/>
                <a:cs typeface="Arial"/>
              </a:rPr>
              <a:t>Provider schedules, reported delays and valid position snapshots</a:t>
            </a:r>
          </a:p>
        </p:txBody>
      </p:sp>
      <p:sp>
        <p:nvSpPr>
          <p:cNvPr id="18" name="background-16">
            <a:extLst>
              <a:ext uri="{FF2B5EF4-FFF2-40B4-BE49-F238E27FC236}">
                <a16:creationId xmlns:a16="http://schemas.microsoft.com/office/drawing/2014/main" id="{753CA9FB-E3E3-487A-BC3B-1AAA12376BBE}"/>
              </a:ext>
            </a:extLst>
          </p:cNvPr>
          <p:cNvSpPr>
            <a:spLocks noGrp="1"/>
          </p:cNvSpPr>
          <p:nvPr/>
        </p:nvSpPr>
        <p:spPr>
          <a:xfrm>
            <a:off x="552450" y="4600575"/>
            <a:ext cx="11087100" cy="9525"/>
          </a:xfrm>
          <a:prstGeom prst="rect">
            <a:avLst/>
          </a:prstGeom>
          <a:solidFill>
            <a:srgbClr val="435046"/>
          </a:solidFill>
          <a:ln w="0">
            <a:noFill/>
          </a:ln>
        </p:spPr>
      </p:sp>
      <p:sp>
        <p:nvSpPr>
          <p:cNvPr id="19" name="reveal-17">
            <a:extLst>
              <a:ext uri="{FF2B5EF4-FFF2-40B4-BE49-F238E27FC236}">
                <a16:creationId xmlns:a16="http://schemas.microsoft.com/office/drawing/2014/main" id="{BED94CF8-7CEC-434E-BB5E-7A3A47250490}"/>
              </a:ext>
            </a:extLst>
          </p:cNvPr>
          <p:cNvSpPr>
            <a:spLocks noGrp="1"/>
          </p:cNvSpPr>
          <p:nvPr/>
        </p:nvSpPr>
        <p:spPr>
          <a:xfrm>
            <a:off x="552450" y="4733925"/>
            <a:ext cx="3190875" cy="600075"/>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Blender and Three.js</a:t>
            </a:r>
          </a:p>
        </p:txBody>
      </p:sp>
      <p:sp>
        <p:nvSpPr>
          <p:cNvPr id="20" name="reveal-18">
            <a:extLst>
              <a:ext uri="{FF2B5EF4-FFF2-40B4-BE49-F238E27FC236}">
                <a16:creationId xmlns:a16="http://schemas.microsoft.com/office/drawing/2014/main" id="{06472389-0A7D-4547-89F5-878A6EDCA642}"/>
              </a:ext>
            </a:extLst>
          </p:cNvPr>
          <p:cNvSpPr>
            <a:spLocks noGrp="1"/>
          </p:cNvSpPr>
          <p:nvPr/>
        </p:nvSpPr>
        <p:spPr>
          <a:xfrm>
            <a:off x="4010025" y="4733925"/>
            <a:ext cx="7629525" cy="600075"/>
          </a:xfrm>
          <a:prstGeom prst="rect">
            <a:avLst/>
          </a:prstGeom>
          <a:noFill/>
          <a:ln w="0">
            <a:noFill/>
          </a:ln>
        </p:spPr>
        <p:txBody>
          <a:bodyPr wrap="square" lIns="0" tIns="0" rIns="0" bIns="0" anchor="t">
            <a:noAutofit/>
          </a:bodyPr>
          <a:lstStyle>
            <a:defPPr>
              <a:defRPr sz="2025" b="0">
                <a:solidFill>
                  <a:srgbClr val="F4F1E9"/>
                </a:solidFill>
                <a:latin typeface="Arial"/>
                <a:ea typeface="Arial"/>
                <a:cs typeface="Arial"/>
              </a:defRPr>
            </a:defPPr>
            <a:lvl1pPr>
              <a:defRPr sz="2025" b="0">
                <a:solidFill>
                  <a:srgbClr val="F4F1E9"/>
                </a:solidFill>
                <a:latin typeface="Arial"/>
                <a:ea typeface="Arial"/>
                <a:cs typeface="Arial"/>
              </a:defRPr>
            </a:lvl1pPr>
            <a:lvl2pPr>
              <a:defRPr sz="2025" b="0">
                <a:solidFill>
                  <a:srgbClr val="F4F1E9"/>
                </a:solidFill>
                <a:latin typeface="Arial"/>
                <a:ea typeface="Arial"/>
                <a:cs typeface="Arial"/>
              </a:defRPr>
            </a:lvl2pPr>
            <a:lvl3pPr>
              <a:defRPr sz="2025" b="0">
                <a:solidFill>
                  <a:srgbClr val="F4F1E9"/>
                </a:solidFill>
                <a:latin typeface="Arial"/>
                <a:ea typeface="Arial"/>
                <a:cs typeface="Arial"/>
              </a:defRPr>
            </a:lvl3pPr>
            <a:lvl4pPr>
              <a:defRPr sz="2025" b="0">
                <a:solidFill>
                  <a:srgbClr val="F4F1E9"/>
                </a:solidFill>
                <a:latin typeface="Arial"/>
                <a:ea typeface="Arial"/>
                <a:cs typeface="Arial"/>
              </a:defRPr>
            </a:lvl4pPr>
            <a:lvl5pPr>
              <a:defRPr sz="2025" b="0">
                <a:solidFill>
                  <a:srgbClr val="F4F1E9"/>
                </a:solidFill>
                <a:latin typeface="Arial"/>
                <a:ea typeface="Arial"/>
                <a:cs typeface="Arial"/>
              </a:defRPr>
            </a:lvl5pPr>
            <a:lvl6pPr>
              <a:defRPr sz="2025" b="0">
                <a:solidFill>
                  <a:srgbClr val="F4F1E9"/>
                </a:solidFill>
                <a:latin typeface="Arial"/>
                <a:ea typeface="Arial"/>
                <a:cs typeface="Arial"/>
              </a:defRPr>
            </a:lvl6pPr>
            <a:lvl7pPr>
              <a:defRPr sz="2025" b="0">
                <a:solidFill>
                  <a:srgbClr val="F4F1E9"/>
                </a:solidFill>
                <a:latin typeface="Arial"/>
                <a:ea typeface="Arial"/>
                <a:cs typeface="Arial"/>
              </a:defRPr>
            </a:lvl7pPr>
            <a:lvl8pPr>
              <a:defRPr sz="2025" b="0">
                <a:solidFill>
                  <a:srgbClr val="F4F1E9"/>
                </a:solidFill>
                <a:latin typeface="Arial"/>
                <a:ea typeface="Arial"/>
                <a:cs typeface="Arial"/>
              </a:defRPr>
            </a:lvl8pPr>
            <a:lvl9pPr>
              <a:defRPr sz="2025" b="0">
                <a:solidFill>
                  <a:srgbClr val="F4F1E9"/>
                </a:solidFill>
                <a:latin typeface="Arial"/>
                <a:ea typeface="Arial"/>
                <a:cs typeface="Arial"/>
              </a:defRPr>
            </a:lvl9pPr>
          </a:lstStyle>
          <a:p>
            <a:pPr>
              <a:defRPr sz="2025" b="0">
                <a:solidFill>
                  <a:srgbClr val="F4F1E9"/>
                </a:solidFill>
                <a:latin typeface="Arial"/>
                <a:ea typeface="Arial"/>
                <a:cs typeface="Arial"/>
              </a:defRPr>
            </a:pPr>
            <a:r>
              <a:rPr sz="2025" b="0">
                <a:solidFill>
                  <a:srgbClr val="F4F1E9"/>
                </a:solidFill>
                <a:latin typeface="Arial"/>
                <a:ea typeface="Arial"/>
                <a:cs typeface="Arial"/>
              </a:rPr>
              <a:t>Aircraft, airport, route and camera presentation</a:t>
            </a:r>
          </a:p>
        </p:txBody>
      </p:sp>
      <p:sp>
        <p:nvSpPr>
          <p:cNvPr id="21" name="body-4-19">
            <a:extLst>
              <a:ext uri="{FF2B5EF4-FFF2-40B4-BE49-F238E27FC236}">
                <a16:creationId xmlns:a16="http://schemas.microsoft.com/office/drawing/2014/main" id="{B1A65F31-B7AB-4EC3-B841-7104D28BB00D}"/>
              </a:ext>
            </a:extLst>
          </p:cNvPr>
          <p:cNvSpPr>
            <a:spLocks noGrp="1"/>
          </p:cNvSpPr>
          <p:nvPr/>
        </p:nvSpPr>
        <p:spPr>
          <a:xfrm>
            <a:off x="552450" y="5619750"/>
            <a:ext cx="11087100" cy="571500"/>
          </a:xfrm>
          <a:prstGeom prst="rect">
            <a:avLst/>
          </a:prstGeom>
          <a:noFill/>
          <a:ln w="0">
            <a:noFill/>
          </a:ln>
        </p:spPr>
        <p:txBody>
          <a:bodyPr wrap="square" lIns="0" tIns="0" rIns="0" bIns="0" anchor="t">
            <a:noAutofit/>
          </a:bodyPr>
          <a:lstStyle>
            <a:defPPr>
              <a:defRPr sz="1800" b="0">
                <a:solidFill>
                  <a:srgbClr val="9CAA8A"/>
                </a:solidFill>
                <a:latin typeface="Arial"/>
                <a:ea typeface="Arial"/>
                <a:cs typeface="Arial"/>
              </a:defRPr>
            </a:defPPr>
            <a:lvl1pPr>
              <a:defRPr sz="1800" b="0">
                <a:solidFill>
                  <a:srgbClr val="9CAA8A"/>
                </a:solidFill>
                <a:latin typeface="Arial"/>
                <a:ea typeface="Arial"/>
                <a:cs typeface="Arial"/>
              </a:defRPr>
            </a:lvl1pPr>
            <a:lvl2pPr>
              <a:defRPr sz="1800" b="0">
                <a:solidFill>
                  <a:srgbClr val="9CAA8A"/>
                </a:solidFill>
                <a:latin typeface="Arial"/>
                <a:ea typeface="Arial"/>
                <a:cs typeface="Arial"/>
              </a:defRPr>
            </a:lvl2pPr>
            <a:lvl3pPr>
              <a:defRPr sz="1800" b="0">
                <a:solidFill>
                  <a:srgbClr val="9CAA8A"/>
                </a:solidFill>
                <a:latin typeface="Arial"/>
                <a:ea typeface="Arial"/>
                <a:cs typeface="Arial"/>
              </a:defRPr>
            </a:lvl3pPr>
            <a:lvl4pPr>
              <a:defRPr sz="1800" b="0">
                <a:solidFill>
                  <a:srgbClr val="9CAA8A"/>
                </a:solidFill>
                <a:latin typeface="Arial"/>
                <a:ea typeface="Arial"/>
                <a:cs typeface="Arial"/>
              </a:defRPr>
            </a:lvl4pPr>
            <a:lvl5pPr>
              <a:defRPr sz="1800" b="0">
                <a:solidFill>
                  <a:srgbClr val="9CAA8A"/>
                </a:solidFill>
                <a:latin typeface="Arial"/>
                <a:ea typeface="Arial"/>
                <a:cs typeface="Arial"/>
              </a:defRPr>
            </a:lvl5pPr>
            <a:lvl6pPr>
              <a:defRPr sz="1800" b="0">
                <a:solidFill>
                  <a:srgbClr val="9CAA8A"/>
                </a:solidFill>
                <a:latin typeface="Arial"/>
                <a:ea typeface="Arial"/>
                <a:cs typeface="Arial"/>
              </a:defRPr>
            </a:lvl6pPr>
            <a:lvl7pPr>
              <a:defRPr sz="1800" b="0">
                <a:solidFill>
                  <a:srgbClr val="9CAA8A"/>
                </a:solidFill>
                <a:latin typeface="Arial"/>
                <a:ea typeface="Arial"/>
                <a:cs typeface="Arial"/>
              </a:defRPr>
            </a:lvl7pPr>
            <a:lvl8pPr>
              <a:defRPr sz="1800" b="0">
                <a:solidFill>
                  <a:srgbClr val="9CAA8A"/>
                </a:solidFill>
                <a:latin typeface="Arial"/>
                <a:ea typeface="Arial"/>
                <a:cs typeface="Arial"/>
              </a:defRPr>
            </a:lvl8pPr>
            <a:lvl9pPr>
              <a:defRPr sz="1800" b="0">
                <a:solidFill>
                  <a:srgbClr val="9CAA8A"/>
                </a:solidFill>
                <a:latin typeface="Arial"/>
                <a:ea typeface="Arial"/>
                <a:cs typeface="Arial"/>
              </a:defRPr>
            </a:lvl9pPr>
          </a:lstStyle>
          <a:p>
            <a:pPr>
              <a:defRPr sz="1800" b="0">
                <a:solidFill>
                  <a:srgbClr val="9CAA8A"/>
                </a:solidFill>
                <a:latin typeface="Arial"/>
                <a:ea typeface="Arial"/>
                <a:cs typeface="Arial"/>
              </a:defRPr>
            </a:pPr>
            <a:r>
              <a:rPr sz="1800" b="0">
                <a:solidFill>
                  <a:srgbClr val="9CAA8A"/>
                </a:solidFill>
                <a:latin typeface="Arial"/>
                <a:ea typeface="Arial"/>
                <a:cs typeface="Arial"/>
              </a:rPr>
              <a:t>Current boundary: the trained Random Forest runs separately. Website model integration is future work.</a:t>
            </a:r>
          </a:p>
        </p:txBody>
      </p:sp>
    </p:spTree>
    <p:extLst>
      <p:ext uri="{BB962C8B-B14F-4D97-AF65-F5344CB8AC3E}">
        <p14:creationId xmlns:p14="http://schemas.microsoft.com/office/powerpoint/2010/main" val="2373992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30"/>
                                        <p:tgtEl>
                                          <p:spTgt spid="13"/>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30"/>
                                        <p:tgtEl>
                                          <p:spTgt spid="14"/>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30"/>
                                        <p:tgtEl>
                                          <p:spTgt spid="16"/>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30"/>
                                        <p:tgtEl>
                                          <p:spTgt spid="17"/>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30"/>
                                        <p:tgtEl>
                                          <p:spTgt spid="19"/>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30"/>
                                        <p:tgtEl>
                                          <p:spTgt spid="20"/>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3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3" grpId="0"/>
      <p:bldP spid="14" grpId="0"/>
      <p:bldP spid="16" grpId="0"/>
      <p:bldP spid="17" grpId="0"/>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D27D9B2C-CB3B-42E8-BD14-7CC680F0E5D4}"/>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C2D48692-7A9E-496A-B719-1B780D38ACAF}"/>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9068DB34-300D-4962-BDE5-81D7F685807A}"/>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06 / 12</a:t>
            </a:r>
          </a:p>
        </p:txBody>
      </p:sp>
      <p:sp>
        <p:nvSpPr>
          <p:cNvPr id="5" name="title-1-3">
            <a:extLst>
              <a:ext uri="{FF2B5EF4-FFF2-40B4-BE49-F238E27FC236}">
                <a16:creationId xmlns:a16="http://schemas.microsoft.com/office/drawing/2014/main" id="{F312E713-7B1C-45B5-BC29-3EA98D6D5C2C}"/>
              </a:ext>
            </a:extLst>
          </p:cNvPr>
          <p:cNvSpPr>
            <a:spLocks noGrp="1"/>
          </p:cNvSpPr>
          <p:nvPr/>
        </p:nvSpPr>
        <p:spPr>
          <a:xfrm>
            <a:off x="552450" y="752475"/>
            <a:ext cx="1095375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Dataset and features</a:t>
            </a:r>
          </a:p>
        </p:txBody>
      </p:sp>
      <p:sp>
        <p:nvSpPr>
          <p:cNvPr id="6" name="background-4">
            <a:extLst>
              <a:ext uri="{FF2B5EF4-FFF2-40B4-BE49-F238E27FC236}">
                <a16:creationId xmlns:a16="http://schemas.microsoft.com/office/drawing/2014/main" id="{507D9AA5-F463-484A-878F-A2306DB55144}"/>
              </a:ext>
            </a:extLst>
          </p:cNvPr>
          <p:cNvSpPr>
            <a:spLocks noGrp="1"/>
          </p:cNvSpPr>
          <p:nvPr/>
        </p:nvSpPr>
        <p:spPr>
          <a:xfrm>
            <a:off x="552450" y="6257925"/>
            <a:ext cx="9906000" cy="9525"/>
          </a:xfrm>
          <a:prstGeom prst="rect">
            <a:avLst/>
          </a:prstGeom>
          <a:solidFill>
            <a:srgbClr val="D4D9CE"/>
          </a:solidFill>
          <a:ln w="0">
            <a:noFill/>
          </a:ln>
        </p:spPr>
      </p:sp>
      <p:sp>
        <p:nvSpPr>
          <p:cNvPr id="7" name="reveal-5">
            <a:extLst>
              <a:ext uri="{FF2B5EF4-FFF2-40B4-BE49-F238E27FC236}">
                <a16:creationId xmlns:a16="http://schemas.microsoft.com/office/drawing/2014/main" id="{BE99D186-6D89-4042-8C02-FA033F67282B}"/>
              </a:ext>
            </a:extLst>
          </p:cNvPr>
          <p:cNvSpPr>
            <a:spLocks noGrp="1"/>
          </p:cNvSpPr>
          <p:nvPr/>
        </p:nvSpPr>
        <p:spPr>
          <a:xfrm>
            <a:off x="552450" y="2019300"/>
            <a:ext cx="4191000" cy="40005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Categorical features</a:t>
            </a:r>
          </a:p>
        </p:txBody>
      </p:sp>
      <p:sp>
        <p:nvSpPr>
          <p:cNvPr id="8" name="reveal-6">
            <a:extLst>
              <a:ext uri="{FF2B5EF4-FFF2-40B4-BE49-F238E27FC236}">
                <a16:creationId xmlns:a16="http://schemas.microsoft.com/office/drawing/2014/main" id="{151C8142-4F45-422A-B79F-5D29992DF48D}"/>
              </a:ext>
            </a:extLst>
          </p:cNvPr>
          <p:cNvSpPr>
            <a:spLocks noGrp="1"/>
          </p:cNvSpPr>
          <p:nvPr/>
        </p:nvSpPr>
        <p:spPr>
          <a:xfrm>
            <a:off x="5905500" y="2019300"/>
            <a:ext cx="5715000" cy="40005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Numeric features</a:t>
            </a:r>
          </a:p>
        </p:txBody>
      </p:sp>
      <p:sp>
        <p:nvSpPr>
          <p:cNvPr id="9" name="reveal-7">
            <a:extLst>
              <a:ext uri="{FF2B5EF4-FFF2-40B4-BE49-F238E27FC236}">
                <a16:creationId xmlns:a16="http://schemas.microsoft.com/office/drawing/2014/main" id="{ABB7AE00-CC6D-4B24-B909-70AF3B8F37C7}"/>
              </a:ext>
            </a:extLst>
          </p:cNvPr>
          <p:cNvSpPr>
            <a:spLocks noGrp="1"/>
          </p:cNvSpPr>
          <p:nvPr/>
        </p:nvSpPr>
        <p:spPr>
          <a:xfrm>
            <a:off x="552450" y="2581275"/>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origin</a:t>
            </a:r>
          </a:p>
        </p:txBody>
      </p:sp>
      <p:sp>
        <p:nvSpPr>
          <p:cNvPr id="10" name="reveal-8">
            <a:extLst>
              <a:ext uri="{FF2B5EF4-FFF2-40B4-BE49-F238E27FC236}">
                <a16:creationId xmlns:a16="http://schemas.microsoft.com/office/drawing/2014/main" id="{B5D5DB88-2A3E-4FA7-B440-8C1C2F0289A2}"/>
              </a:ext>
            </a:extLst>
          </p:cNvPr>
          <p:cNvSpPr>
            <a:spLocks noGrp="1"/>
          </p:cNvSpPr>
          <p:nvPr/>
        </p:nvSpPr>
        <p:spPr>
          <a:xfrm>
            <a:off x="552450" y="3028950"/>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destination</a:t>
            </a:r>
          </a:p>
        </p:txBody>
      </p:sp>
      <p:sp>
        <p:nvSpPr>
          <p:cNvPr id="11" name="reveal-9">
            <a:extLst>
              <a:ext uri="{FF2B5EF4-FFF2-40B4-BE49-F238E27FC236}">
                <a16:creationId xmlns:a16="http://schemas.microsoft.com/office/drawing/2014/main" id="{BD43E638-DF1B-434B-B523-D558B841F3FE}"/>
              </a:ext>
            </a:extLst>
          </p:cNvPr>
          <p:cNvSpPr>
            <a:spLocks noGrp="1"/>
          </p:cNvSpPr>
          <p:nvPr/>
        </p:nvSpPr>
        <p:spPr>
          <a:xfrm>
            <a:off x="552450" y="3476625"/>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weather</a:t>
            </a:r>
          </a:p>
        </p:txBody>
      </p:sp>
      <p:sp>
        <p:nvSpPr>
          <p:cNvPr id="12" name="reveal-10">
            <a:extLst>
              <a:ext uri="{FF2B5EF4-FFF2-40B4-BE49-F238E27FC236}">
                <a16:creationId xmlns:a16="http://schemas.microsoft.com/office/drawing/2014/main" id="{3E5BB6E3-4AD5-4A06-9235-3E18F54393CC}"/>
              </a:ext>
            </a:extLst>
          </p:cNvPr>
          <p:cNvSpPr>
            <a:spLocks noGrp="1"/>
          </p:cNvSpPr>
          <p:nvPr/>
        </p:nvSpPr>
        <p:spPr>
          <a:xfrm>
            <a:off x="552450" y="4171950"/>
            <a:ext cx="4333875" cy="790575"/>
          </a:xfrm>
          <a:prstGeom prst="rect">
            <a:avLst/>
          </a:prstGeom>
          <a:noFill/>
          <a:ln w="0">
            <a:noFill/>
          </a:ln>
        </p:spPr>
        <p:txBody>
          <a:bodyPr wrap="square" lIns="0" tIns="0" rIns="0" bIns="0" anchor="t">
            <a:noAutofit/>
          </a:bodyPr>
          <a:lstStyle>
            <a:defPPr>
              <a:defRPr sz="1725" b="0">
                <a:solidFill>
                  <a:srgbClr val="69736A"/>
                </a:solidFill>
                <a:latin typeface="Arial"/>
                <a:ea typeface="Arial"/>
                <a:cs typeface="Arial"/>
              </a:defRPr>
            </a:defPPr>
            <a:lvl1pPr>
              <a:defRPr sz="1725" b="0">
                <a:solidFill>
                  <a:srgbClr val="69736A"/>
                </a:solidFill>
                <a:latin typeface="Arial"/>
                <a:ea typeface="Arial"/>
                <a:cs typeface="Arial"/>
              </a:defRPr>
            </a:lvl1pPr>
            <a:lvl2pPr>
              <a:defRPr sz="1725" b="0">
                <a:solidFill>
                  <a:srgbClr val="69736A"/>
                </a:solidFill>
                <a:latin typeface="Arial"/>
                <a:ea typeface="Arial"/>
                <a:cs typeface="Arial"/>
              </a:defRPr>
            </a:lvl2pPr>
            <a:lvl3pPr>
              <a:defRPr sz="1725" b="0">
                <a:solidFill>
                  <a:srgbClr val="69736A"/>
                </a:solidFill>
                <a:latin typeface="Arial"/>
                <a:ea typeface="Arial"/>
                <a:cs typeface="Arial"/>
              </a:defRPr>
            </a:lvl3pPr>
            <a:lvl4pPr>
              <a:defRPr sz="1725" b="0">
                <a:solidFill>
                  <a:srgbClr val="69736A"/>
                </a:solidFill>
                <a:latin typeface="Arial"/>
                <a:ea typeface="Arial"/>
                <a:cs typeface="Arial"/>
              </a:defRPr>
            </a:lvl4pPr>
            <a:lvl5pPr>
              <a:defRPr sz="1725" b="0">
                <a:solidFill>
                  <a:srgbClr val="69736A"/>
                </a:solidFill>
                <a:latin typeface="Arial"/>
                <a:ea typeface="Arial"/>
                <a:cs typeface="Arial"/>
              </a:defRPr>
            </a:lvl5pPr>
            <a:lvl6pPr>
              <a:defRPr sz="1725" b="0">
                <a:solidFill>
                  <a:srgbClr val="69736A"/>
                </a:solidFill>
                <a:latin typeface="Arial"/>
                <a:ea typeface="Arial"/>
                <a:cs typeface="Arial"/>
              </a:defRPr>
            </a:lvl6pPr>
            <a:lvl7pPr>
              <a:defRPr sz="1725" b="0">
                <a:solidFill>
                  <a:srgbClr val="69736A"/>
                </a:solidFill>
                <a:latin typeface="Arial"/>
                <a:ea typeface="Arial"/>
                <a:cs typeface="Arial"/>
              </a:defRPr>
            </a:lvl7pPr>
            <a:lvl8pPr>
              <a:defRPr sz="1725" b="0">
                <a:solidFill>
                  <a:srgbClr val="69736A"/>
                </a:solidFill>
                <a:latin typeface="Arial"/>
                <a:ea typeface="Arial"/>
                <a:cs typeface="Arial"/>
              </a:defRPr>
            </a:lvl8pPr>
            <a:lvl9pPr>
              <a:defRPr sz="1725" b="0">
                <a:solidFill>
                  <a:srgbClr val="69736A"/>
                </a:solidFill>
                <a:latin typeface="Arial"/>
                <a:ea typeface="Arial"/>
                <a:cs typeface="Arial"/>
              </a:defRPr>
            </a:lvl9pPr>
          </a:lstStyle>
          <a:p>
            <a:pPr>
              <a:defRPr sz="1725" b="0">
                <a:solidFill>
                  <a:srgbClr val="69736A"/>
                </a:solidFill>
                <a:latin typeface="Arial"/>
                <a:ea typeface="Arial"/>
                <a:cs typeface="Arial"/>
              </a:defRPr>
            </a:pPr>
            <a:r>
              <a:rPr sz="1725" b="0">
                <a:solidFill>
                  <a:srgbClr val="69736A"/>
                </a:solidFill>
                <a:latin typeface="Arial"/>
                <a:ea typeface="Arial"/>
                <a:cs typeface="Arial"/>
              </a:rPr>
              <a:t>Origin is always HYD.</a:t>
            </a:r>
          </a:p>
          <a:p>
            <a:pPr>
              <a:defRPr sz="1725" b="0">
                <a:solidFill>
                  <a:srgbClr val="69736A"/>
                </a:solidFill>
                <a:latin typeface="Arial"/>
                <a:ea typeface="Arial"/>
                <a:cs typeface="Arial"/>
              </a:defRPr>
            </a:pPr>
            <a:r>
              <a:rPr sz="1725" b="0">
                <a:solidFill>
                  <a:srgbClr val="69736A"/>
                </a:solidFill>
                <a:latin typeface="Arial"/>
                <a:ea typeface="Arial"/>
                <a:cs typeface="Arial"/>
              </a:rPr>
              <a:t>Its column remains unchanged.</a:t>
            </a:r>
          </a:p>
        </p:txBody>
      </p:sp>
      <p:sp>
        <p:nvSpPr>
          <p:cNvPr id="13" name="reveal-11">
            <a:extLst>
              <a:ext uri="{FF2B5EF4-FFF2-40B4-BE49-F238E27FC236}">
                <a16:creationId xmlns:a16="http://schemas.microsoft.com/office/drawing/2014/main" id="{109D22E5-1376-49C5-887D-5B2EB55E1DFD}"/>
              </a:ext>
            </a:extLst>
          </p:cNvPr>
          <p:cNvSpPr>
            <a:spLocks noGrp="1"/>
          </p:cNvSpPr>
          <p:nvPr/>
        </p:nvSpPr>
        <p:spPr>
          <a:xfrm>
            <a:off x="5905500" y="2505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departure_hour_ist</a:t>
            </a:r>
          </a:p>
        </p:txBody>
      </p:sp>
      <p:sp>
        <p:nvSpPr>
          <p:cNvPr id="14" name="background-12">
            <a:extLst>
              <a:ext uri="{FF2B5EF4-FFF2-40B4-BE49-F238E27FC236}">
                <a16:creationId xmlns:a16="http://schemas.microsoft.com/office/drawing/2014/main" id="{2EA1120A-09FB-408B-B68E-0E4F168B4ABC}"/>
              </a:ext>
            </a:extLst>
          </p:cNvPr>
          <p:cNvSpPr>
            <a:spLocks noGrp="1"/>
          </p:cNvSpPr>
          <p:nvPr/>
        </p:nvSpPr>
        <p:spPr>
          <a:xfrm>
            <a:off x="5905500" y="2857500"/>
            <a:ext cx="5524500" cy="9525"/>
          </a:xfrm>
          <a:prstGeom prst="rect">
            <a:avLst/>
          </a:prstGeom>
          <a:solidFill>
            <a:srgbClr val="D4D9CE"/>
          </a:solidFill>
          <a:ln w="0">
            <a:noFill/>
          </a:ln>
        </p:spPr>
      </p:sp>
      <p:sp>
        <p:nvSpPr>
          <p:cNvPr id="15" name="reveal-13">
            <a:extLst>
              <a:ext uri="{FF2B5EF4-FFF2-40B4-BE49-F238E27FC236}">
                <a16:creationId xmlns:a16="http://schemas.microsoft.com/office/drawing/2014/main" id="{9330E552-29CB-40BF-AB07-765B4A0498D8}"/>
              </a:ext>
            </a:extLst>
          </p:cNvPr>
          <p:cNvSpPr>
            <a:spLocks noGrp="1"/>
          </p:cNvSpPr>
          <p:nvPr/>
        </p:nvSpPr>
        <p:spPr>
          <a:xfrm>
            <a:off x="5905500" y="2886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day_of_week</a:t>
            </a:r>
          </a:p>
        </p:txBody>
      </p:sp>
      <p:sp>
        <p:nvSpPr>
          <p:cNvPr id="16" name="background-14">
            <a:extLst>
              <a:ext uri="{FF2B5EF4-FFF2-40B4-BE49-F238E27FC236}">
                <a16:creationId xmlns:a16="http://schemas.microsoft.com/office/drawing/2014/main" id="{D22F801D-A525-4543-9FD7-9DADF917540B}"/>
              </a:ext>
            </a:extLst>
          </p:cNvPr>
          <p:cNvSpPr>
            <a:spLocks noGrp="1"/>
          </p:cNvSpPr>
          <p:nvPr/>
        </p:nvSpPr>
        <p:spPr>
          <a:xfrm>
            <a:off x="5905500" y="3238500"/>
            <a:ext cx="5524500" cy="9525"/>
          </a:xfrm>
          <a:prstGeom prst="rect">
            <a:avLst/>
          </a:prstGeom>
          <a:solidFill>
            <a:srgbClr val="D4D9CE"/>
          </a:solidFill>
          <a:ln w="0">
            <a:noFill/>
          </a:ln>
        </p:spPr>
      </p:sp>
      <p:sp>
        <p:nvSpPr>
          <p:cNvPr id="17" name="reveal-15">
            <a:extLst>
              <a:ext uri="{FF2B5EF4-FFF2-40B4-BE49-F238E27FC236}">
                <a16:creationId xmlns:a16="http://schemas.microsoft.com/office/drawing/2014/main" id="{00DD6D90-0494-4FC4-9D64-8DB2A529E415}"/>
              </a:ext>
            </a:extLst>
          </p:cNvPr>
          <p:cNvSpPr>
            <a:spLocks noGrp="1"/>
          </p:cNvSpPr>
          <p:nvPr/>
        </p:nvSpPr>
        <p:spPr>
          <a:xfrm>
            <a:off x="5905500" y="3267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month</a:t>
            </a:r>
          </a:p>
        </p:txBody>
      </p:sp>
      <p:sp>
        <p:nvSpPr>
          <p:cNvPr id="18" name="background-16">
            <a:extLst>
              <a:ext uri="{FF2B5EF4-FFF2-40B4-BE49-F238E27FC236}">
                <a16:creationId xmlns:a16="http://schemas.microsoft.com/office/drawing/2014/main" id="{534F2EC9-89A5-478A-81CE-8942FB3CB2C6}"/>
              </a:ext>
            </a:extLst>
          </p:cNvPr>
          <p:cNvSpPr>
            <a:spLocks noGrp="1"/>
          </p:cNvSpPr>
          <p:nvPr/>
        </p:nvSpPr>
        <p:spPr>
          <a:xfrm>
            <a:off x="5905500" y="3619500"/>
            <a:ext cx="5524500" cy="9525"/>
          </a:xfrm>
          <a:prstGeom prst="rect">
            <a:avLst/>
          </a:prstGeom>
          <a:solidFill>
            <a:srgbClr val="D4D9CE"/>
          </a:solidFill>
          <a:ln w="0">
            <a:noFill/>
          </a:ln>
        </p:spPr>
      </p:sp>
      <p:sp>
        <p:nvSpPr>
          <p:cNvPr id="19" name="reveal-17">
            <a:extLst>
              <a:ext uri="{FF2B5EF4-FFF2-40B4-BE49-F238E27FC236}">
                <a16:creationId xmlns:a16="http://schemas.microsoft.com/office/drawing/2014/main" id="{0DF74406-ADED-415C-BD3B-7A5B67FFEA92}"/>
              </a:ext>
            </a:extLst>
          </p:cNvPr>
          <p:cNvSpPr>
            <a:spLocks noGrp="1"/>
          </p:cNvSpPr>
          <p:nvPr/>
        </p:nvSpPr>
        <p:spPr>
          <a:xfrm>
            <a:off x="5905500" y="3648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congestion_pct</a:t>
            </a:r>
          </a:p>
        </p:txBody>
      </p:sp>
      <p:sp>
        <p:nvSpPr>
          <p:cNvPr id="20" name="background-18">
            <a:extLst>
              <a:ext uri="{FF2B5EF4-FFF2-40B4-BE49-F238E27FC236}">
                <a16:creationId xmlns:a16="http://schemas.microsoft.com/office/drawing/2014/main" id="{9CB4243C-6A4D-47C6-96A5-F9965BF4B170}"/>
              </a:ext>
            </a:extLst>
          </p:cNvPr>
          <p:cNvSpPr>
            <a:spLocks noGrp="1"/>
          </p:cNvSpPr>
          <p:nvPr/>
        </p:nvSpPr>
        <p:spPr>
          <a:xfrm>
            <a:off x="5905500" y="4000500"/>
            <a:ext cx="5524500" cy="9525"/>
          </a:xfrm>
          <a:prstGeom prst="rect">
            <a:avLst/>
          </a:prstGeom>
          <a:solidFill>
            <a:srgbClr val="D4D9CE"/>
          </a:solidFill>
          <a:ln w="0">
            <a:noFill/>
          </a:ln>
        </p:spPr>
      </p:sp>
      <p:sp>
        <p:nvSpPr>
          <p:cNvPr id="21" name="reveal-19">
            <a:extLst>
              <a:ext uri="{FF2B5EF4-FFF2-40B4-BE49-F238E27FC236}">
                <a16:creationId xmlns:a16="http://schemas.microsoft.com/office/drawing/2014/main" id="{CD124D39-C0E3-4D24-A2B0-3446F5F75AD1}"/>
              </a:ext>
            </a:extLst>
          </p:cNvPr>
          <p:cNvSpPr>
            <a:spLocks noGrp="1"/>
          </p:cNvSpPr>
          <p:nvPr/>
        </p:nvSpPr>
        <p:spPr>
          <a:xfrm>
            <a:off x="5905500" y="4029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incoming_delay_minutes</a:t>
            </a:r>
          </a:p>
        </p:txBody>
      </p:sp>
      <p:sp>
        <p:nvSpPr>
          <p:cNvPr id="22" name="background-20">
            <a:extLst>
              <a:ext uri="{FF2B5EF4-FFF2-40B4-BE49-F238E27FC236}">
                <a16:creationId xmlns:a16="http://schemas.microsoft.com/office/drawing/2014/main" id="{F3BC5024-4CB5-4F17-9C8C-8529EC2401AC}"/>
              </a:ext>
            </a:extLst>
          </p:cNvPr>
          <p:cNvSpPr>
            <a:spLocks noGrp="1"/>
          </p:cNvSpPr>
          <p:nvPr/>
        </p:nvSpPr>
        <p:spPr>
          <a:xfrm>
            <a:off x="5905500" y="4381500"/>
            <a:ext cx="5524500" cy="9525"/>
          </a:xfrm>
          <a:prstGeom prst="rect">
            <a:avLst/>
          </a:prstGeom>
          <a:solidFill>
            <a:srgbClr val="D4D9CE"/>
          </a:solidFill>
          <a:ln w="0">
            <a:noFill/>
          </a:ln>
        </p:spPr>
      </p:sp>
      <p:sp>
        <p:nvSpPr>
          <p:cNvPr id="23" name="reveal-21">
            <a:extLst>
              <a:ext uri="{FF2B5EF4-FFF2-40B4-BE49-F238E27FC236}">
                <a16:creationId xmlns:a16="http://schemas.microsoft.com/office/drawing/2014/main" id="{00A21233-F0F0-4C32-BF85-C42CD407DF57}"/>
              </a:ext>
            </a:extLst>
          </p:cNvPr>
          <p:cNvSpPr>
            <a:spLocks noGrp="1"/>
          </p:cNvSpPr>
          <p:nvPr/>
        </p:nvSpPr>
        <p:spPr>
          <a:xfrm>
            <a:off x="5905500" y="4410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distance_km</a:t>
            </a:r>
          </a:p>
        </p:txBody>
      </p:sp>
      <p:sp>
        <p:nvSpPr>
          <p:cNvPr id="24" name="background-22">
            <a:extLst>
              <a:ext uri="{FF2B5EF4-FFF2-40B4-BE49-F238E27FC236}">
                <a16:creationId xmlns:a16="http://schemas.microsoft.com/office/drawing/2014/main" id="{39250815-5BEC-41D0-9B0B-3EF03279951E}"/>
              </a:ext>
            </a:extLst>
          </p:cNvPr>
          <p:cNvSpPr>
            <a:spLocks noGrp="1"/>
          </p:cNvSpPr>
          <p:nvPr/>
        </p:nvSpPr>
        <p:spPr>
          <a:xfrm>
            <a:off x="5905500" y="4762500"/>
            <a:ext cx="5524500" cy="9525"/>
          </a:xfrm>
          <a:prstGeom prst="rect">
            <a:avLst/>
          </a:prstGeom>
          <a:solidFill>
            <a:srgbClr val="D4D9CE"/>
          </a:solidFill>
          <a:ln w="0">
            <a:noFill/>
          </a:ln>
        </p:spPr>
      </p:sp>
      <p:sp>
        <p:nvSpPr>
          <p:cNvPr id="25" name="reveal-23">
            <a:extLst>
              <a:ext uri="{FF2B5EF4-FFF2-40B4-BE49-F238E27FC236}">
                <a16:creationId xmlns:a16="http://schemas.microsoft.com/office/drawing/2014/main" id="{01924DCF-31FE-4E66-8B45-E8157F79843F}"/>
              </a:ext>
            </a:extLst>
          </p:cNvPr>
          <p:cNvSpPr>
            <a:spLocks noGrp="1"/>
          </p:cNvSpPr>
          <p:nvPr/>
        </p:nvSpPr>
        <p:spPr>
          <a:xfrm>
            <a:off x="5905500" y="4791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scheduled_duration_minutes</a:t>
            </a:r>
          </a:p>
        </p:txBody>
      </p:sp>
      <p:sp>
        <p:nvSpPr>
          <p:cNvPr id="26" name="background-24">
            <a:extLst>
              <a:ext uri="{FF2B5EF4-FFF2-40B4-BE49-F238E27FC236}">
                <a16:creationId xmlns:a16="http://schemas.microsoft.com/office/drawing/2014/main" id="{22E5B35A-E926-4515-9620-1B04064B34E8}"/>
              </a:ext>
            </a:extLst>
          </p:cNvPr>
          <p:cNvSpPr>
            <a:spLocks noGrp="1"/>
          </p:cNvSpPr>
          <p:nvPr/>
        </p:nvSpPr>
        <p:spPr>
          <a:xfrm>
            <a:off x="5905500" y="5143500"/>
            <a:ext cx="5524500" cy="9525"/>
          </a:xfrm>
          <a:prstGeom prst="rect">
            <a:avLst/>
          </a:prstGeom>
          <a:solidFill>
            <a:srgbClr val="D4D9CE"/>
          </a:solidFill>
          <a:ln w="0">
            <a:noFill/>
          </a:ln>
        </p:spPr>
      </p:sp>
      <p:sp>
        <p:nvSpPr>
          <p:cNvPr id="27" name="body-4-25">
            <a:extLst>
              <a:ext uri="{FF2B5EF4-FFF2-40B4-BE49-F238E27FC236}">
                <a16:creationId xmlns:a16="http://schemas.microsoft.com/office/drawing/2014/main" id="{F1435E22-126E-44EF-A29D-94FDA04A0D50}"/>
              </a:ext>
            </a:extLst>
          </p:cNvPr>
          <p:cNvSpPr>
            <a:spLocks noGrp="1"/>
          </p:cNvSpPr>
          <p:nvPr/>
        </p:nvSpPr>
        <p:spPr>
          <a:xfrm>
            <a:off x="552450" y="5314950"/>
            <a:ext cx="11087100" cy="400050"/>
          </a:xfrm>
          <a:prstGeom prst="rect">
            <a:avLst/>
          </a:prstGeom>
          <a:noFill/>
          <a:ln w="0">
            <a:noFill/>
          </a:ln>
        </p:spPr>
        <p:txBody>
          <a:bodyPr wrap="square" lIns="0" tIns="0" rIns="0" bIns="0" anchor="t">
            <a:noAutofit/>
          </a:bodyPr>
          <a:lstStyle>
            <a:defPPr>
              <a:defRPr sz="2025" b="1">
                <a:solidFill>
                  <a:srgbClr val="B98251"/>
                </a:solidFill>
                <a:latin typeface="Arial"/>
                <a:ea typeface="Arial"/>
                <a:cs typeface="Arial"/>
              </a:defRPr>
            </a:defPPr>
            <a:lvl1pPr>
              <a:defRPr sz="2025" b="1">
                <a:solidFill>
                  <a:srgbClr val="B98251"/>
                </a:solidFill>
                <a:latin typeface="Arial"/>
                <a:ea typeface="Arial"/>
                <a:cs typeface="Arial"/>
              </a:defRPr>
            </a:lvl1pPr>
            <a:lvl2pPr>
              <a:defRPr sz="2025" b="1">
                <a:solidFill>
                  <a:srgbClr val="B98251"/>
                </a:solidFill>
                <a:latin typeface="Arial"/>
                <a:ea typeface="Arial"/>
                <a:cs typeface="Arial"/>
              </a:defRPr>
            </a:lvl2pPr>
            <a:lvl3pPr>
              <a:defRPr sz="2025" b="1">
                <a:solidFill>
                  <a:srgbClr val="B98251"/>
                </a:solidFill>
                <a:latin typeface="Arial"/>
                <a:ea typeface="Arial"/>
                <a:cs typeface="Arial"/>
              </a:defRPr>
            </a:lvl3pPr>
            <a:lvl4pPr>
              <a:defRPr sz="2025" b="1">
                <a:solidFill>
                  <a:srgbClr val="B98251"/>
                </a:solidFill>
                <a:latin typeface="Arial"/>
                <a:ea typeface="Arial"/>
                <a:cs typeface="Arial"/>
              </a:defRPr>
            </a:lvl4pPr>
            <a:lvl5pPr>
              <a:defRPr sz="2025" b="1">
                <a:solidFill>
                  <a:srgbClr val="B98251"/>
                </a:solidFill>
                <a:latin typeface="Arial"/>
                <a:ea typeface="Arial"/>
                <a:cs typeface="Arial"/>
              </a:defRPr>
            </a:lvl5pPr>
            <a:lvl6pPr>
              <a:defRPr sz="2025" b="1">
                <a:solidFill>
                  <a:srgbClr val="B98251"/>
                </a:solidFill>
                <a:latin typeface="Arial"/>
                <a:ea typeface="Arial"/>
                <a:cs typeface="Arial"/>
              </a:defRPr>
            </a:lvl6pPr>
            <a:lvl7pPr>
              <a:defRPr sz="2025" b="1">
                <a:solidFill>
                  <a:srgbClr val="B98251"/>
                </a:solidFill>
                <a:latin typeface="Arial"/>
                <a:ea typeface="Arial"/>
                <a:cs typeface="Arial"/>
              </a:defRPr>
            </a:lvl7pPr>
            <a:lvl8pPr>
              <a:defRPr sz="2025" b="1">
                <a:solidFill>
                  <a:srgbClr val="B98251"/>
                </a:solidFill>
                <a:latin typeface="Arial"/>
                <a:ea typeface="Arial"/>
                <a:cs typeface="Arial"/>
              </a:defRPr>
            </a:lvl8pPr>
            <a:lvl9pPr>
              <a:defRPr sz="2025" b="1">
                <a:solidFill>
                  <a:srgbClr val="B98251"/>
                </a:solidFill>
                <a:latin typeface="Arial"/>
                <a:ea typeface="Arial"/>
                <a:cs typeface="Arial"/>
              </a:defRPr>
            </a:lvl9pPr>
          </a:lstStyle>
          <a:p>
            <a:pPr>
              <a:defRPr sz="2025" b="1">
                <a:solidFill>
                  <a:srgbClr val="B98251"/>
                </a:solidFill>
                <a:latin typeface="Arial"/>
                <a:ea typeface="Arial"/>
                <a:cs typeface="Arial"/>
              </a:defRPr>
            </a:pPr>
            <a:r>
              <a:rPr sz="2025" b="1">
                <a:solidFill>
                  <a:srgbClr val="B98251"/>
                </a:solidFill>
                <a:latin typeface="Arial"/>
                <a:ea typeface="Arial"/>
                <a:cs typeface="Arial"/>
              </a:rPr>
              <a:t>6,000 synthetic records    4,200 train / 900 validation / 900 test</a:t>
            </a:r>
          </a:p>
        </p:txBody>
      </p:sp>
      <p:sp>
        <p:nvSpPr>
          <p:cNvPr id="28" name="body-5-26">
            <a:extLst>
              <a:ext uri="{FF2B5EF4-FFF2-40B4-BE49-F238E27FC236}">
                <a16:creationId xmlns:a16="http://schemas.microsoft.com/office/drawing/2014/main" id="{2BE20609-B0F6-4F07-95C7-6DA2C62ADF84}"/>
              </a:ext>
            </a:extLst>
          </p:cNvPr>
          <p:cNvSpPr>
            <a:spLocks noGrp="1"/>
          </p:cNvSpPr>
          <p:nvPr/>
        </p:nvSpPr>
        <p:spPr>
          <a:xfrm>
            <a:off x="552450" y="5791200"/>
            <a:ext cx="11087100" cy="409575"/>
          </a:xfrm>
          <a:prstGeom prst="rect">
            <a:avLst/>
          </a:prstGeom>
          <a:noFill/>
          <a:ln w="0">
            <a:noFill/>
          </a:ln>
        </p:spPr>
        <p:txBody>
          <a:bodyPr wrap="square" lIns="0" tIns="0" rIns="0" bIns="0" anchor="t">
            <a:noAutofit/>
          </a:bodyPr>
          <a:lstStyle>
            <a:defPPr>
              <a:defRPr sz="1650" b="0">
                <a:solidFill>
                  <a:srgbClr val="69736A"/>
                </a:solidFill>
                <a:latin typeface="Arial"/>
                <a:ea typeface="Arial"/>
                <a:cs typeface="Arial"/>
              </a:defRPr>
            </a:defPPr>
            <a:lvl1pPr>
              <a:defRPr sz="1650" b="0">
                <a:solidFill>
                  <a:srgbClr val="69736A"/>
                </a:solidFill>
                <a:latin typeface="Arial"/>
                <a:ea typeface="Arial"/>
                <a:cs typeface="Arial"/>
              </a:defRPr>
            </a:lvl1pPr>
            <a:lvl2pPr>
              <a:defRPr sz="1650" b="0">
                <a:solidFill>
                  <a:srgbClr val="69736A"/>
                </a:solidFill>
                <a:latin typeface="Arial"/>
                <a:ea typeface="Arial"/>
                <a:cs typeface="Arial"/>
              </a:defRPr>
            </a:lvl2pPr>
            <a:lvl3pPr>
              <a:defRPr sz="1650" b="0">
                <a:solidFill>
                  <a:srgbClr val="69736A"/>
                </a:solidFill>
                <a:latin typeface="Arial"/>
                <a:ea typeface="Arial"/>
                <a:cs typeface="Arial"/>
              </a:defRPr>
            </a:lvl3pPr>
            <a:lvl4pPr>
              <a:defRPr sz="1650" b="0">
                <a:solidFill>
                  <a:srgbClr val="69736A"/>
                </a:solidFill>
                <a:latin typeface="Arial"/>
                <a:ea typeface="Arial"/>
                <a:cs typeface="Arial"/>
              </a:defRPr>
            </a:lvl4pPr>
            <a:lvl5pPr>
              <a:defRPr sz="1650" b="0">
                <a:solidFill>
                  <a:srgbClr val="69736A"/>
                </a:solidFill>
                <a:latin typeface="Arial"/>
                <a:ea typeface="Arial"/>
                <a:cs typeface="Arial"/>
              </a:defRPr>
            </a:lvl5pPr>
            <a:lvl6pPr>
              <a:defRPr sz="1650" b="0">
                <a:solidFill>
                  <a:srgbClr val="69736A"/>
                </a:solidFill>
                <a:latin typeface="Arial"/>
                <a:ea typeface="Arial"/>
                <a:cs typeface="Arial"/>
              </a:defRPr>
            </a:lvl6pPr>
            <a:lvl7pPr>
              <a:defRPr sz="1650" b="0">
                <a:solidFill>
                  <a:srgbClr val="69736A"/>
                </a:solidFill>
                <a:latin typeface="Arial"/>
                <a:ea typeface="Arial"/>
                <a:cs typeface="Arial"/>
              </a:defRPr>
            </a:lvl7pPr>
            <a:lvl8pPr>
              <a:defRPr sz="1650" b="0">
                <a:solidFill>
                  <a:srgbClr val="69736A"/>
                </a:solidFill>
                <a:latin typeface="Arial"/>
                <a:ea typeface="Arial"/>
                <a:cs typeface="Arial"/>
              </a:defRPr>
            </a:lvl8pPr>
            <a:lvl9pPr>
              <a:defRPr sz="1650" b="0">
                <a:solidFill>
                  <a:srgbClr val="69736A"/>
                </a:solidFill>
                <a:latin typeface="Arial"/>
                <a:ea typeface="Arial"/>
                <a:cs typeface="Arial"/>
              </a:defRPr>
            </a:lvl9pPr>
          </a:lstStyle>
          <a:p>
            <a:pPr>
              <a:defRPr sz="1650" b="0">
                <a:solidFill>
                  <a:srgbClr val="69736A"/>
                </a:solidFill>
                <a:latin typeface="Arial"/>
                <a:ea typeface="Arial"/>
                <a:cs typeface="Arial"/>
              </a:defRPr>
            </a:pPr>
            <a:r>
              <a:rPr sz="1650" b="0">
                <a:solidFill>
                  <a:srgbClr val="69736A"/>
                </a:solidFill>
                <a:latin typeface="Arial"/>
                <a:ea typeface="Arial"/>
                <a:cs typeface="Arial"/>
              </a:rPr>
              <a:t>Targets: delayed_15_plus and departure_delay_minutes. Both stay out of the input features.</a:t>
            </a:r>
          </a:p>
        </p:txBody>
      </p:sp>
    </p:spTree>
    <p:extLst>
      <p:ext uri="{BB962C8B-B14F-4D97-AF65-F5344CB8AC3E}">
        <p14:creationId xmlns:p14="http://schemas.microsoft.com/office/powerpoint/2010/main" val="111835553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30"/>
                                        <p:tgtEl>
                                          <p:spTgt spid="11"/>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30"/>
                                        <p:tgtEl>
                                          <p:spTgt spid="12"/>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30"/>
                                        <p:tgtEl>
                                          <p:spTgt spid="13"/>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30"/>
                                        <p:tgtEl>
                                          <p:spTgt spid="15"/>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30"/>
                                        <p:tgtEl>
                                          <p:spTgt spid="17"/>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130"/>
                                        <p:tgtEl>
                                          <p:spTgt spid="19"/>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30"/>
                                        <p:tgtEl>
                                          <p:spTgt spid="21"/>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30"/>
                                        <p:tgtEl>
                                          <p:spTgt spid="23"/>
                                        </p:tgtEl>
                                      </p:cBhvr>
                                    </p:animEffect>
                                  </p:childTnLst>
                                </p:cTn>
                              </p:par>
                            </p:childTnLst>
                          </p:cTn>
                        </p:par>
                        <p:par>
                          <p:cTn id="56" fill="hold">
                            <p:stCondLst>
                              <p:cond delay="196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30"/>
                                        <p:tgtEl>
                                          <p:spTgt spid="25"/>
                                        </p:tgtEl>
                                      </p:cBhvr>
                                    </p:animEffect>
                                  </p:childTnLst>
                                </p:cTn>
                              </p:par>
                            </p:childTnLst>
                          </p:cTn>
                        </p:par>
                        <p:par>
                          <p:cTn id="60" fill="hold">
                            <p:stCondLst>
                              <p:cond delay="2090"/>
                            </p:stCondLst>
                            <p:childTnLst>
                              <p:par>
                                <p:cTn id="61" presetID="10" presetClass="entr" presetSubtype="0"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30"/>
                                        <p:tgtEl>
                                          <p:spTgt spid="27"/>
                                        </p:tgtEl>
                                      </p:cBhvr>
                                    </p:animEffect>
                                  </p:childTnLst>
                                </p:cTn>
                              </p:par>
                            </p:childTnLst>
                          </p:cTn>
                        </p:par>
                        <p:par>
                          <p:cTn id="64" fill="hold">
                            <p:stCondLst>
                              <p:cond delay="2220"/>
                            </p:stCondLst>
                            <p:childTnLst>
                              <p:par>
                                <p:cTn id="65" presetID="10" presetClass="entr" presetSubtype="0"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13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5" grpId="0"/>
      <p:bldP spid="17" grpId="0"/>
      <p:bldP spid="19" grpId="0"/>
      <p:bldP spid="21" grpId="0"/>
      <p:bldP spid="23" grpId="0"/>
      <p:bldP spid="25"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EC103CB2-0319-4C1F-8CF0-49933385659A}"/>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6C849686-ACFC-4C29-9D97-65F15E542FD0}"/>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PROJECT PRESENTATION</a:t>
            </a:r>
          </a:p>
        </p:txBody>
      </p:sp>
      <p:sp>
        <p:nvSpPr>
          <p:cNvPr id="4" name="footer-3-2">
            <a:extLst>
              <a:ext uri="{FF2B5EF4-FFF2-40B4-BE49-F238E27FC236}">
                <a16:creationId xmlns:a16="http://schemas.microsoft.com/office/drawing/2014/main" id="{4D129EB2-0B41-475B-93BE-AD93E6D86089}"/>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07 / 12</a:t>
            </a:r>
          </a:p>
        </p:txBody>
      </p:sp>
      <p:sp>
        <p:nvSpPr>
          <p:cNvPr id="5" name="title-1-3">
            <a:extLst>
              <a:ext uri="{FF2B5EF4-FFF2-40B4-BE49-F238E27FC236}">
                <a16:creationId xmlns:a16="http://schemas.microsoft.com/office/drawing/2014/main" id="{14D86ADA-88E1-4F22-98CE-155C6E3EAC8A}"/>
              </a:ext>
            </a:extLst>
          </p:cNvPr>
          <p:cNvSpPr>
            <a:spLocks noGrp="1"/>
          </p:cNvSpPr>
          <p:nvPr/>
        </p:nvSpPr>
        <p:spPr>
          <a:xfrm>
            <a:off x="552450" y="752475"/>
            <a:ext cx="4191000" cy="1028700"/>
          </a:xfrm>
          <a:prstGeom prst="rect">
            <a:avLst/>
          </a:prstGeom>
          <a:noFill/>
          <a:ln w="0">
            <a:noFill/>
          </a:ln>
        </p:spPr>
        <p:txBody>
          <a:bodyPr wrap="square" lIns="0" tIns="0" rIns="0" bIns="0" anchor="t">
            <a:noAutofit/>
          </a:bodyPr>
          <a:lstStyle>
            <a:defPPr>
              <a:defRPr sz="3975" b="1">
                <a:solidFill>
                  <a:srgbClr val="F4F1E9"/>
                </a:solidFill>
                <a:latin typeface="Arial"/>
                <a:ea typeface="Arial"/>
                <a:cs typeface="Arial"/>
              </a:defRPr>
            </a:defPPr>
            <a:lvl1pPr>
              <a:defRPr sz="3975" b="1">
                <a:solidFill>
                  <a:srgbClr val="F4F1E9"/>
                </a:solidFill>
                <a:latin typeface="Arial"/>
                <a:ea typeface="Arial"/>
                <a:cs typeface="Arial"/>
              </a:defRPr>
            </a:lvl1pPr>
            <a:lvl2pPr>
              <a:defRPr sz="3975" b="1">
                <a:solidFill>
                  <a:srgbClr val="F4F1E9"/>
                </a:solidFill>
                <a:latin typeface="Arial"/>
                <a:ea typeface="Arial"/>
                <a:cs typeface="Arial"/>
              </a:defRPr>
            </a:lvl2pPr>
            <a:lvl3pPr>
              <a:defRPr sz="3975" b="1">
                <a:solidFill>
                  <a:srgbClr val="F4F1E9"/>
                </a:solidFill>
                <a:latin typeface="Arial"/>
                <a:ea typeface="Arial"/>
                <a:cs typeface="Arial"/>
              </a:defRPr>
            </a:lvl3pPr>
            <a:lvl4pPr>
              <a:defRPr sz="3975" b="1">
                <a:solidFill>
                  <a:srgbClr val="F4F1E9"/>
                </a:solidFill>
                <a:latin typeface="Arial"/>
                <a:ea typeface="Arial"/>
                <a:cs typeface="Arial"/>
              </a:defRPr>
            </a:lvl4pPr>
            <a:lvl5pPr>
              <a:defRPr sz="3975" b="1">
                <a:solidFill>
                  <a:srgbClr val="F4F1E9"/>
                </a:solidFill>
                <a:latin typeface="Arial"/>
                <a:ea typeface="Arial"/>
                <a:cs typeface="Arial"/>
              </a:defRPr>
            </a:lvl5pPr>
            <a:lvl6pPr>
              <a:defRPr sz="3975" b="1">
                <a:solidFill>
                  <a:srgbClr val="F4F1E9"/>
                </a:solidFill>
                <a:latin typeface="Arial"/>
                <a:ea typeface="Arial"/>
                <a:cs typeface="Arial"/>
              </a:defRPr>
            </a:lvl6pPr>
            <a:lvl7pPr>
              <a:defRPr sz="3975" b="1">
                <a:solidFill>
                  <a:srgbClr val="F4F1E9"/>
                </a:solidFill>
                <a:latin typeface="Arial"/>
                <a:ea typeface="Arial"/>
                <a:cs typeface="Arial"/>
              </a:defRPr>
            </a:lvl7pPr>
            <a:lvl8pPr>
              <a:defRPr sz="3975" b="1">
                <a:solidFill>
                  <a:srgbClr val="F4F1E9"/>
                </a:solidFill>
                <a:latin typeface="Arial"/>
                <a:ea typeface="Arial"/>
                <a:cs typeface="Arial"/>
              </a:defRPr>
            </a:lvl8pPr>
            <a:lvl9pPr>
              <a:defRPr sz="3975" b="1">
                <a:solidFill>
                  <a:srgbClr val="F4F1E9"/>
                </a:solidFill>
                <a:latin typeface="Arial"/>
                <a:ea typeface="Arial"/>
                <a:cs typeface="Arial"/>
              </a:defRPr>
            </a:lvl9pPr>
          </a:lstStyle>
          <a:p>
            <a:pPr>
              <a:defRPr sz="3975" b="1">
                <a:solidFill>
                  <a:srgbClr val="F4F1E9"/>
                </a:solidFill>
                <a:latin typeface="Arial"/>
                <a:ea typeface="Arial"/>
                <a:cs typeface="Arial"/>
              </a:defRPr>
            </a:pPr>
            <a:r>
              <a:rPr sz="3975" b="1">
                <a:solidFill>
                  <a:srgbClr val="F4F1E9"/>
                </a:solidFill>
                <a:latin typeface="Arial"/>
                <a:ea typeface="Arial"/>
                <a:cs typeface="Arial"/>
              </a:rPr>
              <a:t>Methodology</a:t>
            </a:r>
          </a:p>
        </p:txBody>
      </p:sp>
      <p:sp>
        <p:nvSpPr>
          <p:cNvPr id="6" name="background-4">
            <a:extLst>
              <a:ext uri="{FF2B5EF4-FFF2-40B4-BE49-F238E27FC236}">
                <a16:creationId xmlns:a16="http://schemas.microsoft.com/office/drawing/2014/main" id="{821190B6-8BCC-4A2C-8795-AE32E1233801}"/>
              </a:ext>
            </a:extLst>
          </p:cNvPr>
          <p:cNvSpPr>
            <a:spLocks noGrp="1"/>
          </p:cNvSpPr>
          <p:nvPr/>
        </p:nvSpPr>
        <p:spPr>
          <a:xfrm>
            <a:off x="552450" y="6257925"/>
            <a:ext cx="9906000" cy="9525"/>
          </a:xfrm>
          <a:prstGeom prst="rect">
            <a:avLst/>
          </a:prstGeom>
          <a:solidFill>
            <a:srgbClr val="435046"/>
          </a:solidFill>
          <a:ln w="0">
            <a:noFill/>
          </a:ln>
        </p:spPr>
      </p:sp>
      <p:sp>
        <p:nvSpPr>
          <p:cNvPr id="7" name="reveal-5">
            <a:extLst>
              <a:ext uri="{FF2B5EF4-FFF2-40B4-BE49-F238E27FC236}">
                <a16:creationId xmlns:a16="http://schemas.microsoft.com/office/drawing/2014/main" id="{24D6C333-50CA-4328-9271-117DF4F676A0}"/>
              </a:ext>
            </a:extLst>
          </p:cNvPr>
          <p:cNvSpPr>
            <a:spLocks noGrp="1"/>
          </p:cNvSpPr>
          <p:nvPr/>
        </p:nvSpPr>
        <p:spPr>
          <a:xfrm>
            <a:off x="552450" y="1981200"/>
            <a:ext cx="2809875" cy="266700"/>
          </a:xfrm>
          <a:prstGeom prst="rect">
            <a:avLst/>
          </a:prstGeom>
          <a:noFill/>
          <a:ln w="0">
            <a:noFill/>
          </a:ln>
        </p:spPr>
        <p:txBody>
          <a:bodyPr wrap="square" lIns="0" tIns="0" rIns="0" bIns="0" anchor="t">
            <a:noAutofit/>
          </a:bodyPr>
          <a:lstStyle>
            <a:defPPr>
              <a:defRPr sz="1425" b="1">
                <a:solidFill>
                  <a:srgbClr val="D5AF83"/>
                </a:solidFill>
                <a:latin typeface="Arial"/>
                <a:ea typeface="Arial"/>
                <a:cs typeface="Arial"/>
              </a:defRPr>
            </a:defPPr>
            <a:lvl1pPr>
              <a:defRPr sz="1425" b="1">
                <a:solidFill>
                  <a:srgbClr val="D5AF83"/>
                </a:solidFill>
                <a:latin typeface="Arial"/>
                <a:ea typeface="Arial"/>
                <a:cs typeface="Arial"/>
              </a:defRPr>
            </a:lvl1pPr>
            <a:lvl2pPr>
              <a:defRPr sz="1425" b="1">
                <a:solidFill>
                  <a:srgbClr val="D5AF83"/>
                </a:solidFill>
                <a:latin typeface="Arial"/>
                <a:ea typeface="Arial"/>
                <a:cs typeface="Arial"/>
              </a:defRPr>
            </a:lvl2pPr>
            <a:lvl3pPr>
              <a:defRPr sz="1425" b="1">
                <a:solidFill>
                  <a:srgbClr val="D5AF83"/>
                </a:solidFill>
                <a:latin typeface="Arial"/>
                <a:ea typeface="Arial"/>
                <a:cs typeface="Arial"/>
              </a:defRPr>
            </a:lvl3pPr>
            <a:lvl4pPr>
              <a:defRPr sz="1425" b="1">
                <a:solidFill>
                  <a:srgbClr val="D5AF83"/>
                </a:solidFill>
                <a:latin typeface="Arial"/>
                <a:ea typeface="Arial"/>
                <a:cs typeface="Arial"/>
              </a:defRPr>
            </a:lvl4pPr>
            <a:lvl5pPr>
              <a:defRPr sz="1425" b="1">
                <a:solidFill>
                  <a:srgbClr val="D5AF83"/>
                </a:solidFill>
                <a:latin typeface="Arial"/>
                <a:ea typeface="Arial"/>
                <a:cs typeface="Arial"/>
              </a:defRPr>
            </a:lvl5pPr>
            <a:lvl6pPr>
              <a:defRPr sz="1425" b="1">
                <a:solidFill>
                  <a:srgbClr val="D5AF83"/>
                </a:solidFill>
                <a:latin typeface="Arial"/>
                <a:ea typeface="Arial"/>
                <a:cs typeface="Arial"/>
              </a:defRPr>
            </a:lvl6pPr>
            <a:lvl7pPr>
              <a:defRPr sz="1425" b="1">
                <a:solidFill>
                  <a:srgbClr val="D5AF83"/>
                </a:solidFill>
                <a:latin typeface="Arial"/>
                <a:ea typeface="Arial"/>
                <a:cs typeface="Arial"/>
              </a:defRPr>
            </a:lvl7pPr>
            <a:lvl8pPr>
              <a:defRPr sz="1425" b="1">
                <a:solidFill>
                  <a:srgbClr val="D5AF83"/>
                </a:solidFill>
                <a:latin typeface="Arial"/>
                <a:ea typeface="Arial"/>
                <a:cs typeface="Arial"/>
              </a:defRPr>
            </a:lvl8pPr>
            <a:lvl9pPr>
              <a:defRPr sz="1425" b="1">
                <a:solidFill>
                  <a:srgbClr val="D5AF83"/>
                </a:solidFill>
                <a:latin typeface="Arial"/>
                <a:ea typeface="Arial"/>
                <a:cs typeface="Arial"/>
              </a:defRPr>
            </a:lvl9pPr>
          </a:lstStyle>
          <a:p>
            <a:pPr>
              <a:defRPr sz="1425" b="1">
                <a:solidFill>
                  <a:srgbClr val="D5AF83"/>
                </a:solidFill>
                <a:latin typeface="Arial"/>
                <a:ea typeface="Arial"/>
                <a:cs typeface="Arial"/>
              </a:defRPr>
            </a:pPr>
            <a:r>
              <a:rPr sz="1425" b="1">
                <a:solidFill>
                  <a:srgbClr val="D5AF83"/>
                </a:solidFill>
                <a:latin typeface="Arial"/>
                <a:ea typeface="Arial"/>
                <a:cs typeface="Arial"/>
              </a:rPr>
              <a:t>Stage</a:t>
            </a:r>
          </a:p>
        </p:txBody>
      </p:sp>
      <p:sp>
        <p:nvSpPr>
          <p:cNvPr id="8" name="reveal-6">
            <a:extLst>
              <a:ext uri="{FF2B5EF4-FFF2-40B4-BE49-F238E27FC236}">
                <a16:creationId xmlns:a16="http://schemas.microsoft.com/office/drawing/2014/main" id="{B642C250-97B1-410B-9ACF-8EB5B213F4B5}"/>
              </a:ext>
            </a:extLst>
          </p:cNvPr>
          <p:cNvSpPr>
            <a:spLocks noGrp="1"/>
          </p:cNvSpPr>
          <p:nvPr/>
        </p:nvSpPr>
        <p:spPr>
          <a:xfrm>
            <a:off x="4438650" y="1981200"/>
            <a:ext cx="7124700" cy="266700"/>
          </a:xfrm>
          <a:prstGeom prst="rect">
            <a:avLst/>
          </a:prstGeom>
          <a:noFill/>
          <a:ln w="0">
            <a:noFill/>
          </a:ln>
        </p:spPr>
        <p:txBody>
          <a:bodyPr wrap="square" lIns="0" tIns="0" rIns="0" bIns="0" anchor="t">
            <a:noAutofit/>
          </a:bodyPr>
          <a:lstStyle>
            <a:defPPr>
              <a:defRPr sz="1425" b="1">
                <a:solidFill>
                  <a:srgbClr val="D5AF83"/>
                </a:solidFill>
                <a:latin typeface="Arial"/>
                <a:ea typeface="Arial"/>
                <a:cs typeface="Arial"/>
              </a:defRPr>
            </a:defPPr>
            <a:lvl1pPr>
              <a:defRPr sz="1425" b="1">
                <a:solidFill>
                  <a:srgbClr val="D5AF83"/>
                </a:solidFill>
                <a:latin typeface="Arial"/>
                <a:ea typeface="Arial"/>
                <a:cs typeface="Arial"/>
              </a:defRPr>
            </a:lvl1pPr>
            <a:lvl2pPr>
              <a:defRPr sz="1425" b="1">
                <a:solidFill>
                  <a:srgbClr val="D5AF83"/>
                </a:solidFill>
                <a:latin typeface="Arial"/>
                <a:ea typeface="Arial"/>
                <a:cs typeface="Arial"/>
              </a:defRPr>
            </a:lvl2pPr>
            <a:lvl3pPr>
              <a:defRPr sz="1425" b="1">
                <a:solidFill>
                  <a:srgbClr val="D5AF83"/>
                </a:solidFill>
                <a:latin typeface="Arial"/>
                <a:ea typeface="Arial"/>
                <a:cs typeface="Arial"/>
              </a:defRPr>
            </a:lvl3pPr>
            <a:lvl4pPr>
              <a:defRPr sz="1425" b="1">
                <a:solidFill>
                  <a:srgbClr val="D5AF83"/>
                </a:solidFill>
                <a:latin typeface="Arial"/>
                <a:ea typeface="Arial"/>
                <a:cs typeface="Arial"/>
              </a:defRPr>
            </a:lvl4pPr>
            <a:lvl5pPr>
              <a:defRPr sz="1425" b="1">
                <a:solidFill>
                  <a:srgbClr val="D5AF83"/>
                </a:solidFill>
                <a:latin typeface="Arial"/>
                <a:ea typeface="Arial"/>
                <a:cs typeface="Arial"/>
              </a:defRPr>
            </a:lvl5pPr>
            <a:lvl6pPr>
              <a:defRPr sz="1425" b="1">
                <a:solidFill>
                  <a:srgbClr val="D5AF83"/>
                </a:solidFill>
                <a:latin typeface="Arial"/>
                <a:ea typeface="Arial"/>
                <a:cs typeface="Arial"/>
              </a:defRPr>
            </a:lvl6pPr>
            <a:lvl7pPr>
              <a:defRPr sz="1425" b="1">
                <a:solidFill>
                  <a:srgbClr val="D5AF83"/>
                </a:solidFill>
                <a:latin typeface="Arial"/>
                <a:ea typeface="Arial"/>
                <a:cs typeface="Arial"/>
              </a:defRPr>
            </a:lvl7pPr>
            <a:lvl8pPr>
              <a:defRPr sz="1425" b="1">
                <a:solidFill>
                  <a:srgbClr val="D5AF83"/>
                </a:solidFill>
                <a:latin typeface="Arial"/>
                <a:ea typeface="Arial"/>
                <a:cs typeface="Arial"/>
              </a:defRPr>
            </a:lvl8pPr>
            <a:lvl9pPr>
              <a:defRPr sz="1425" b="1">
                <a:solidFill>
                  <a:srgbClr val="D5AF83"/>
                </a:solidFill>
                <a:latin typeface="Arial"/>
                <a:ea typeface="Arial"/>
                <a:cs typeface="Arial"/>
              </a:defRPr>
            </a:lvl9pPr>
          </a:lstStyle>
          <a:p>
            <a:pPr>
              <a:defRPr sz="1425" b="1">
                <a:solidFill>
                  <a:srgbClr val="D5AF83"/>
                </a:solidFill>
                <a:latin typeface="Arial"/>
                <a:ea typeface="Arial"/>
                <a:cs typeface="Arial"/>
              </a:defRPr>
            </a:pPr>
            <a:r>
              <a:rPr sz="1425" b="1">
                <a:solidFill>
                  <a:srgbClr val="D5AF83"/>
                </a:solidFill>
                <a:latin typeface="Arial"/>
                <a:ea typeface="Arial"/>
                <a:cs typeface="Arial"/>
              </a:rPr>
              <a:t>What happens</a:t>
            </a:r>
          </a:p>
        </p:txBody>
      </p:sp>
      <p:sp>
        <p:nvSpPr>
          <p:cNvPr id="9" name="reveal-7">
            <a:extLst>
              <a:ext uri="{FF2B5EF4-FFF2-40B4-BE49-F238E27FC236}">
                <a16:creationId xmlns:a16="http://schemas.microsoft.com/office/drawing/2014/main" id="{78693121-472A-49BE-B061-47D35304C3B7}"/>
              </a:ext>
            </a:extLst>
          </p:cNvPr>
          <p:cNvSpPr>
            <a:spLocks noGrp="1"/>
          </p:cNvSpPr>
          <p:nvPr/>
        </p:nvSpPr>
        <p:spPr>
          <a:xfrm>
            <a:off x="552450" y="2390775"/>
            <a:ext cx="590550" cy="457200"/>
          </a:xfrm>
          <a:prstGeom prst="rect">
            <a:avLst/>
          </a:prstGeom>
          <a:noFill/>
          <a:ln w="0">
            <a:noFill/>
          </a:ln>
        </p:spPr>
        <p:txBody>
          <a:bodyPr wrap="square" lIns="0" tIns="0" rIns="0" bIns="0" anchor="t">
            <a:noAutofit/>
          </a:bodyPr>
          <a:lstStyle>
            <a:defPPr>
              <a:defRPr sz="2550" b="1">
                <a:solidFill>
                  <a:srgbClr val="D5AF83"/>
                </a:solidFill>
                <a:latin typeface="Arial"/>
                <a:ea typeface="Arial"/>
                <a:cs typeface="Arial"/>
              </a:defRPr>
            </a:defPPr>
            <a:lvl1pPr>
              <a:defRPr sz="2550" b="1">
                <a:solidFill>
                  <a:srgbClr val="D5AF83"/>
                </a:solidFill>
                <a:latin typeface="Arial"/>
                <a:ea typeface="Arial"/>
                <a:cs typeface="Arial"/>
              </a:defRPr>
            </a:lvl1pPr>
            <a:lvl2pPr>
              <a:defRPr sz="2550" b="1">
                <a:solidFill>
                  <a:srgbClr val="D5AF83"/>
                </a:solidFill>
                <a:latin typeface="Arial"/>
                <a:ea typeface="Arial"/>
                <a:cs typeface="Arial"/>
              </a:defRPr>
            </a:lvl2pPr>
            <a:lvl3pPr>
              <a:defRPr sz="2550" b="1">
                <a:solidFill>
                  <a:srgbClr val="D5AF83"/>
                </a:solidFill>
                <a:latin typeface="Arial"/>
                <a:ea typeface="Arial"/>
                <a:cs typeface="Arial"/>
              </a:defRPr>
            </a:lvl3pPr>
            <a:lvl4pPr>
              <a:defRPr sz="2550" b="1">
                <a:solidFill>
                  <a:srgbClr val="D5AF83"/>
                </a:solidFill>
                <a:latin typeface="Arial"/>
                <a:ea typeface="Arial"/>
                <a:cs typeface="Arial"/>
              </a:defRPr>
            </a:lvl4pPr>
            <a:lvl5pPr>
              <a:defRPr sz="2550" b="1">
                <a:solidFill>
                  <a:srgbClr val="D5AF83"/>
                </a:solidFill>
                <a:latin typeface="Arial"/>
                <a:ea typeface="Arial"/>
                <a:cs typeface="Arial"/>
              </a:defRPr>
            </a:lvl5pPr>
            <a:lvl6pPr>
              <a:defRPr sz="2550" b="1">
                <a:solidFill>
                  <a:srgbClr val="D5AF83"/>
                </a:solidFill>
                <a:latin typeface="Arial"/>
                <a:ea typeface="Arial"/>
                <a:cs typeface="Arial"/>
              </a:defRPr>
            </a:lvl6pPr>
            <a:lvl7pPr>
              <a:defRPr sz="2550" b="1">
                <a:solidFill>
                  <a:srgbClr val="D5AF83"/>
                </a:solidFill>
                <a:latin typeface="Arial"/>
                <a:ea typeface="Arial"/>
                <a:cs typeface="Arial"/>
              </a:defRPr>
            </a:lvl7pPr>
            <a:lvl8pPr>
              <a:defRPr sz="2550" b="1">
                <a:solidFill>
                  <a:srgbClr val="D5AF83"/>
                </a:solidFill>
                <a:latin typeface="Arial"/>
                <a:ea typeface="Arial"/>
                <a:cs typeface="Arial"/>
              </a:defRPr>
            </a:lvl8pPr>
            <a:lvl9pPr>
              <a:defRPr sz="2550" b="1">
                <a:solidFill>
                  <a:srgbClr val="D5AF83"/>
                </a:solidFill>
                <a:latin typeface="Arial"/>
                <a:ea typeface="Arial"/>
                <a:cs typeface="Arial"/>
              </a:defRPr>
            </a:lvl9pPr>
          </a:lstStyle>
          <a:p>
            <a:pPr>
              <a:defRPr sz="2550" b="1">
                <a:solidFill>
                  <a:srgbClr val="D5AF83"/>
                </a:solidFill>
                <a:latin typeface="Arial"/>
                <a:ea typeface="Arial"/>
                <a:cs typeface="Arial"/>
              </a:defRPr>
            </a:pPr>
            <a:r>
              <a:rPr sz="2550" b="1">
                <a:solidFill>
                  <a:srgbClr val="D5AF83"/>
                </a:solidFill>
                <a:latin typeface="Arial"/>
                <a:ea typeface="Arial"/>
                <a:cs typeface="Arial"/>
              </a:rPr>
              <a:t>01</a:t>
            </a:r>
          </a:p>
        </p:txBody>
      </p:sp>
      <p:sp>
        <p:nvSpPr>
          <p:cNvPr id="10" name="reveal-8">
            <a:extLst>
              <a:ext uri="{FF2B5EF4-FFF2-40B4-BE49-F238E27FC236}">
                <a16:creationId xmlns:a16="http://schemas.microsoft.com/office/drawing/2014/main" id="{42C4211E-9530-4F45-9921-FF4CDBF03C8A}"/>
              </a:ext>
            </a:extLst>
          </p:cNvPr>
          <p:cNvSpPr>
            <a:spLocks noGrp="1"/>
          </p:cNvSpPr>
          <p:nvPr/>
        </p:nvSpPr>
        <p:spPr>
          <a:xfrm>
            <a:off x="1362075" y="2409825"/>
            <a:ext cx="2857500" cy="457200"/>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Data checks</a:t>
            </a:r>
          </a:p>
        </p:txBody>
      </p:sp>
      <p:sp>
        <p:nvSpPr>
          <p:cNvPr id="11" name="reveal-9">
            <a:extLst>
              <a:ext uri="{FF2B5EF4-FFF2-40B4-BE49-F238E27FC236}">
                <a16:creationId xmlns:a16="http://schemas.microsoft.com/office/drawing/2014/main" id="{EF11DD53-7F30-4081-BFCC-B6A79B159DD0}"/>
              </a:ext>
            </a:extLst>
          </p:cNvPr>
          <p:cNvSpPr>
            <a:spLocks noGrp="1"/>
          </p:cNvSpPr>
          <p:nvPr/>
        </p:nvSpPr>
        <p:spPr>
          <a:xfrm>
            <a:off x="4438650" y="2409825"/>
            <a:ext cx="7124700" cy="542925"/>
          </a:xfrm>
          <a:prstGeom prst="rect">
            <a:avLst/>
          </a:prstGeom>
          <a:noFill/>
          <a:ln w="0">
            <a:noFill/>
          </a:ln>
        </p:spPr>
        <p:txBody>
          <a:bodyPr wrap="square" lIns="0" tIns="0" rIns="0" bIns="0" anchor="t">
            <a:noAutofit/>
          </a:bodyPr>
          <a:lstStyle>
            <a:defPPr>
              <a:defRPr sz="1875" b="0">
                <a:solidFill>
                  <a:srgbClr val="F4F1E9"/>
                </a:solidFill>
                <a:latin typeface="Arial"/>
                <a:ea typeface="Arial"/>
                <a:cs typeface="Arial"/>
              </a:defRPr>
            </a:defPPr>
            <a:lvl1pPr>
              <a:defRPr sz="1875" b="0">
                <a:solidFill>
                  <a:srgbClr val="F4F1E9"/>
                </a:solidFill>
                <a:latin typeface="Arial"/>
                <a:ea typeface="Arial"/>
                <a:cs typeface="Arial"/>
              </a:defRPr>
            </a:lvl1pPr>
            <a:lvl2pPr>
              <a:defRPr sz="1875" b="0">
                <a:solidFill>
                  <a:srgbClr val="F4F1E9"/>
                </a:solidFill>
                <a:latin typeface="Arial"/>
                <a:ea typeface="Arial"/>
                <a:cs typeface="Arial"/>
              </a:defRPr>
            </a:lvl2pPr>
            <a:lvl3pPr>
              <a:defRPr sz="1875" b="0">
                <a:solidFill>
                  <a:srgbClr val="F4F1E9"/>
                </a:solidFill>
                <a:latin typeface="Arial"/>
                <a:ea typeface="Arial"/>
                <a:cs typeface="Arial"/>
              </a:defRPr>
            </a:lvl3pPr>
            <a:lvl4pPr>
              <a:defRPr sz="1875" b="0">
                <a:solidFill>
                  <a:srgbClr val="F4F1E9"/>
                </a:solidFill>
                <a:latin typeface="Arial"/>
                <a:ea typeface="Arial"/>
                <a:cs typeface="Arial"/>
              </a:defRPr>
            </a:lvl4pPr>
            <a:lvl5pPr>
              <a:defRPr sz="1875" b="0">
                <a:solidFill>
                  <a:srgbClr val="F4F1E9"/>
                </a:solidFill>
                <a:latin typeface="Arial"/>
                <a:ea typeface="Arial"/>
                <a:cs typeface="Arial"/>
              </a:defRPr>
            </a:lvl5pPr>
            <a:lvl6pPr>
              <a:defRPr sz="1875" b="0">
                <a:solidFill>
                  <a:srgbClr val="F4F1E9"/>
                </a:solidFill>
                <a:latin typeface="Arial"/>
                <a:ea typeface="Arial"/>
                <a:cs typeface="Arial"/>
              </a:defRPr>
            </a:lvl6pPr>
            <a:lvl7pPr>
              <a:defRPr sz="1875" b="0">
                <a:solidFill>
                  <a:srgbClr val="F4F1E9"/>
                </a:solidFill>
                <a:latin typeface="Arial"/>
                <a:ea typeface="Arial"/>
                <a:cs typeface="Arial"/>
              </a:defRPr>
            </a:lvl7pPr>
            <a:lvl8pPr>
              <a:defRPr sz="1875" b="0">
                <a:solidFill>
                  <a:srgbClr val="F4F1E9"/>
                </a:solidFill>
                <a:latin typeface="Arial"/>
                <a:ea typeface="Arial"/>
                <a:cs typeface="Arial"/>
              </a:defRPr>
            </a:lvl8pPr>
            <a:lvl9pPr>
              <a:defRPr sz="1875" b="0">
                <a:solidFill>
                  <a:srgbClr val="F4F1E9"/>
                </a:solidFill>
                <a:latin typeface="Arial"/>
                <a:ea typeface="Arial"/>
                <a:cs typeface="Arial"/>
              </a:defRPr>
            </a:lvl9pPr>
          </a:lstStyle>
          <a:p>
            <a:pPr>
              <a:defRPr sz="1875" b="0">
                <a:solidFill>
                  <a:srgbClr val="F4F1E9"/>
                </a:solidFill>
                <a:latin typeface="Arial"/>
                <a:ea typeface="Arial"/>
                <a:cs typeface="Arial"/>
              </a:defRPr>
            </a:pPr>
            <a:r>
              <a:rPr sz="1875" b="0">
                <a:solidFill>
                  <a:srgbClr val="F4F1E9"/>
                </a:solidFill>
                <a:latin typeface="Arial"/>
                <a:ea typeface="Arial"/>
                <a:cs typeface="Arial"/>
              </a:rPr>
              <a:t>Validate rows, missing values, labels and date-separated splits</a:t>
            </a:r>
          </a:p>
        </p:txBody>
      </p:sp>
      <p:sp>
        <p:nvSpPr>
          <p:cNvPr id="12" name="background-10">
            <a:extLst>
              <a:ext uri="{FF2B5EF4-FFF2-40B4-BE49-F238E27FC236}">
                <a16:creationId xmlns:a16="http://schemas.microsoft.com/office/drawing/2014/main" id="{AF7B0697-AD41-4F17-92C5-E4D13039F0EC}"/>
              </a:ext>
            </a:extLst>
          </p:cNvPr>
          <p:cNvSpPr>
            <a:spLocks noGrp="1"/>
          </p:cNvSpPr>
          <p:nvPr/>
        </p:nvSpPr>
        <p:spPr>
          <a:xfrm>
            <a:off x="1362075" y="2933700"/>
            <a:ext cx="10220325" cy="9525"/>
          </a:xfrm>
          <a:prstGeom prst="rect">
            <a:avLst/>
          </a:prstGeom>
          <a:solidFill>
            <a:srgbClr val="435046"/>
          </a:solidFill>
          <a:ln w="0">
            <a:noFill/>
          </a:ln>
        </p:spPr>
      </p:sp>
      <p:sp>
        <p:nvSpPr>
          <p:cNvPr id="13" name="reveal-11">
            <a:extLst>
              <a:ext uri="{FF2B5EF4-FFF2-40B4-BE49-F238E27FC236}">
                <a16:creationId xmlns:a16="http://schemas.microsoft.com/office/drawing/2014/main" id="{0FDD52E4-CB0C-47F7-98AF-FA8C6F5DA8C7}"/>
              </a:ext>
            </a:extLst>
          </p:cNvPr>
          <p:cNvSpPr>
            <a:spLocks noGrp="1"/>
          </p:cNvSpPr>
          <p:nvPr/>
        </p:nvSpPr>
        <p:spPr>
          <a:xfrm>
            <a:off x="552450" y="3009900"/>
            <a:ext cx="590550" cy="457200"/>
          </a:xfrm>
          <a:prstGeom prst="rect">
            <a:avLst/>
          </a:prstGeom>
          <a:noFill/>
          <a:ln w="0">
            <a:noFill/>
          </a:ln>
        </p:spPr>
        <p:txBody>
          <a:bodyPr wrap="square" lIns="0" tIns="0" rIns="0" bIns="0" anchor="t">
            <a:noAutofit/>
          </a:bodyPr>
          <a:lstStyle>
            <a:defPPr>
              <a:defRPr sz="2550" b="1">
                <a:solidFill>
                  <a:srgbClr val="D5AF83"/>
                </a:solidFill>
                <a:latin typeface="Arial"/>
                <a:ea typeface="Arial"/>
                <a:cs typeface="Arial"/>
              </a:defRPr>
            </a:defPPr>
            <a:lvl1pPr>
              <a:defRPr sz="2550" b="1">
                <a:solidFill>
                  <a:srgbClr val="D5AF83"/>
                </a:solidFill>
                <a:latin typeface="Arial"/>
                <a:ea typeface="Arial"/>
                <a:cs typeface="Arial"/>
              </a:defRPr>
            </a:lvl1pPr>
            <a:lvl2pPr>
              <a:defRPr sz="2550" b="1">
                <a:solidFill>
                  <a:srgbClr val="D5AF83"/>
                </a:solidFill>
                <a:latin typeface="Arial"/>
                <a:ea typeface="Arial"/>
                <a:cs typeface="Arial"/>
              </a:defRPr>
            </a:lvl2pPr>
            <a:lvl3pPr>
              <a:defRPr sz="2550" b="1">
                <a:solidFill>
                  <a:srgbClr val="D5AF83"/>
                </a:solidFill>
                <a:latin typeface="Arial"/>
                <a:ea typeface="Arial"/>
                <a:cs typeface="Arial"/>
              </a:defRPr>
            </a:lvl3pPr>
            <a:lvl4pPr>
              <a:defRPr sz="2550" b="1">
                <a:solidFill>
                  <a:srgbClr val="D5AF83"/>
                </a:solidFill>
                <a:latin typeface="Arial"/>
                <a:ea typeface="Arial"/>
                <a:cs typeface="Arial"/>
              </a:defRPr>
            </a:lvl4pPr>
            <a:lvl5pPr>
              <a:defRPr sz="2550" b="1">
                <a:solidFill>
                  <a:srgbClr val="D5AF83"/>
                </a:solidFill>
                <a:latin typeface="Arial"/>
                <a:ea typeface="Arial"/>
                <a:cs typeface="Arial"/>
              </a:defRPr>
            </a:lvl5pPr>
            <a:lvl6pPr>
              <a:defRPr sz="2550" b="1">
                <a:solidFill>
                  <a:srgbClr val="D5AF83"/>
                </a:solidFill>
                <a:latin typeface="Arial"/>
                <a:ea typeface="Arial"/>
                <a:cs typeface="Arial"/>
              </a:defRPr>
            </a:lvl6pPr>
            <a:lvl7pPr>
              <a:defRPr sz="2550" b="1">
                <a:solidFill>
                  <a:srgbClr val="D5AF83"/>
                </a:solidFill>
                <a:latin typeface="Arial"/>
                <a:ea typeface="Arial"/>
                <a:cs typeface="Arial"/>
              </a:defRPr>
            </a:lvl7pPr>
            <a:lvl8pPr>
              <a:defRPr sz="2550" b="1">
                <a:solidFill>
                  <a:srgbClr val="D5AF83"/>
                </a:solidFill>
                <a:latin typeface="Arial"/>
                <a:ea typeface="Arial"/>
                <a:cs typeface="Arial"/>
              </a:defRPr>
            </a:lvl8pPr>
            <a:lvl9pPr>
              <a:defRPr sz="2550" b="1">
                <a:solidFill>
                  <a:srgbClr val="D5AF83"/>
                </a:solidFill>
                <a:latin typeface="Arial"/>
                <a:ea typeface="Arial"/>
                <a:cs typeface="Arial"/>
              </a:defRPr>
            </a:lvl9pPr>
          </a:lstStyle>
          <a:p>
            <a:pPr>
              <a:defRPr sz="2550" b="1">
                <a:solidFill>
                  <a:srgbClr val="D5AF83"/>
                </a:solidFill>
                <a:latin typeface="Arial"/>
                <a:ea typeface="Arial"/>
                <a:cs typeface="Arial"/>
              </a:defRPr>
            </a:pPr>
            <a:r>
              <a:rPr sz="2550" b="1">
                <a:solidFill>
                  <a:srgbClr val="D5AF83"/>
                </a:solidFill>
                <a:latin typeface="Arial"/>
                <a:ea typeface="Arial"/>
                <a:cs typeface="Arial"/>
              </a:rPr>
              <a:t>02</a:t>
            </a:r>
          </a:p>
        </p:txBody>
      </p:sp>
      <p:sp>
        <p:nvSpPr>
          <p:cNvPr id="14" name="reveal-12">
            <a:extLst>
              <a:ext uri="{FF2B5EF4-FFF2-40B4-BE49-F238E27FC236}">
                <a16:creationId xmlns:a16="http://schemas.microsoft.com/office/drawing/2014/main" id="{934F9331-58C6-41A7-AB05-C0B63412C65B}"/>
              </a:ext>
            </a:extLst>
          </p:cNvPr>
          <p:cNvSpPr>
            <a:spLocks noGrp="1"/>
          </p:cNvSpPr>
          <p:nvPr/>
        </p:nvSpPr>
        <p:spPr>
          <a:xfrm>
            <a:off x="1362075" y="3028950"/>
            <a:ext cx="2857500" cy="457200"/>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Preprocessing</a:t>
            </a:r>
          </a:p>
        </p:txBody>
      </p:sp>
      <p:sp>
        <p:nvSpPr>
          <p:cNvPr id="15" name="reveal-13">
            <a:extLst>
              <a:ext uri="{FF2B5EF4-FFF2-40B4-BE49-F238E27FC236}">
                <a16:creationId xmlns:a16="http://schemas.microsoft.com/office/drawing/2014/main" id="{2375B776-DF91-4785-9392-203E72B35A6C}"/>
              </a:ext>
            </a:extLst>
          </p:cNvPr>
          <p:cNvSpPr>
            <a:spLocks noGrp="1"/>
          </p:cNvSpPr>
          <p:nvPr/>
        </p:nvSpPr>
        <p:spPr>
          <a:xfrm>
            <a:off x="4438650" y="3028950"/>
            <a:ext cx="7124700" cy="542925"/>
          </a:xfrm>
          <a:prstGeom prst="rect">
            <a:avLst/>
          </a:prstGeom>
          <a:noFill/>
          <a:ln w="0">
            <a:noFill/>
          </a:ln>
        </p:spPr>
        <p:txBody>
          <a:bodyPr wrap="square" lIns="0" tIns="0" rIns="0" bIns="0" anchor="t">
            <a:noAutofit/>
          </a:bodyPr>
          <a:lstStyle>
            <a:defPPr>
              <a:defRPr sz="1875" b="0">
                <a:solidFill>
                  <a:srgbClr val="F4F1E9"/>
                </a:solidFill>
                <a:latin typeface="Arial"/>
                <a:ea typeface="Arial"/>
                <a:cs typeface="Arial"/>
              </a:defRPr>
            </a:defPPr>
            <a:lvl1pPr>
              <a:defRPr sz="1875" b="0">
                <a:solidFill>
                  <a:srgbClr val="F4F1E9"/>
                </a:solidFill>
                <a:latin typeface="Arial"/>
                <a:ea typeface="Arial"/>
                <a:cs typeface="Arial"/>
              </a:defRPr>
            </a:lvl1pPr>
            <a:lvl2pPr>
              <a:defRPr sz="1875" b="0">
                <a:solidFill>
                  <a:srgbClr val="F4F1E9"/>
                </a:solidFill>
                <a:latin typeface="Arial"/>
                <a:ea typeface="Arial"/>
                <a:cs typeface="Arial"/>
              </a:defRPr>
            </a:lvl2pPr>
            <a:lvl3pPr>
              <a:defRPr sz="1875" b="0">
                <a:solidFill>
                  <a:srgbClr val="F4F1E9"/>
                </a:solidFill>
                <a:latin typeface="Arial"/>
                <a:ea typeface="Arial"/>
                <a:cs typeface="Arial"/>
              </a:defRPr>
            </a:lvl3pPr>
            <a:lvl4pPr>
              <a:defRPr sz="1875" b="0">
                <a:solidFill>
                  <a:srgbClr val="F4F1E9"/>
                </a:solidFill>
                <a:latin typeface="Arial"/>
                <a:ea typeface="Arial"/>
                <a:cs typeface="Arial"/>
              </a:defRPr>
            </a:lvl4pPr>
            <a:lvl5pPr>
              <a:defRPr sz="1875" b="0">
                <a:solidFill>
                  <a:srgbClr val="F4F1E9"/>
                </a:solidFill>
                <a:latin typeface="Arial"/>
                <a:ea typeface="Arial"/>
                <a:cs typeface="Arial"/>
              </a:defRPr>
            </a:lvl5pPr>
            <a:lvl6pPr>
              <a:defRPr sz="1875" b="0">
                <a:solidFill>
                  <a:srgbClr val="F4F1E9"/>
                </a:solidFill>
                <a:latin typeface="Arial"/>
                <a:ea typeface="Arial"/>
                <a:cs typeface="Arial"/>
              </a:defRPr>
            </a:lvl6pPr>
            <a:lvl7pPr>
              <a:defRPr sz="1875" b="0">
                <a:solidFill>
                  <a:srgbClr val="F4F1E9"/>
                </a:solidFill>
                <a:latin typeface="Arial"/>
                <a:ea typeface="Arial"/>
                <a:cs typeface="Arial"/>
              </a:defRPr>
            </a:lvl7pPr>
            <a:lvl8pPr>
              <a:defRPr sz="1875" b="0">
                <a:solidFill>
                  <a:srgbClr val="F4F1E9"/>
                </a:solidFill>
                <a:latin typeface="Arial"/>
                <a:ea typeface="Arial"/>
                <a:cs typeface="Arial"/>
              </a:defRPr>
            </a:lvl8pPr>
            <a:lvl9pPr>
              <a:defRPr sz="1875" b="0">
                <a:solidFill>
                  <a:srgbClr val="F4F1E9"/>
                </a:solidFill>
                <a:latin typeface="Arial"/>
                <a:ea typeface="Arial"/>
                <a:cs typeface="Arial"/>
              </a:defRPr>
            </a:lvl9pPr>
          </a:lstStyle>
          <a:p>
            <a:pPr>
              <a:defRPr sz="1875" b="0">
                <a:solidFill>
                  <a:srgbClr val="F4F1E9"/>
                </a:solidFill>
                <a:latin typeface="Arial"/>
                <a:ea typeface="Arial"/>
                <a:cs typeface="Arial"/>
              </a:defRPr>
            </a:pPr>
            <a:r>
              <a:rPr sz="1875" b="0">
                <a:solidFill>
                  <a:srgbClr val="F4F1E9"/>
                </a:solidFill>
                <a:latin typeface="Arial"/>
                <a:ea typeface="Arial"/>
                <a:cs typeface="Arial"/>
              </a:rPr>
              <a:t>Encode categorical columns using training data only</a:t>
            </a:r>
          </a:p>
        </p:txBody>
      </p:sp>
      <p:sp>
        <p:nvSpPr>
          <p:cNvPr id="16" name="background-14">
            <a:extLst>
              <a:ext uri="{FF2B5EF4-FFF2-40B4-BE49-F238E27FC236}">
                <a16:creationId xmlns:a16="http://schemas.microsoft.com/office/drawing/2014/main" id="{F19E38AA-BF9A-4D96-AB93-0E74058FB062}"/>
              </a:ext>
            </a:extLst>
          </p:cNvPr>
          <p:cNvSpPr>
            <a:spLocks noGrp="1"/>
          </p:cNvSpPr>
          <p:nvPr/>
        </p:nvSpPr>
        <p:spPr>
          <a:xfrm>
            <a:off x="1362075" y="3552825"/>
            <a:ext cx="10220325" cy="9525"/>
          </a:xfrm>
          <a:prstGeom prst="rect">
            <a:avLst/>
          </a:prstGeom>
          <a:solidFill>
            <a:srgbClr val="435046"/>
          </a:solidFill>
          <a:ln w="0">
            <a:noFill/>
          </a:ln>
        </p:spPr>
      </p:sp>
      <p:sp>
        <p:nvSpPr>
          <p:cNvPr id="17" name="reveal-15">
            <a:extLst>
              <a:ext uri="{FF2B5EF4-FFF2-40B4-BE49-F238E27FC236}">
                <a16:creationId xmlns:a16="http://schemas.microsoft.com/office/drawing/2014/main" id="{5E9B414C-31E1-47C7-850C-6A3440FF8117}"/>
              </a:ext>
            </a:extLst>
          </p:cNvPr>
          <p:cNvSpPr>
            <a:spLocks noGrp="1"/>
          </p:cNvSpPr>
          <p:nvPr/>
        </p:nvSpPr>
        <p:spPr>
          <a:xfrm>
            <a:off x="552450" y="3629025"/>
            <a:ext cx="590550" cy="457200"/>
          </a:xfrm>
          <a:prstGeom prst="rect">
            <a:avLst/>
          </a:prstGeom>
          <a:noFill/>
          <a:ln w="0">
            <a:noFill/>
          </a:ln>
        </p:spPr>
        <p:txBody>
          <a:bodyPr wrap="square" lIns="0" tIns="0" rIns="0" bIns="0" anchor="t">
            <a:noAutofit/>
          </a:bodyPr>
          <a:lstStyle>
            <a:defPPr>
              <a:defRPr sz="2550" b="1">
                <a:solidFill>
                  <a:srgbClr val="D5AF83"/>
                </a:solidFill>
                <a:latin typeface="Arial"/>
                <a:ea typeface="Arial"/>
                <a:cs typeface="Arial"/>
              </a:defRPr>
            </a:defPPr>
            <a:lvl1pPr>
              <a:defRPr sz="2550" b="1">
                <a:solidFill>
                  <a:srgbClr val="D5AF83"/>
                </a:solidFill>
                <a:latin typeface="Arial"/>
                <a:ea typeface="Arial"/>
                <a:cs typeface="Arial"/>
              </a:defRPr>
            </a:lvl1pPr>
            <a:lvl2pPr>
              <a:defRPr sz="2550" b="1">
                <a:solidFill>
                  <a:srgbClr val="D5AF83"/>
                </a:solidFill>
                <a:latin typeface="Arial"/>
                <a:ea typeface="Arial"/>
                <a:cs typeface="Arial"/>
              </a:defRPr>
            </a:lvl2pPr>
            <a:lvl3pPr>
              <a:defRPr sz="2550" b="1">
                <a:solidFill>
                  <a:srgbClr val="D5AF83"/>
                </a:solidFill>
                <a:latin typeface="Arial"/>
                <a:ea typeface="Arial"/>
                <a:cs typeface="Arial"/>
              </a:defRPr>
            </a:lvl3pPr>
            <a:lvl4pPr>
              <a:defRPr sz="2550" b="1">
                <a:solidFill>
                  <a:srgbClr val="D5AF83"/>
                </a:solidFill>
                <a:latin typeface="Arial"/>
                <a:ea typeface="Arial"/>
                <a:cs typeface="Arial"/>
              </a:defRPr>
            </a:lvl4pPr>
            <a:lvl5pPr>
              <a:defRPr sz="2550" b="1">
                <a:solidFill>
                  <a:srgbClr val="D5AF83"/>
                </a:solidFill>
                <a:latin typeface="Arial"/>
                <a:ea typeface="Arial"/>
                <a:cs typeface="Arial"/>
              </a:defRPr>
            </a:lvl5pPr>
            <a:lvl6pPr>
              <a:defRPr sz="2550" b="1">
                <a:solidFill>
                  <a:srgbClr val="D5AF83"/>
                </a:solidFill>
                <a:latin typeface="Arial"/>
                <a:ea typeface="Arial"/>
                <a:cs typeface="Arial"/>
              </a:defRPr>
            </a:lvl6pPr>
            <a:lvl7pPr>
              <a:defRPr sz="2550" b="1">
                <a:solidFill>
                  <a:srgbClr val="D5AF83"/>
                </a:solidFill>
                <a:latin typeface="Arial"/>
                <a:ea typeface="Arial"/>
                <a:cs typeface="Arial"/>
              </a:defRPr>
            </a:lvl7pPr>
            <a:lvl8pPr>
              <a:defRPr sz="2550" b="1">
                <a:solidFill>
                  <a:srgbClr val="D5AF83"/>
                </a:solidFill>
                <a:latin typeface="Arial"/>
                <a:ea typeface="Arial"/>
                <a:cs typeface="Arial"/>
              </a:defRPr>
            </a:lvl8pPr>
            <a:lvl9pPr>
              <a:defRPr sz="2550" b="1">
                <a:solidFill>
                  <a:srgbClr val="D5AF83"/>
                </a:solidFill>
                <a:latin typeface="Arial"/>
                <a:ea typeface="Arial"/>
                <a:cs typeface="Arial"/>
              </a:defRPr>
            </a:lvl9pPr>
          </a:lstStyle>
          <a:p>
            <a:pPr>
              <a:defRPr sz="2550" b="1">
                <a:solidFill>
                  <a:srgbClr val="D5AF83"/>
                </a:solidFill>
                <a:latin typeface="Arial"/>
                <a:ea typeface="Arial"/>
                <a:cs typeface="Arial"/>
              </a:defRPr>
            </a:pPr>
            <a:r>
              <a:rPr sz="2550" b="1">
                <a:solidFill>
                  <a:srgbClr val="D5AF83"/>
                </a:solidFill>
                <a:latin typeface="Arial"/>
                <a:ea typeface="Arial"/>
                <a:cs typeface="Arial"/>
              </a:rPr>
              <a:t>03</a:t>
            </a:r>
          </a:p>
        </p:txBody>
      </p:sp>
      <p:sp>
        <p:nvSpPr>
          <p:cNvPr id="18" name="reveal-16">
            <a:extLst>
              <a:ext uri="{FF2B5EF4-FFF2-40B4-BE49-F238E27FC236}">
                <a16:creationId xmlns:a16="http://schemas.microsoft.com/office/drawing/2014/main" id="{341BEDBB-7EDD-42D7-8254-7B7B128DEE8C}"/>
              </a:ext>
            </a:extLst>
          </p:cNvPr>
          <p:cNvSpPr>
            <a:spLocks noGrp="1"/>
          </p:cNvSpPr>
          <p:nvPr/>
        </p:nvSpPr>
        <p:spPr>
          <a:xfrm>
            <a:off x="1362075" y="3648075"/>
            <a:ext cx="2857500" cy="457200"/>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Training</a:t>
            </a:r>
          </a:p>
        </p:txBody>
      </p:sp>
      <p:sp>
        <p:nvSpPr>
          <p:cNvPr id="19" name="reveal-17">
            <a:extLst>
              <a:ext uri="{FF2B5EF4-FFF2-40B4-BE49-F238E27FC236}">
                <a16:creationId xmlns:a16="http://schemas.microsoft.com/office/drawing/2014/main" id="{4594A7CB-94F0-4116-A293-F74AA246BE33}"/>
              </a:ext>
            </a:extLst>
          </p:cNvPr>
          <p:cNvSpPr>
            <a:spLocks noGrp="1"/>
          </p:cNvSpPr>
          <p:nvPr/>
        </p:nvSpPr>
        <p:spPr>
          <a:xfrm>
            <a:off x="4438650" y="3648075"/>
            <a:ext cx="7124700" cy="542925"/>
          </a:xfrm>
          <a:prstGeom prst="rect">
            <a:avLst/>
          </a:prstGeom>
          <a:noFill/>
          <a:ln w="0">
            <a:noFill/>
          </a:ln>
        </p:spPr>
        <p:txBody>
          <a:bodyPr wrap="square" lIns="0" tIns="0" rIns="0" bIns="0" anchor="t">
            <a:noAutofit/>
          </a:bodyPr>
          <a:lstStyle>
            <a:defPPr>
              <a:defRPr sz="1875" b="0">
                <a:solidFill>
                  <a:srgbClr val="F4F1E9"/>
                </a:solidFill>
                <a:latin typeface="Arial"/>
                <a:ea typeface="Arial"/>
                <a:cs typeface="Arial"/>
              </a:defRPr>
            </a:defPPr>
            <a:lvl1pPr>
              <a:defRPr sz="1875" b="0">
                <a:solidFill>
                  <a:srgbClr val="F4F1E9"/>
                </a:solidFill>
                <a:latin typeface="Arial"/>
                <a:ea typeface="Arial"/>
                <a:cs typeface="Arial"/>
              </a:defRPr>
            </a:lvl1pPr>
            <a:lvl2pPr>
              <a:defRPr sz="1875" b="0">
                <a:solidFill>
                  <a:srgbClr val="F4F1E9"/>
                </a:solidFill>
                <a:latin typeface="Arial"/>
                <a:ea typeface="Arial"/>
                <a:cs typeface="Arial"/>
              </a:defRPr>
            </a:lvl2pPr>
            <a:lvl3pPr>
              <a:defRPr sz="1875" b="0">
                <a:solidFill>
                  <a:srgbClr val="F4F1E9"/>
                </a:solidFill>
                <a:latin typeface="Arial"/>
                <a:ea typeface="Arial"/>
                <a:cs typeface="Arial"/>
              </a:defRPr>
            </a:lvl3pPr>
            <a:lvl4pPr>
              <a:defRPr sz="1875" b="0">
                <a:solidFill>
                  <a:srgbClr val="F4F1E9"/>
                </a:solidFill>
                <a:latin typeface="Arial"/>
                <a:ea typeface="Arial"/>
                <a:cs typeface="Arial"/>
              </a:defRPr>
            </a:lvl4pPr>
            <a:lvl5pPr>
              <a:defRPr sz="1875" b="0">
                <a:solidFill>
                  <a:srgbClr val="F4F1E9"/>
                </a:solidFill>
                <a:latin typeface="Arial"/>
                <a:ea typeface="Arial"/>
                <a:cs typeface="Arial"/>
              </a:defRPr>
            </a:lvl5pPr>
            <a:lvl6pPr>
              <a:defRPr sz="1875" b="0">
                <a:solidFill>
                  <a:srgbClr val="F4F1E9"/>
                </a:solidFill>
                <a:latin typeface="Arial"/>
                <a:ea typeface="Arial"/>
                <a:cs typeface="Arial"/>
              </a:defRPr>
            </a:lvl6pPr>
            <a:lvl7pPr>
              <a:defRPr sz="1875" b="0">
                <a:solidFill>
                  <a:srgbClr val="F4F1E9"/>
                </a:solidFill>
                <a:latin typeface="Arial"/>
                <a:ea typeface="Arial"/>
                <a:cs typeface="Arial"/>
              </a:defRPr>
            </a:lvl7pPr>
            <a:lvl8pPr>
              <a:defRPr sz="1875" b="0">
                <a:solidFill>
                  <a:srgbClr val="F4F1E9"/>
                </a:solidFill>
                <a:latin typeface="Arial"/>
                <a:ea typeface="Arial"/>
                <a:cs typeface="Arial"/>
              </a:defRPr>
            </a:lvl8pPr>
            <a:lvl9pPr>
              <a:defRPr sz="1875" b="0">
                <a:solidFill>
                  <a:srgbClr val="F4F1E9"/>
                </a:solidFill>
                <a:latin typeface="Arial"/>
                <a:ea typeface="Arial"/>
                <a:cs typeface="Arial"/>
              </a:defRPr>
            </a:lvl9pPr>
          </a:lstStyle>
          <a:p>
            <a:pPr>
              <a:defRPr sz="1875" b="0">
                <a:solidFill>
                  <a:srgbClr val="F4F1E9"/>
                </a:solidFill>
                <a:latin typeface="Arial"/>
                <a:ea typeface="Arial"/>
                <a:cs typeface="Arial"/>
              </a:defRPr>
            </a:pPr>
            <a:r>
              <a:rPr sz="1875" b="0">
                <a:solidFill>
                  <a:srgbClr val="F4F1E9"/>
                </a:solidFill>
                <a:latin typeface="Arial"/>
                <a:ea typeface="Arial"/>
                <a:cs typeface="Arial"/>
              </a:rPr>
              <a:t>Fit baseline, Decision Tree and Random Forest models</a:t>
            </a:r>
          </a:p>
        </p:txBody>
      </p:sp>
      <p:sp>
        <p:nvSpPr>
          <p:cNvPr id="20" name="background-18">
            <a:extLst>
              <a:ext uri="{FF2B5EF4-FFF2-40B4-BE49-F238E27FC236}">
                <a16:creationId xmlns:a16="http://schemas.microsoft.com/office/drawing/2014/main" id="{BAE94737-37AF-450F-92A6-745EBF714A70}"/>
              </a:ext>
            </a:extLst>
          </p:cNvPr>
          <p:cNvSpPr>
            <a:spLocks noGrp="1"/>
          </p:cNvSpPr>
          <p:nvPr/>
        </p:nvSpPr>
        <p:spPr>
          <a:xfrm>
            <a:off x="1362075" y="4171950"/>
            <a:ext cx="10220325" cy="9525"/>
          </a:xfrm>
          <a:prstGeom prst="rect">
            <a:avLst/>
          </a:prstGeom>
          <a:solidFill>
            <a:srgbClr val="435046"/>
          </a:solidFill>
          <a:ln w="0">
            <a:noFill/>
          </a:ln>
        </p:spPr>
      </p:sp>
      <p:sp>
        <p:nvSpPr>
          <p:cNvPr id="21" name="reveal-19">
            <a:extLst>
              <a:ext uri="{FF2B5EF4-FFF2-40B4-BE49-F238E27FC236}">
                <a16:creationId xmlns:a16="http://schemas.microsoft.com/office/drawing/2014/main" id="{FC465AC7-A8AF-4493-9FB0-1C9FA296871D}"/>
              </a:ext>
            </a:extLst>
          </p:cNvPr>
          <p:cNvSpPr>
            <a:spLocks noGrp="1"/>
          </p:cNvSpPr>
          <p:nvPr/>
        </p:nvSpPr>
        <p:spPr>
          <a:xfrm>
            <a:off x="552450" y="4248150"/>
            <a:ext cx="590550" cy="457200"/>
          </a:xfrm>
          <a:prstGeom prst="rect">
            <a:avLst/>
          </a:prstGeom>
          <a:noFill/>
          <a:ln w="0">
            <a:noFill/>
          </a:ln>
        </p:spPr>
        <p:txBody>
          <a:bodyPr wrap="square" lIns="0" tIns="0" rIns="0" bIns="0" anchor="t">
            <a:noAutofit/>
          </a:bodyPr>
          <a:lstStyle>
            <a:defPPr>
              <a:defRPr sz="2550" b="1">
                <a:solidFill>
                  <a:srgbClr val="D5AF83"/>
                </a:solidFill>
                <a:latin typeface="Arial"/>
                <a:ea typeface="Arial"/>
                <a:cs typeface="Arial"/>
              </a:defRPr>
            </a:defPPr>
            <a:lvl1pPr>
              <a:defRPr sz="2550" b="1">
                <a:solidFill>
                  <a:srgbClr val="D5AF83"/>
                </a:solidFill>
                <a:latin typeface="Arial"/>
                <a:ea typeface="Arial"/>
                <a:cs typeface="Arial"/>
              </a:defRPr>
            </a:lvl1pPr>
            <a:lvl2pPr>
              <a:defRPr sz="2550" b="1">
                <a:solidFill>
                  <a:srgbClr val="D5AF83"/>
                </a:solidFill>
                <a:latin typeface="Arial"/>
                <a:ea typeface="Arial"/>
                <a:cs typeface="Arial"/>
              </a:defRPr>
            </a:lvl2pPr>
            <a:lvl3pPr>
              <a:defRPr sz="2550" b="1">
                <a:solidFill>
                  <a:srgbClr val="D5AF83"/>
                </a:solidFill>
                <a:latin typeface="Arial"/>
                <a:ea typeface="Arial"/>
                <a:cs typeface="Arial"/>
              </a:defRPr>
            </a:lvl3pPr>
            <a:lvl4pPr>
              <a:defRPr sz="2550" b="1">
                <a:solidFill>
                  <a:srgbClr val="D5AF83"/>
                </a:solidFill>
                <a:latin typeface="Arial"/>
                <a:ea typeface="Arial"/>
                <a:cs typeface="Arial"/>
              </a:defRPr>
            </a:lvl4pPr>
            <a:lvl5pPr>
              <a:defRPr sz="2550" b="1">
                <a:solidFill>
                  <a:srgbClr val="D5AF83"/>
                </a:solidFill>
                <a:latin typeface="Arial"/>
                <a:ea typeface="Arial"/>
                <a:cs typeface="Arial"/>
              </a:defRPr>
            </a:lvl5pPr>
            <a:lvl6pPr>
              <a:defRPr sz="2550" b="1">
                <a:solidFill>
                  <a:srgbClr val="D5AF83"/>
                </a:solidFill>
                <a:latin typeface="Arial"/>
                <a:ea typeface="Arial"/>
                <a:cs typeface="Arial"/>
              </a:defRPr>
            </a:lvl6pPr>
            <a:lvl7pPr>
              <a:defRPr sz="2550" b="1">
                <a:solidFill>
                  <a:srgbClr val="D5AF83"/>
                </a:solidFill>
                <a:latin typeface="Arial"/>
                <a:ea typeface="Arial"/>
                <a:cs typeface="Arial"/>
              </a:defRPr>
            </a:lvl7pPr>
            <a:lvl8pPr>
              <a:defRPr sz="2550" b="1">
                <a:solidFill>
                  <a:srgbClr val="D5AF83"/>
                </a:solidFill>
                <a:latin typeface="Arial"/>
                <a:ea typeface="Arial"/>
                <a:cs typeface="Arial"/>
              </a:defRPr>
            </a:lvl8pPr>
            <a:lvl9pPr>
              <a:defRPr sz="2550" b="1">
                <a:solidFill>
                  <a:srgbClr val="D5AF83"/>
                </a:solidFill>
                <a:latin typeface="Arial"/>
                <a:ea typeface="Arial"/>
                <a:cs typeface="Arial"/>
              </a:defRPr>
            </a:lvl9pPr>
          </a:lstStyle>
          <a:p>
            <a:pPr>
              <a:defRPr sz="2550" b="1">
                <a:solidFill>
                  <a:srgbClr val="D5AF83"/>
                </a:solidFill>
                <a:latin typeface="Arial"/>
                <a:ea typeface="Arial"/>
                <a:cs typeface="Arial"/>
              </a:defRPr>
            </a:pPr>
            <a:r>
              <a:rPr sz="2550" b="1">
                <a:solidFill>
                  <a:srgbClr val="D5AF83"/>
                </a:solidFill>
                <a:latin typeface="Arial"/>
                <a:ea typeface="Arial"/>
                <a:cs typeface="Arial"/>
              </a:rPr>
              <a:t>04</a:t>
            </a:r>
          </a:p>
        </p:txBody>
      </p:sp>
      <p:sp>
        <p:nvSpPr>
          <p:cNvPr id="22" name="reveal-20">
            <a:extLst>
              <a:ext uri="{FF2B5EF4-FFF2-40B4-BE49-F238E27FC236}">
                <a16:creationId xmlns:a16="http://schemas.microsoft.com/office/drawing/2014/main" id="{02799E4B-7A58-42C5-8A26-07BED4A5B1BF}"/>
              </a:ext>
            </a:extLst>
          </p:cNvPr>
          <p:cNvSpPr>
            <a:spLocks noGrp="1"/>
          </p:cNvSpPr>
          <p:nvPr/>
        </p:nvSpPr>
        <p:spPr>
          <a:xfrm>
            <a:off x="1362075" y="4267200"/>
            <a:ext cx="2857500" cy="457200"/>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Validation</a:t>
            </a:r>
          </a:p>
        </p:txBody>
      </p:sp>
      <p:sp>
        <p:nvSpPr>
          <p:cNvPr id="23" name="reveal-21">
            <a:extLst>
              <a:ext uri="{FF2B5EF4-FFF2-40B4-BE49-F238E27FC236}">
                <a16:creationId xmlns:a16="http://schemas.microsoft.com/office/drawing/2014/main" id="{FA005EC6-E16A-4E51-ABAA-9DF362F0B857}"/>
              </a:ext>
            </a:extLst>
          </p:cNvPr>
          <p:cNvSpPr>
            <a:spLocks noGrp="1"/>
          </p:cNvSpPr>
          <p:nvPr/>
        </p:nvSpPr>
        <p:spPr>
          <a:xfrm>
            <a:off x="4438650" y="4267200"/>
            <a:ext cx="7124700" cy="542925"/>
          </a:xfrm>
          <a:prstGeom prst="rect">
            <a:avLst/>
          </a:prstGeom>
          <a:noFill/>
          <a:ln w="0">
            <a:noFill/>
          </a:ln>
        </p:spPr>
        <p:txBody>
          <a:bodyPr wrap="square" lIns="0" tIns="0" rIns="0" bIns="0" anchor="t">
            <a:noAutofit/>
          </a:bodyPr>
          <a:lstStyle>
            <a:defPPr>
              <a:defRPr sz="1875" b="0">
                <a:solidFill>
                  <a:srgbClr val="F4F1E9"/>
                </a:solidFill>
                <a:latin typeface="Arial"/>
                <a:ea typeface="Arial"/>
                <a:cs typeface="Arial"/>
              </a:defRPr>
            </a:defPPr>
            <a:lvl1pPr>
              <a:defRPr sz="1875" b="0">
                <a:solidFill>
                  <a:srgbClr val="F4F1E9"/>
                </a:solidFill>
                <a:latin typeface="Arial"/>
                <a:ea typeface="Arial"/>
                <a:cs typeface="Arial"/>
              </a:defRPr>
            </a:lvl1pPr>
            <a:lvl2pPr>
              <a:defRPr sz="1875" b="0">
                <a:solidFill>
                  <a:srgbClr val="F4F1E9"/>
                </a:solidFill>
                <a:latin typeface="Arial"/>
                <a:ea typeface="Arial"/>
                <a:cs typeface="Arial"/>
              </a:defRPr>
            </a:lvl2pPr>
            <a:lvl3pPr>
              <a:defRPr sz="1875" b="0">
                <a:solidFill>
                  <a:srgbClr val="F4F1E9"/>
                </a:solidFill>
                <a:latin typeface="Arial"/>
                <a:ea typeface="Arial"/>
                <a:cs typeface="Arial"/>
              </a:defRPr>
            </a:lvl3pPr>
            <a:lvl4pPr>
              <a:defRPr sz="1875" b="0">
                <a:solidFill>
                  <a:srgbClr val="F4F1E9"/>
                </a:solidFill>
                <a:latin typeface="Arial"/>
                <a:ea typeface="Arial"/>
                <a:cs typeface="Arial"/>
              </a:defRPr>
            </a:lvl4pPr>
            <a:lvl5pPr>
              <a:defRPr sz="1875" b="0">
                <a:solidFill>
                  <a:srgbClr val="F4F1E9"/>
                </a:solidFill>
                <a:latin typeface="Arial"/>
                <a:ea typeface="Arial"/>
                <a:cs typeface="Arial"/>
              </a:defRPr>
            </a:lvl5pPr>
            <a:lvl6pPr>
              <a:defRPr sz="1875" b="0">
                <a:solidFill>
                  <a:srgbClr val="F4F1E9"/>
                </a:solidFill>
                <a:latin typeface="Arial"/>
                <a:ea typeface="Arial"/>
                <a:cs typeface="Arial"/>
              </a:defRPr>
            </a:lvl6pPr>
            <a:lvl7pPr>
              <a:defRPr sz="1875" b="0">
                <a:solidFill>
                  <a:srgbClr val="F4F1E9"/>
                </a:solidFill>
                <a:latin typeface="Arial"/>
                <a:ea typeface="Arial"/>
                <a:cs typeface="Arial"/>
              </a:defRPr>
            </a:lvl7pPr>
            <a:lvl8pPr>
              <a:defRPr sz="1875" b="0">
                <a:solidFill>
                  <a:srgbClr val="F4F1E9"/>
                </a:solidFill>
                <a:latin typeface="Arial"/>
                <a:ea typeface="Arial"/>
                <a:cs typeface="Arial"/>
              </a:defRPr>
            </a:lvl8pPr>
            <a:lvl9pPr>
              <a:defRPr sz="1875" b="0">
                <a:solidFill>
                  <a:srgbClr val="F4F1E9"/>
                </a:solidFill>
                <a:latin typeface="Arial"/>
                <a:ea typeface="Arial"/>
                <a:cs typeface="Arial"/>
              </a:defRPr>
            </a:lvl9pPr>
          </a:lstStyle>
          <a:p>
            <a:pPr>
              <a:defRPr sz="1875" b="0">
                <a:solidFill>
                  <a:srgbClr val="F4F1E9"/>
                </a:solidFill>
                <a:latin typeface="Arial"/>
                <a:ea typeface="Arial"/>
                <a:cs typeface="Arial"/>
              </a:defRPr>
            </a:pPr>
            <a:r>
              <a:rPr sz="1875" b="0">
                <a:solidFill>
                  <a:srgbClr val="F4F1E9"/>
                </a:solidFill>
                <a:latin typeface="Arial"/>
                <a:ea typeface="Arial"/>
                <a:cs typeface="Arial"/>
              </a:rPr>
              <a:t>Select parameters using F1 and MAE on 900 rows</a:t>
            </a:r>
          </a:p>
        </p:txBody>
      </p:sp>
      <p:sp>
        <p:nvSpPr>
          <p:cNvPr id="24" name="background-22">
            <a:extLst>
              <a:ext uri="{FF2B5EF4-FFF2-40B4-BE49-F238E27FC236}">
                <a16:creationId xmlns:a16="http://schemas.microsoft.com/office/drawing/2014/main" id="{F35FB3AC-2958-4BE1-87D8-ABA7182205C9}"/>
              </a:ext>
            </a:extLst>
          </p:cNvPr>
          <p:cNvSpPr>
            <a:spLocks noGrp="1"/>
          </p:cNvSpPr>
          <p:nvPr/>
        </p:nvSpPr>
        <p:spPr>
          <a:xfrm>
            <a:off x="1362075" y="4791075"/>
            <a:ext cx="10220325" cy="9525"/>
          </a:xfrm>
          <a:prstGeom prst="rect">
            <a:avLst/>
          </a:prstGeom>
          <a:solidFill>
            <a:srgbClr val="435046"/>
          </a:solidFill>
          <a:ln w="0">
            <a:noFill/>
          </a:ln>
        </p:spPr>
      </p:sp>
      <p:sp>
        <p:nvSpPr>
          <p:cNvPr id="25" name="reveal-23">
            <a:extLst>
              <a:ext uri="{FF2B5EF4-FFF2-40B4-BE49-F238E27FC236}">
                <a16:creationId xmlns:a16="http://schemas.microsoft.com/office/drawing/2014/main" id="{A8F04EA7-F873-44B5-9BDF-F72980BBADCF}"/>
              </a:ext>
            </a:extLst>
          </p:cNvPr>
          <p:cNvSpPr>
            <a:spLocks noGrp="1"/>
          </p:cNvSpPr>
          <p:nvPr/>
        </p:nvSpPr>
        <p:spPr>
          <a:xfrm>
            <a:off x="552450" y="4867275"/>
            <a:ext cx="590550" cy="457200"/>
          </a:xfrm>
          <a:prstGeom prst="rect">
            <a:avLst/>
          </a:prstGeom>
          <a:noFill/>
          <a:ln w="0">
            <a:noFill/>
          </a:ln>
        </p:spPr>
        <p:txBody>
          <a:bodyPr wrap="square" lIns="0" tIns="0" rIns="0" bIns="0" anchor="t">
            <a:noAutofit/>
          </a:bodyPr>
          <a:lstStyle>
            <a:defPPr>
              <a:defRPr sz="2550" b="1">
                <a:solidFill>
                  <a:srgbClr val="D5AF83"/>
                </a:solidFill>
                <a:latin typeface="Arial"/>
                <a:ea typeface="Arial"/>
                <a:cs typeface="Arial"/>
              </a:defRPr>
            </a:defPPr>
            <a:lvl1pPr>
              <a:defRPr sz="2550" b="1">
                <a:solidFill>
                  <a:srgbClr val="D5AF83"/>
                </a:solidFill>
                <a:latin typeface="Arial"/>
                <a:ea typeface="Arial"/>
                <a:cs typeface="Arial"/>
              </a:defRPr>
            </a:lvl1pPr>
            <a:lvl2pPr>
              <a:defRPr sz="2550" b="1">
                <a:solidFill>
                  <a:srgbClr val="D5AF83"/>
                </a:solidFill>
                <a:latin typeface="Arial"/>
                <a:ea typeface="Arial"/>
                <a:cs typeface="Arial"/>
              </a:defRPr>
            </a:lvl2pPr>
            <a:lvl3pPr>
              <a:defRPr sz="2550" b="1">
                <a:solidFill>
                  <a:srgbClr val="D5AF83"/>
                </a:solidFill>
                <a:latin typeface="Arial"/>
                <a:ea typeface="Arial"/>
                <a:cs typeface="Arial"/>
              </a:defRPr>
            </a:lvl3pPr>
            <a:lvl4pPr>
              <a:defRPr sz="2550" b="1">
                <a:solidFill>
                  <a:srgbClr val="D5AF83"/>
                </a:solidFill>
                <a:latin typeface="Arial"/>
                <a:ea typeface="Arial"/>
                <a:cs typeface="Arial"/>
              </a:defRPr>
            </a:lvl4pPr>
            <a:lvl5pPr>
              <a:defRPr sz="2550" b="1">
                <a:solidFill>
                  <a:srgbClr val="D5AF83"/>
                </a:solidFill>
                <a:latin typeface="Arial"/>
                <a:ea typeface="Arial"/>
                <a:cs typeface="Arial"/>
              </a:defRPr>
            </a:lvl5pPr>
            <a:lvl6pPr>
              <a:defRPr sz="2550" b="1">
                <a:solidFill>
                  <a:srgbClr val="D5AF83"/>
                </a:solidFill>
                <a:latin typeface="Arial"/>
                <a:ea typeface="Arial"/>
                <a:cs typeface="Arial"/>
              </a:defRPr>
            </a:lvl6pPr>
            <a:lvl7pPr>
              <a:defRPr sz="2550" b="1">
                <a:solidFill>
                  <a:srgbClr val="D5AF83"/>
                </a:solidFill>
                <a:latin typeface="Arial"/>
                <a:ea typeface="Arial"/>
                <a:cs typeface="Arial"/>
              </a:defRPr>
            </a:lvl7pPr>
            <a:lvl8pPr>
              <a:defRPr sz="2550" b="1">
                <a:solidFill>
                  <a:srgbClr val="D5AF83"/>
                </a:solidFill>
                <a:latin typeface="Arial"/>
                <a:ea typeface="Arial"/>
                <a:cs typeface="Arial"/>
              </a:defRPr>
            </a:lvl8pPr>
            <a:lvl9pPr>
              <a:defRPr sz="2550" b="1">
                <a:solidFill>
                  <a:srgbClr val="D5AF83"/>
                </a:solidFill>
                <a:latin typeface="Arial"/>
                <a:ea typeface="Arial"/>
                <a:cs typeface="Arial"/>
              </a:defRPr>
            </a:lvl9pPr>
          </a:lstStyle>
          <a:p>
            <a:pPr>
              <a:defRPr sz="2550" b="1">
                <a:solidFill>
                  <a:srgbClr val="D5AF83"/>
                </a:solidFill>
                <a:latin typeface="Arial"/>
                <a:ea typeface="Arial"/>
                <a:cs typeface="Arial"/>
              </a:defRPr>
            </a:pPr>
            <a:r>
              <a:rPr sz="2550" b="1">
                <a:solidFill>
                  <a:srgbClr val="D5AF83"/>
                </a:solidFill>
                <a:latin typeface="Arial"/>
                <a:ea typeface="Arial"/>
                <a:cs typeface="Arial"/>
              </a:rPr>
              <a:t>05</a:t>
            </a:r>
          </a:p>
        </p:txBody>
      </p:sp>
      <p:sp>
        <p:nvSpPr>
          <p:cNvPr id="26" name="reveal-24">
            <a:extLst>
              <a:ext uri="{FF2B5EF4-FFF2-40B4-BE49-F238E27FC236}">
                <a16:creationId xmlns:a16="http://schemas.microsoft.com/office/drawing/2014/main" id="{EE3C0D7E-569F-417B-88C5-A262283495F2}"/>
              </a:ext>
            </a:extLst>
          </p:cNvPr>
          <p:cNvSpPr>
            <a:spLocks noGrp="1"/>
          </p:cNvSpPr>
          <p:nvPr/>
        </p:nvSpPr>
        <p:spPr>
          <a:xfrm>
            <a:off x="1362075" y="4886325"/>
            <a:ext cx="2857500" cy="457200"/>
          </a:xfrm>
          <a:prstGeom prst="rect">
            <a:avLst/>
          </a:prstGeom>
          <a:noFill/>
          <a:ln w="0">
            <a:noFill/>
          </a:ln>
        </p:spPr>
        <p:txBody>
          <a:bodyPr wrap="square" lIns="0" tIns="0" rIns="0" bIns="0" anchor="t">
            <a:noAutofit/>
          </a:bodyPr>
          <a:lstStyle>
            <a:defPPr>
              <a:defRPr sz="2025" b="1">
                <a:solidFill>
                  <a:srgbClr val="F4F1E9"/>
                </a:solidFill>
                <a:latin typeface="Arial"/>
                <a:ea typeface="Arial"/>
                <a:cs typeface="Arial"/>
              </a:defRPr>
            </a:defPPr>
            <a:lvl1pPr>
              <a:defRPr sz="2025" b="1">
                <a:solidFill>
                  <a:srgbClr val="F4F1E9"/>
                </a:solidFill>
                <a:latin typeface="Arial"/>
                <a:ea typeface="Arial"/>
                <a:cs typeface="Arial"/>
              </a:defRPr>
            </a:lvl1pPr>
            <a:lvl2pPr>
              <a:defRPr sz="2025" b="1">
                <a:solidFill>
                  <a:srgbClr val="F4F1E9"/>
                </a:solidFill>
                <a:latin typeface="Arial"/>
                <a:ea typeface="Arial"/>
                <a:cs typeface="Arial"/>
              </a:defRPr>
            </a:lvl2pPr>
            <a:lvl3pPr>
              <a:defRPr sz="2025" b="1">
                <a:solidFill>
                  <a:srgbClr val="F4F1E9"/>
                </a:solidFill>
                <a:latin typeface="Arial"/>
                <a:ea typeface="Arial"/>
                <a:cs typeface="Arial"/>
              </a:defRPr>
            </a:lvl3pPr>
            <a:lvl4pPr>
              <a:defRPr sz="2025" b="1">
                <a:solidFill>
                  <a:srgbClr val="F4F1E9"/>
                </a:solidFill>
                <a:latin typeface="Arial"/>
                <a:ea typeface="Arial"/>
                <a:cs typeface="Arial"/>
              </a:defRPr>
            </a:lvl4pPr>
            <a:lvl5pPr>
              <a:defRPr sz="2025" b="1">
                <a:solidFill>
                  <a:srgbClr val="F4F1E9"/>
                </a:solidFill>
                <a:latin typeface="Arial"/>
                <a:ea typeface="Arial"/>
                <a:cs typeface="Arial"/>
              </a:defRPr>
            </a:lvl5pPr>
            <a:lvl6pPr>
              <a:defRPr sz="2025" b="1">
                <a:solidFill>
                  <a:srgbClr val="F4F1E9"/>
                </a:solidFill>
                <a:latin typeface="Arial"/>
                <a:ea typeface="Arial"/>
                <a:cs typeface="Arial"/>
              </a:defRPr>
            </a:lvl6pPr>
            <a:lvl7pPr>
              <a:defRPr sz="2025" b="1">
                <a:solidFill>
                  <a:srgbClr val="F4F1E9"/>
                </a:solidFill>
                <a:latin typeface="Arial"/>
                <a:ea typeface="Arial"/>
                <a:cs typeface="Arial"/>
              </a:defRPr>
            </a:lvl7pPr>
            <a:lvl8pPr>
              <a:defRPr sz="2025" b="1">
                <a:solidFill>
                  <a:srgbClr val="F4F1E9"/>
                </a:solidFill>
                <a:latin typeface="Arial"/>
                <a:ea typeface="Arial"/>
                <a:cs typeface="Arial"/>
              </a:defRPr>
            </a:lvl8pPr>
            <a:lvl9pPr>
              <a:defRPr sz="2025" b="1">
                <a:solidFill>
                  <a:srgbClr val="F4F1E9"/>
                </a:solidFill>
                <a:latin typeface="Arial"/>
                <a:ea typeface="Arial"/>
                <a:cs typeface="Arial"/>
              </a:defRPr>
            </a:lvl9pPr>
          </a:lstStyle>
          <a:p>
            <a:pPr>
              <a:defRPr sz="2025" b="1">
                <a:solidFill>
                  <a:srgbClr val="F4F1E9"/>
                </a:solidFill>
                <a:latin typeface="Arial"/>
                <a:ea typeface="Arial"/>
                <a:cs typeface="Arial"/>
              </a:defRPr>
            </a:pPr>
            <a:r>
              <a:rPr sz="2025" b="1">
                <a:solidFill>
                  <a:srgbClr val="F4F1E9"/>
                </a:solidFill>
                <a:latin typeface="Arial"/>
                <a:ea typeface="Arial"/>
                <a:cs typeface="Arial"/>
              </a:rPr>
              <a:t>Final test</a:t>
            </a:r>
          </a:p>
        </p:txBody>
      </p:sp>
      <p:sp>
        <p:nvSpPr>
          <p:cNvPr id="27" name="reveal-25">
            <a:extLst>
              <a:ext uri="{FF2B5EF4-FFF2-40B4-BE49-F238E27FC236}">
                <a16:creationId xmlns:a16="http://schemas.microsoft.com/office/drawing/2014/main" id="{1E31F568-6BE4-4BF0-95DF-E2C5EF86DC19}"/>
              </a:ext>
            </a:extLst>
          </p:cNvPr>
          <p:cNvSpPr>
            <a:spLocks noGrp="1"/>
          </p:cNvSpPr>
          <p:nvPr/>
        </p:nvSpPr>
        <p:spPr>
          <a:xfrm>
            <a:off x="4438650" y="4886325"/>
            <a:ext cx="7124700" cy="542925"/>
          </a:xfrm>
          <a:prstGeom prst="rect">
            <a:avLst/>
          </a:prstGeom>
          <a:noFill/>
          <a:ln w="0">
            <a:noFill/>
          </a:ln>
        </p:spPr>
        <p:txBody>
          <a:bodyPr wrap="square" lIns="0" tIns="0" rIns="0" bIns="0" anchor="t">
            <a:noAutofit/>
          </a:bodyPr>
          <a:lstStyle>
            <a:defPPr>
              <a:defRPr sz="1875" b="0">
                <a:solidFill>
                  <a:srgbClr val="F4F1E9"/>
                </a:solidFill>
                <a:latin typeface="Arial"/>
                <a:ea typeface="Arial"/>
                <a:cs typeface="Arial"/>
              </a:defRPr>
            </a:defPPr>
            <a:lvl1pPr>
              <a:defRPr sz="1875" b="0">
                <a:solidFill>
                  <a:srgbClr val="F4F1E9"/>
                </a:solidFill>
                <a:latin typeface="Arial"/>
                <a:ea typeface="Arial"/>
                <a:cs typeface="Arial"/>
              </a:defRPr>
            </a:lvl1pPr>
            <a:lvl2pPr>
              <a:defRPr sz="1875" b="0">
                <a:solidFill>
                  <a:srgbClr val="F4F1E9"/>
                </a:solidFill>
                <a:latin typeface="Arial"/>
                <a:ea typeface="Arial"/>
                <a:cs typeface="Arial"/>
              </a:defRPr>
            </a:lvl2pPr>
            <a:lvl3pPr>
              <a:defRPr sz="1875" b="0">
                <a:solidFill>
                  <a:srgbClr val="F4F1E9"/>
                </a:solidFill>
                <a:latin typeface="Arial"/>
                <a:ea typeface="Arial"/>
                <a:cs typeface="Arial"/>
              </a:defRPr>
            </a:lvl3pPr>
            <a:lvl4pPr>
              <a:defRPr sz="1875" b="0">
                <a:solidFill>
                  <a:srgbClr val="F4F1E9"/>
                </a:solidFill>
                <a:latin typeface="Arial"/>
                <a:ea typeface="Arial"/>
                <a:cs typeface="Arial"/>
              </a:defRPr>
            </a:lvl4pPr>
            <a:lvl5pPr>
              <a:defRPr sz="1875" b="0">
                <a:solidFill>
                  <a:srgbClr val="F4F1E9"/>
                </a:solidFill>
                <a:latin typeface="Arial"/>
                <a:ea typeface="Arial"/>
                <a:cs typeface="Arial"/>
              </a:defRPr>
            </a:lvl5pPr>
            <a:lvl6pPr>
              <a:defRPr sz="1875" b="0">
                <a:solidFill>
                  <a:srgbClr val="F4F1E9"/>
                </a:solidFill>
                <a:latin typeface="Arial"/>
                <a:ea typeface="Arial"/>
                <a:cs typeface="Arial"/>
              </a:defRPr>
            </a:lvl6pPr>
            <a:lvl7pPr>
              <a:defRPr sz="1875" b="0">
                <a:solidFill>
                  <a:srgbClr val="F4F1E9"/>
                </a:solidFill>
                <a:latin typeface="Arial"/>
                <a:ea typeface="Arial"/>
                <a:cs typeface="Arial"/>
              </a:defRPr>
            </a:lvl7pPr>
            <a:lvl8pPr>
              <a:defRPr sz="1875" b="0">
                <a:solidFill>
                  <a:srgbClr val="F4F1E9"/>
                </a:solidFill>
                <a:latin typeface="Arial"/>
                <a:ea typeface="Arial"/>
                <a:cs typeface="Arial"/>
              </a:defRPr>
            </a:lvl8pPr>
            <a:lvl9pPr>
              <a:defRPr sz="1875" b="0">
                <a:solidFill>
                  <a:srgbClr val="F4F1E9"/>
                </a:solidFill>
                <a:latin typeface="Arial"/>
                <a:ea typeface="Arial"/>
                <a:cs typeface="Arial"/>
              </a:defRPr>
            </a:lvl9pPr>
          </a:lstStyle>
          <a:p>
            <a:pPr>
              <a:defRPr sz="1875" b="0">
                <a:solidFill>
                  <a:srgbClr val="F4F1E9"/>
                </a:solidFill>
                <a:latin typeface="Arial"/>
                <a:ea typeface="Arial"/>
                <a:cs typeface="Arial"/>
              </a:defRPr>
            </a:pPr>
            <a:r>
              <a:rPr sz="1875" b="0">
                <a:solidFill>
                  <a:srgbClr val="F4F1E9"/>
                </a:solidFill>
                <a:latin typeface="Arial"/>
                <a:ea typeface="Arial"/>
                <a:cs typeface="Arial"/>
              </a:rPr>
              <a:t>Report held-out metrics and save reproducible predictions</a:t>
            </a:r>
          </a:p>
        </p:txBody>
      </p:sp>
      <p:sp>
        <p:nvSpPr>
          <p:cNvPr id="28" name="background-26">
            <a:extLst>
              <a:ext uri="{FF2B5EF4-FFF2-40B4-BE49-F238E27FC236}">
                <a16:creationId xmlns:a16="http://schemas.microsoft.com/office/drawing/2014/main" id="{2266DC94-150F-49FB-94B4-7E2E67422DC3}"/>
              </a:ext>
            </a:extLst>
          </p:cNvPr>
          <p:cNvSpPr>
            <a:spLocks noGrp="1"/>
          </p:cNvSpPr>
          <p:nvPr/>
        </p:nvSpPr>
        <p:spPr>
          <a:xfrm>
            <a:off x="1362075" y="5410200"/>
            <a:ext cx="10220325" cy="9525"/>
          </a:xfrm>
          <a:prstGeom prst="rect">
            <a:avLst/>
          </a:prstGeom>
          <a:solidFill>
            <a:srgbClr val="435046"/>
          </a:solidFill>
          <a:ln w="0">
            <a:noFill/>
          </a:ln>
        </p:spPr>
      </p:sp>
      <p:sp>
        <p:nvSpPr>
          <p:cNvPr id="29" name="body-4-27">
            <a:extLst>
              <a:ext uri="{FF2B5EF4-FFF2-40B4-BE49-F238E27FC236}">
                <a16:creationId xmlns:a16="http://schemas.microsoft.com/office/drawing/2014/main" id="{8D95E299-07B5-47FE-8B29-E87F8648AD1F}"/>
              </a:ext>
            </a:extLst>
          </p:cNvPr>
          <p:cNvSpPr>
            <a:spLocks noGrp="1"/>
          </p:cNvSpPr>
          <p:nvPr/>
        </p:nvSpPr>
        <p:spPr>
          <a:xfrm>
            <a:off x="552450" y="5762625"/>
            <a:ext cx="11087100" cy="438150"/>
          </a:xfrm>
          <a:prstGeom prst="rect">
            <a:avLst/>
          </a:prstGeom>
          <a:noFill/>
          <a:ln w="0">
            <a:noFill/>
          </a:ln>
        </p:spPr>
        <p:txBody>
          <a:bodyPr wrap="square" lIns="0" tIns="0" rIns="0" bIns="0" anchor="t">
            <a:noAutofit/>
          </a:bodyPr>
          <a:lstStyle>
            <a:defPPr>
              <a:defRPr sz="1725" b="0">
                <a:solidFill>
                  <a:srgbClr val="9CAA8A"/>
                </a:solidFill>
                <a:latin typeface="Arial"/>
                <a:ea typeface="Arial"/>
                <a:cs typeface="Arial"/>
              </a:defRPr>
            </a:defPPr>
            <a:lvl1pPr>
              <a:defRPr sz="1725" b="0">
                <a:solidFill>
                  <a:srgbClr val="9CAA8A"/>
                </a:solidFill>
                <a:latin typeface="Arial"/>
                <a:ea typeface="Arial"/>
                <a:cs typeface="Arial"/>
              </a:defRPr>
            </a:lvl1pPr>
            <a:lvl2pPr>
              <a:defRPr sz="1725" b="0">
                <a:solidFill>
                  <a:srgbClr val="9CAA8A"/>
                </a:solidFill>
                <a:latin typeface="Arial"/>
                <a:ea typeface="Arial"/>
                <a:cs typeface="Arial"/>
              </a:defRPr>
            </a:lvl2pPr>
            <a:lvl3pPr>
              <a:defRPr sz="1725" b="0">
                <a:solidFill>
                  <a:srgbClr val="9CAA8A"/>
                </a:solidFill>
                <a:latin typeface="Arial"/>
                <a:ea typeface="Arial"/>
                <a:cs typeface="Arial"/>
              </a:defRPr>
            </a:lvl3pPr>
            <a:lvl4pPr>
              <a:defRPr sz="1725" b="0">
                <a:solidFill>
                  <a:srgbClr val="9CAA8A"/>
                </a:solidFill>
                <a:latin typeface="Arial"/>
                <a:ea typeface="Arial"/>
                <a:cs typeface="Arial"/>
              </a:defRPr>
            </a:lvl4pPr>
            <a:lvl5pPr>
              <a:defRPr sz="1725" b="0">
                <a:solidFill>
                  <a:srgbClr val="9CAA8A"/>
                </a:solidFill>
                <a:latin typeface="Arial"/>
                <a:ea typeface="Arial"/>
                <a:cs typeface="Arial"/>
              </a:defRPr>
            </a:lvl5pPr>
            <a:lvl6pPr>
              <a:defRPr sz="1725" b="0">
                <a:solidFill>
                  <a:srgbClr val="9CAA8A"/>
                </a:solidFill>
                <a:latin typeface="Arial"/>
                <a:ea typeface="Arial"/>
                <a:cs typeface="Arial"/>
              </a:defRPr>
            </a:lvl6pPr>
            <a:lvl7pPr>
              <a:defRPr sz="1725" b="0">
                <a:solidFill>
                  <a:srgbClr val="9CAA8A"/>
                </a:solidFill>
                <a:latin typeface="Arial"/>
                <a:ea typeface="Arial"/>
                <a:cs typeface="Arial"/>
              </a:defRPr>
            </a:lvl7pPr>
            <a:lvl8pPr>
              <a:defRPr sz="1725" b="0">
                <a:solidFill>
                  <a:srgbClr val="9CAA8A"/>
                </a:solidFill>
                <a:latin typeface="Arial"/>
                <a:ea typeface="Arial"/>
                <a:cs typeface="Arial"/>
              </a:defRPr>
            </a:lvl8pPr>
            <a:lvl9pPr>
              <a:defRPr sz="1725" b="0">
                <a:solidFill>
                  <a:srgbClr val="9CAA8A"/>
                </a:solidFill>
                <a:latin typeface="Arial"/>
                <a:ea typeface="Arial"/>
                <a:cs typeface="Arial"/>
              </a:defRPr>
            </a:lvl9pPr>
          </a:lstStyle>
          <a:p>
            <a:pPr>
              <a:defRPr sz="1725" b="0">
                <a:solidFill>
                  <a:srgbClr val="9CAA8A"/>
                </a:solidFill>
                <a:latin typeface="Arial"/>
                <a:ea typeface="Arial"/>
                <a:cs typeface="Arial"/>
              </a:defRPr>
            </a:pPr>
            <a:r>
              <a:rPr sz="1725" b="0">
                <a:solidFill>
                  <a:srgbClr val="9CAA8A"/>
                </a:solidFill>
                <a:latin typeface="Arial"/>
                <a:ea typeface="Arial"/>
                <a:cs typeface="Arial"/>
              </a:rPr>
              <a:t>Original CSVs and raw features remain unchanged throughout the experiment.</a:t>
            </a:r>
          </a:p>
        </p:txBody>
      </p:sp>
    </p:spTree>
    <p:extLst>
      <p:ext uri="{BB962C8B-B14F-4D97-AF65-F5344CB8AC3E}">
        <p14:creationId xmlns:p14="http://schemas.microsoft.com/office/powerpoint/2010/main" val="30072387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30"/>
                                        <p:tgtEl>
                                          <p:spTgt spid="11"/>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30"/>
                                        <p:tgtEl>
                                          <p:spTgt spid="13"/>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30"/>
                                        <p:tgtEl>
                                          <p:spTgt spid="14"/>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30"/>
                                        <p:tgtEl>
                                          <p:spTgt spid="15"/>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30"/>
                                        <p:tgtEl>
                                          <p:spTgt spid="17"/>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30"/>
                                        <p:tgtEl>
                                          <p:spTgt spid="18"/>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130"/>
                                        <p:tgtEl>
                                          <p:spTgt spid="19"/>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30"/>
                                        <p:tgtEl>
                                          <p:spTgt spid="21"/>
                                        </p:tgtEl>
                                      </p:cBhvr>
                                    </p:animEffect>
                                  </p:childTnLst>
                                </p:cTn>
                              </p:par>
                            </p:childTnLst>
                          </p:cTn>
                        </p:par>
                        <p:par>
                          <p:cTn id="56" fill="hold">
                            <p:stCondLst>
                              <p:cond delay="196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130"/>
                                        <p:tgtEl>
                                          <p:spTgt spid="22"/>
                                        </p:tgtEl>
                                      </p:cBhvr>
                                    </p:animEffect>
                                  </p:childTnLst>
                                </p:cTn>
                              </p:par>
                            </p:childTnLst>
                          </p:cTn>
                        </p:par>
                        <p:par>
                          <p:cTn id="60" fill="hold">
                            <p:stCondLst>
                              <p:cond delay="209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130"/>
                                        <p:tgtEl>
                                          <p:spTgt spid="23"/>
                                        </p:tgtEl>
                                      </p:cBhvr>
                                    </p:animEffect>
                                  </p:childTnLst>
                                </p:cTn>
                              </p:par>
                            </p:childTnLst>
                          </p:cTn>
                        </p:par>
                        <p:par>
                          <p:cTn id="64" fill="hold">
                            <p:stCondLst>
                              <p:cond delay="2220"/>
                            </p:stCondLst>
                            <p:childTnLst>
                              <p:par>
                                <p:cTn id="65" presetID="10" presetClass="entr" presetSubtype="0"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130"/>
                                        <p:tgtEl>
                                          <p:spTgt spid="25"/>
                                        </p:tgtEl>
                                      </p:cBhvr>
                                    </p:animEffect>
                                  </p:childTnLst>
                                </p:cTn>
                              </p:par>
                            </p:childTnLst>
                          </p:cTn>
                        </p:par>
                        <p:par>
                          <p:cTn id="68" fill="hold">
                            <p:stCondLst>
                              <p:cond delay="2350"/>
                            </p:stCondLst>
                            <p:childTnLst>
                              <p:par>
                                <p:cTn id="69" presetID="10" presetClass="entr" presetSubtype="0" fill="hold" grpId="0" nodeType="after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130"/>
                                        <p:tgtEl>
                                          <p:spTgt spid="26"/>
                                        </p:tgtEl>
                                      </p:cBhvr>
                                    </p:animEffect>
                                  </p:childTnLst>
                                </p:cTn>
                              </p:par>
                            </p:childTnLst>
                          </p:cTn>
                        </p:par>
                        <p:par>
                          <p:cTn id="72" fill="hold">
                            <p:stCondLst>
                              <p:cond delay="2480"/>
                            </p:stCondLst>
                            <p:childTnLst>
                              <p:par>
                                <p:cTn id="73" presetID="10" presetClass="entr" presetSubtype="0"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130"/>
                                        <p:tgtEl>
                                          <p:spTgt spid="27"/>
                                        </p:tgtEl>
                                      </p:cBhvr>
                                    </p:animEffect>
                                  </p:childTnLst>
                                </p:cTn>
                              </p:par>
                            </p:childTnLst>
                          </p:cTn>
                        </p:par>
                        <p:par>
                          <p:cTn id="76" fill="hold">
                            <p:stCondLst>
                              <p:cond delay="2610"/>
                            </p:stCondLst>
                            <p:childTnLst>
                              <p:par>
                                <p:cTn id="77" presetID="10"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13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3" grpId="0"/>
      <p:bldP spid="14" grpId="0"/>
      <p:bldP spid="15" grpId="0"/>
      <p:bldP spid="17" grpId="0"/>
      <p:bldP spid="18" grpId="0"/>
      <p:bldP spid="19" grpId="0"/>
      <p:bldP spid="21" grpId="0"/>
      <p:bldP spid="22" grpId="0"/>
      <p:bldP spid="23" grpId="0"/>
      <p:bldP spid="25" grpId="0"/>
      <p:bldP spid="26" grpId="0"/>
      <p:bldP spid="27"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599C58B0-6713-4FCB-9BC1-E5E6D0F6BEA3}"/>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6CB9EFD4-5403-4705-9C4A-081D501ABA9F}"/>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D4C89D03-8D1E-4C22-99AA-259F83BA7ABA}"/>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08 / 12</a:t>
            </a:r>
          </a:p>
        </p:txBody>
      </p:sp>
      <p:sp>
        <p:nvSpPr>
          <p:cNvPr id="5" name="title-1-3">
            <a:extLst>
              <a:ext uri="{FF2B5EF4-FFF2-40B4-BE49-F238E27FC236}">
                <a16:creationId xmlns:a16="http://schemas.microsoft.com/office/drawing/2014/main" id="{F117F0A7-0710-4F49-AC5C-BA68A3BFFACF}"/>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ML algorithms: Random Forest</a:t>
            </a:r>
          </a:p>
        </p:txBody>
      </p:sp>
      <p:sp>
        <p:nvSpPr>
          <p:cNvPr id="6" name="background-4">
            <a:extLst>
              <a:ext uri="{FF2B5EF4-FFF2-40B4-BE49-F238E27FC236}">
                <a16:creationId xmlns:a16="http://schemas.microsoft.com/office/drawing/2014/main" id="{521E869B-4742-4CBC-A404-537CB3E76FCF}"/>
              </a:ext>
            </a:extLst>
          </p:cNvPr>
          <p:cNvSpPr>
            <a:spLocks noGrp="1"/>
          </p:cNvSpPr>
          <p:nvPr/>
        </p:nvSpPr>
        <p:spPr>
          <a:xfrm>
            <a:off x="552450" y="6257925"/>
            <a:ext cx="9906000" cy="9525"/>
          </a:xfrm>
          <a:prstGeom prst="rect">
            <a:avLst/>
          </a:prstGeom>
          <a:solidFill>
            <a:srgbClr val="D4D9CE"/>
          </a:solidFill>
          <a:ln w="0">
            <a:noFill/>
          </a:ln>
        </p:spPr>
      </p:sp>
      <p:sp>
        <p:nvSpPr>
          <p:cNvPr id="7" name="reveal-4-5">
            <a:extLst>
              <a:ext uri="{FF2B5EF4-FFF2-40B4-BE49-F238E27FC236}">
                <a16:creationId xmlns:a16="http://schemas.microsoft.com/office/drawing/2014/main" id="{6DE62D8C-2E42-4811-8AC8-760DEA798CD0}"/>
              </a:ext>
            </a:extLst>
          </p:cNvPr>
          <p:cNvSpPr>
            <a:spLocks noGrp="1"/>
          </p:cNvSpPr>
          <p:nvPr/>
        </p:nvSpPr>
        <p:spPr>
          <a:xfrm>
            <a:off x="552450" y="1905000"/>
            <a:ext cx="5286375" cy="41910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RandomForestClassifier</a:t>
            </a:r>
          </a:p>
        </p:txBody>
      </p:sp>
      <p:sp>
        <p:nvSpPr>
          <p:cNvPr id="8" name="reveal-5-6">
            <a:extLst>
              <a:ext uri="{FF2B5EF4-FFF2-40B4-BE49-F238E27FC236}">
                <a16:creationId xmlns:a16="http://schemas.microsoft.com/office/drawing/2014/main" id="{BD477C57-403D-4264-9939-B0D9063FF7C0}"/>
              </a:ext>
            </a:extLst>
          </p:cNvPr>
          <p:cNvSpPr>
            <a:spLocks noGrp="1"/>
          </p:cNvSpPr>
          <p:nvPr/>
        </p:nvSpPr>
        <p:spPr>
          <a:xfrm>
            <a:off x="552450" y="2390775"/>
            <a:ext cx="5191125" cy="1076325"/>
          </a:xfrm>
          <a:prstGeom prst="rect">
            <a:avLst/>
          </a:prstGeom>
          <a:noFill/>
          <a:ln w="0">
            <a:noFill/>
          </a:ln>
        </p:spPr>
        <p:txBody>
          <a:bodyPr wrap="square" lIns="0" tIns="0" rIns="0" bIns="0" anchor="t">
            <a:noAutofit/>
          </a:bodyPr>
          <a:lstStyle>
            <a:defPPr>
              <a:defRPr sz="1950" b="0">
                <a:solidFill>
                  <a:srgbClr val="202925"/>
                </a:solidFill>
                <a:latin typeface="Arial"/>
                <a:ea typeface="Arial"/>
                <a:cs typeface="Arial"/>
              </a:defRPr>
            </a:defPPr>
            <a:lvl1pPr>
              <a:defRPr sz="1950" b="0">
                <a:solidFill>
                  <a:srgbClr val="202925"/>
                </a:solidFill>
                <a:latin typeface="Arial"/>
                <a:ea typeface="Arial"/>
                <a:cs typeface="Arial"/>
              </a:defRPr>
            </a:lvl1pPr>
            <a:lvl2pPr>
              <a:defRPr sz="1950" b="0">
                <a:solidFill>
                  <a:srgbClr val="202925"/>
                </a:solidFill>
                <a:latin typeface="Arial"/>
                <a:ea typeface="Arial"/>
                <a:cs typeface="Arial"/>
              </a:defRPr>
            </a:lvl2pPr>
            <a:lvl3pPr>
              <a:defRPr sz="1950" b="0">
                <a:solidFill>
                  <a:srgbClr val="202925"/>
                </a:solidFill>
                <a:latin typeface="Arial"/>
                <a:ea typeface="Arial"/>
                <a:cs typeface="Arial"/>
              </a:defRPr>
            </a:lvl3pPr>
            <a:lvl4pPr>
              <a:defRPr sz="1950" b="0">
                <a:solidFill>
                  <a:srgbClr val="202925"/>
                </a:solidFill>
                <a:latin typeface="Arial"/>
                <a:ea typeface="Arial"/>
                <a:cs typeface="Arial"/>
              </a:defRPr>
            </a:lvl4pPr>
            <a:lvl5pPr>
              <a:defRPr sz="1950" b="0">
                <a:solidFill>
                  <a:srgbClr val="202925"/>
                </a:solidFill>
                <a:latin typeface="Arial"/>
                <a:ea typeface="Arial"/>
                <a:cs typeface="Arial"/>
              </a:defRPr>
            </a:lvl5pPr>
            <a:lvl6pPr>
              <a:defRPr sz="1950" b="0">
                <a:solidFill>
                  <a:srgbClr val="202925"/>
                </a:solidFill>
                <a:latin typeface="Arial"/>
                <a:ea typeface="Arial"/>
                <a:cs typeface="Arial"/>
              </a:defRPr>
            </a:lvl6pPr>
            <a:lvl7pPr>
              <a:defRPr sz="1950" b="0">
                <a:solidFill>
                  <a:srgbClr val="202925"/>
                </a:solidFill>
                <a:latin typeface="Arial"/>
                <a:ea typeface="Arial"/>
                <a:cs typeface="Arial"/>
              </a:defRPr>
            </a:lvl7pPr>
            <a:lvl8pPr>
              <a:defRPr sz="1950" b="0">
                <a:solidFill>
                  <a:srgbClr val="202925"/>
                </a:solidFill>
                <a:latin typeface="Arial"/>
                <a:ea typeface="Arial"/>
                <a:cs typeface="Arial"/>
              </a:defRPr>
            </a:lvl8pPr>
            <a:lvl9pPr>
              <a:defRPr sz="1950" b="0">
                <a:solidFill>
                  <a:srgbClr val="202925"/>
                </a:solidFill>
                <a:latin typeface="Arial"/>
                <a:ea typeface="Arial"/>
                <a:cs typeface="Arial"/>
              </a:defRPr>
            </a:lvl9pPr>
          </a:lstStyle>
          <a:p>
            <a:pPr>
              <a:defRPr sz="1950" b="0">
                <a:solidFill>
                  <a:srgbClr val="202925"/>
                </a:solidFill>
                <a:latin typeface="Arial"/>
                <a:ea typeface="Arial"/>
                <a:cs typeface="Arial"/>
              </a:defRPr>
            </a:pPr>
            <a:r>
              <a:rPr sz="1950" b="0">
                <a:solidFill>
                  <a:srgbClr val="202925"/>
                </a:solidFill>
                <a:latin typeface="Arial"/>
                <a:ea typeface="Arial"/>
                <a:cs typeface="Arial"/>
              </a:rPr>
              <a:t>Predicts whether a departure delay is at least 15 minutes by averaging tree probabilities.</a:t>
            </a:r>
          </a:p>
        </p:txBody>
      </p:sp>
      <p:sp>
        <p:nvSpPr>
          <p:cNvPr id="9" name="reveal-6-7">
            <a:extLst>
              <a:ext uri="{FF2B5EF4-FFF2-40B4-BE49-F238E27FC236}">
                <a16:creationId xmlns:a16="http://schemas.microsoft.com/office/drawing/2014/main" id="{CF84BD5F-CF28-4634-B3D6-CE08C012797B}"/>
              </a:ext>
            </a:extLst>
          </p:cNvPr>
          <p:cNvSpPr>
            <a:spLocks noGrp="1"/>
          </p:cNvSpPr>
          <p:nvPr/>
        </p:nvSpPr>
        <p:spPr>
          <a:xfrm>
            <a:off x="6362700" y="1905000"/>
            <a:ext cx="5286375" cy="41910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RandomForestRegressor</a:t>
            </a:r>
          </a:p>
        </p:txBody>
      </p:sp>
      <p:sp>
        <p:nvSpPr>
          <p:cNvPr id="10" name="reveal-7-8">
            <a:extLst>
              <a:ext uri="{FF2B5EF4-FFF2-40B4-BE49-F238E27FC236}">
                <a16:creationId xmlns:a16="http://schemas.microsoft.com/office/drawing/2014/main" id="{9BA73418-A8AF-48DE-8DB6-E22E3C53ED2B}"/>
              </a:ext>
            </a:extLst>
          </p:cNvPr>
          <p:cNvSpPr>
            <a:spLocks noGrp="1"/>
          </p:cNvSpPr>
          <p:nvPr/>
        </p:nvSpPr>
        <p:spPr>
          <a:xfrm>
            <a:off x="6362700" y="2390775"/>
            <a:ext cx="5191125" cy="1076325"/>
          </a:xfrm>
          <a:prstGeom prst="rect">
            <a:avLst/>
          </a:prstGeom>
          <a:noFill/>
          <a:ln w="0">
            <a:noFill/>
          </a:ln>
        </p:spPr>
        <p:txBody>
          <a:bodyPr wrap="square" lIns="0" tIns="0" rIns="0" bIns="0" anchor="t">
            <a:noAutofit/>
          </a:bodyPr>
          <a:lstStyle>
            <a:defPPr>
              <a:defRPr sz="1950" b="0">
                <a:solidFill>
                  <a:srgbClr val="202925"/>
                </a:solidFill>
                <a:latin typeface="Arial"/>
                <a:ea typeface="Arial"/>
                <a:cs typeface="Arial"/>
              </a:defRPr>
            </a:defPPr>
            <a:lvl1pPr>
              <a:defRPr sz="1950" b="0">
                <a:solidFill>
                  <a:srgbClr val="202925"/>
                </a:solidFill>
                <a:latin typeface="Arial"/>
                <a:ea typeface="Arial"/>
                <a:cs typeface="Arial"/>
              </a:defRPr>
            </a:lvl1pPr>
            <a:lvl2pPr>
              <a:defRPr sz="1950" b="0">
                <a:solidFill>
                  <a:srgbClr val="202925"/>
                </a:solidFill>
                <a:latin typeface="Arial"/>
                <a:ea typeface="Arial"/>
                <a:cs typeface="Arial"/>
              </a:defRPr>
            </a:lvl2pPr>
            <a:lvl3pPr>
              <a:defRPr sz="1950" b="0">
                <a:solidFill>
                  <a:srgbClr val="202925"/>
                </a:solidFill>
                <a:latin typeface="Arial"/>
                <a:ea typeface="Arial"/>
                <a:cs typeface="Arial"/>
              </a:defRPr>
            </a:lvl3pPr>
            <a:lvl4pPr>
              <a:defRPr sz="1950" b="0">
                <a:solidFill>
                  <a:srgbClr val="202925"/>
                </a:solidFill>
                <a:latin typeface="Arial"/>
                <a:ea typeface="Arial"/>
                <a:cs typeface="Arial"/>
              </a:defRPr>
            </a:lvl4pPr>
            <a:lvl5pPr>
              <a:defRPr sz="1950" b="0">
                <a:solidFill>
                  <a:srgbClr val="202925"/>
                </a:solidFill>
                <a:latin typeface="Arial"/>
                <a:ea typeface="Arial"/>
                <a:cs typeface="Arial"/>
              </a:defRPr>
            </a:lvl5pPr>
            <a:lvl6pPr>
              <a:defRPr sz="1950" b="0">
                <a:solidFill>
                  <a:srgbClr val="202925"/>
                </a:solidFill>
                <a:latin typeface="Arial"/>
                <a:ea typeface="Arial"/>
                <a:cs typeface="Arial"/>
              </a:defRPr>
            </a:lvl6pPr>
            <a:lvl7pPr>
              <a:defRPr sz="1950" b="0">
                <a:solidFill>
                  <a:srgbClr val="202925"/>
                </a:solidFill>
                <a:latin typeface="Arial"/>
                <a:ea typeface="Arial"/>
                <a:cs typeface="Arial"/>
              </a:defRPr>
            </a:lvl7pPr>
            <a:lvl8pPr>
              <a:defRPr sz="1950" b="0">
                <a:solidFill>
                  <a:srgbClr val="202925"/>
                </a:solidFill>
                <a:latin typeface="Arial"/>
                <a:ea typeface="Arial"/>
                <a:cs typeface="Arial"/>
              </a:defRPr>
            </a:lvl8pPr>
            <a:lvl9pPr>
              <a:defRPr sz="1950" b="0">
                <a:solidFill>
                  <a:srgbClr val="202925"/>
                </a:solidFill>
                <a:latin typeface="Arial"/>
                <a:ea typeface="Arial"/>
                <a:cs typeface="Arial"/>
              </a:defRPr>
            </a:lvl9pPr>
          </a:lstStyle>
          <a:p>
            <a:pPr>
              <a:defRPr sz="1950" b="0">
                <a:solidFill>
                  <a:srgbClr val="202925"/>
                </a:solidFill>
                <a:latin typeface="Arial"/>
                <a:ea typeface="Arial"/>
                <a:cs typeface="Arial"/>
              </a:defRPr>
            </a:pPr>
            <a:r>
              <a:rPr sz="1950" b="0">
                <a:solidFill>
                  <a:srgbClr val="202925"/>
                </a:solidFill>
                <a:latin typeface="Arial"/>
                <a:ea typeface="Arial"/>
                <a:cs typeface="Arial"/>
              </a:rPr>
              <a:t>Predicts departure delay minutes by averaging the numerical outputs from 200 trees.</a:t>
            </a:r>
          </a:p>
        </p:txBody>
      </p:sp>
      <p:graphicFrame>
        <p:nvGraphicFramePr>
          <p:cNvPr id="11" name="Chart">
            <a:extLst>
              <a:ext uri="{FF2B5EF4-FFF2-40B4-BE49-F238E27FC236}">
                <a16:creationId xmlns:a16="http://schemas.microsoft.com/office/drawing/2014/main" id="{F31B1979-D420-4943-BD1B-FE920D5DF7AD}"/>
              </a:ext>
            </a:extLst>
          </p:cNvPr>
          <p:cNvGraphicFramePr/>
          <p:nvPr/>
        </p:nvGraphicFramePr>
        <p:xfrm>
          <a:off x="552450" y="3648075"/>
          <a:ext cx="5429250" cy="2352675"/>
        </p:xfrm>
        <a:graphic>
          <a:graphicData uri="http://schemas.openxmlformats.org/drawingml/2006/chart">
            <c:chart xmlns:c="http://schemas.openxmlformats.org/drawingml/2006/chart" xmlns:r="http://schemas.openxmlformats.org/officeDocument/2006/relationships" r:id="rId3"/>
          </a:graphicData>
        </a:graphic>
      </p:graphicFrame>
      <p:sp>
        <p:nvSpPr>
          <p:cNvPr id="12" name="body-8-9">
            <a:extLst>
              <a:ext uri="{FF2B5EF4-FFF2-40B4-BE49-F238E27FC236}">
                <a16:creationId xmlns:a16="http://schemas.microsoft.com/office/drawing/2014/main" id="{717EFACC-2607-4C97-AE05-408E43D73958}"/>
              </a:ext>
            </a:extLst>
          </p:cNvPr>
          <p:cNvSpPr>
            <a:spLocks noGrp="1"/>
          </p:cNvSpPr>
          <p:nvPr/>
        </p:nvSpPr>
        <p:spPr>
          <a:xfrm>
            <a:off x="6667500" y="3905250"/>
            <a:ext cx="4953000" cy="1704975"/>
          </a:xfrm>
          <a:prstGeom prst="rect">
            <a:avLst/>
          </a:prstGeom>
          <a:noFill/>
          <a:ln w="0">
            <a:noFill/>
          </a:ln>
        </p:spPr>
        <p:txBody>
          <a:bodyPr wrap="square" lIns="0" tIns="0" rIns="0" bIns="0" anchor="t">
            <a:noAutofit/>
          </a:bodyPr>
          <a:lstStyle>
            <a:defPPr>
              <a:defRPr sz="2550" b="1">
                <a:solidFill>
                  <a:srgbClr val="202925"/>
                </a:solidFill>
                <a:latin typeface="Arial"/>
                <a:ea typeface="Arial"/>
                <a:cs typeface="Arial"/>
              </a:defRPr>
            </a:defPPr>
            <a:lvl1pPr>
              <a:defRPr sz="2550" b="1">
                <a:solidFill>
                  <a:srgbClr val="202925"/>
                </a:solidFill>
                <a:latin typeface="Arial"/>
                <a:ea typeface="Arial"/>
                <a:cs typeface="Arial"/>
              </a:defRPr>
            </a:lvl1pPr>
            <a:lvl2pPr>
              <a:defRPr sz="2550" b="1">
                <a:solidFill>
                  <a:srgbClr val="202925"/>
                </a:solidFill>
                <a:latin typeface="Arial"/>
                <a:ea typeface="Arial"/>
                <a:cs typeface="Arial"/>
              </a:defRPr>
            </a:lvl2pPr>
            <a:lvl3pPr>
              <a:defRPr sz="2550" b="1">
                <a:solidFill>
                  <a:srgbClr val="202925"/>
                </a:solidFill>
                <a:latin typeface="Arial"/>
                <a:ea typeface="Arial"/>
                <a:cs typeface="Arial"/>
              </a:defRPr>
            </a:lvl3pPr>
            <a:lvl4pPr>
              <a:defRPr sz="2550" b="1">
                <a:solidFill>
                  <a:srgbClr val="202925"/>
                </a:solidFill>
                <a:latin typeface="Arial"/>
                <a:ea typeface="Arial"/>
                <a:cs typeface="Arial"/>
              </a:defRPr>
            </a:lvl4pPr>
            <a:lvl5pPr>
              <a:defRPr sz="2550" b="1">
                <a:solidFill>
                  <a:srgbClr val="202925"/>
                </a:solidFill>
                <a:latin typeface="Arial"/>
                <a:ea typeface="Arial"/>
                <a:cs typeface="Arial"/>
              </a:defRPr>
            </a:lvl5pPr>
            <a:lvl6pPr>
              <a:defRPr sz="2550" b="1">
                <a:solidFill>
                  <a:srgbClr val="202925"/>
                </a:solidFill>
                <a:latin typeface="Arial"/>
                <a:ea typeface="Arial"/>
                <a:cs typeface="Arial"/>
              </a:defRPr>
            </a:lvl6pPr>
            <a:lvl7pPr>
              <a:defRPr sz="2550" b="1">
                <a:solidFill>
                  <a:srgbClr val="202925"/>
                </a:solidFill>
                <a:latin typeface="Arial"/>
                <a:ea typeface="Arial"/>
                <a:cs typeface="Arial"/>
              </a:defRPr>
            </a:lvl7pPr>
            <a:lvl8pPr>
              <a:defRPr sz="2550" b="1">
                <a:solidFill>
                  <a:srgbClr val="202925"/>
                </a:solidFill>
                <a:latin typeface="Arial"/>
                <a:ea typeface="Arial"/>
                <a:cs typeface="Arial"/>
              </a:defRPr>
            </a:lvl8pPr>
            <a:lvl9pPr>
              <a:defRPr sz="2550" b="1">
                <a:solidFill>
                  <a:srgbClr val="202925"/>
                </a:solidFill>
                <a:latin typeface="Arial"/>
                <a:ea typeface="Arial"/>
                <a:cs typeface="Arial"/>
              </a:defRPr>
            </a:lvl9pPr>
          </a:lstStyle>
          <a:p>
            <a:pPr>
              <a:defRPr sz="2550" b="1">
                <a:solidFill>
                  <a:srgbClr val="202925"/>
                </a:solidFill>
                <a:latin typeface="Arial"/>
                <a:ea typeface="Arial"/>
                <a:cs typeface="Arial"/>
              </a:defRPr>
            </a:pPr>
            <a:r>
              <a:rPr sz="2550" b="1">
                <a:solidFill>
                  <a:srgbClr val="202925"/>
                </a:solidFill>
                <a:latin typeface="Arial"/>
                <a:ea typeface="Arial"/>
                <a:cs typeface="Arial"/>
              </a:rPr>
              <a:t>Selected parameters: 200 trees, maximum depth 8, minimum leaf size 5.</a:t>
            </a:r>
          </a:p>
        </p:txBody>
      </p:sp>
      <p:sp>
        <p:nvSpPr>
          <p:cNvPr id="13" name="body-9-10">
            <a:extLst>
              <a:ext uri="{FF2B5EF4-FFF2-40B4-BE49-F238E27FC236}">
                <a16:creationId xmlns:a16="http://schemas.microsoft.com/office/drawing/2014/main" id="{C5C8C54A-657B-4BC2-9FD4-270E2321E54D}"/>
              </a:ext>
            </a:extLst>
          </p:cNvPr>
          <p:cNvSpPr>
            <a:spLocks noGrp="1"/>
          </p:cNvSpPr>
          <p:nvPr/>
        </p:nvSpPr>
        <p:spPr>
          <a:xfrm>
            <a:off x="552450" y="6419850"/>
            <a:ext cx="9810750" cy="323850"/>
          </a:xfrm>
          <a:prstGeom prst="rect">
            <a:avLst/>
          </a:prstGeom>
          <a:noFill/>
          <a:ln w="0">
            <a:noFill/>
          </a:ln>
        </p:spPr>
        <p:txBody>
          <a:bodyPr wrap="square" lIns="0" tIns="0" rIns="0" bIns="0" anchor="t">
            <a:noAutofit/>
          </a:bodyPr>
          <a:lstStyle>
            <a:defPPr>
              <a:defRPr sz="1350" b="0">
                <a:solidFill>
                  <a:srgbClr val="69736A"/>
                </a:solidFill>
                <a:latin typeface="Arial"/>
                <a:ea typeface="Arial"/>
                <a:cs typeface="Arial"/>
              </a:defRPr>
            </a:defPPr>
            <a:lvl1pPr>
              <a:defRPr sz="1350" b="0">
                <a:solidFill>
                  <a:srgbClr val="69736A"/>
                </a:solidFill>
                <a:latin typeface="Arial"/>
                <a:ea typeface="Arial"/>
                <a:cs typeface="Arial"/>
              </a:defRPr>
            </a:lvl1pPr>
            <a:lvl2pPr>
              <a:defRPr sz="1350" b="0">
                <a:solidFill>
                  <a:srgbClr val="69736A"/>
                </a:solidFill>
                <a:latin typeface="Arial"/>
                <a:ea typeface="Arial"/>
                <a:cs typeface="Arial"/>
              </a:defRPr>
            </a:lvl2pPr>
            <a:lvl3pPr>
              <a:defRPr sz="1350" b="0">
                <a:solidFill>
                  <a:srgbClr val="69736A"/>
                </a:solidFill>
                <a:latin typeface="Arial"/>
                <a:ea typeface="Arial"/>
                <a:cs typeface="Arial"/>
              </a:defRPr>
            </a:lvl3pPr>
            <a:lvl4pPr>
              <a:defRPr sz="1350" b="0">
                <a:solidFill>
                  <a:srgbClr val="69736A"/>
                </a:solidFill>
                <a:latin typeface="Arial"/>
                <a:ea typeface="Arial"/>
                <a:cs typeface="Arial"/>
              </a:defRPr>
            </a:lvl4pPr>
            <a:lvl5pPr>
              <a:defRPr sz="1350" b="0">
                <a:solidFill>
                  <a:srgbClr val="69736A"/>
                </a:solidFill>
                <a:latin typeface="Arial"/>
                <a:ea typeface="Arial"/>
                <a:cs typeface="Arial"/>
              </a:defRPr>
            </a:lvl5pPr>
            <a:lvl6pPr>
              <a:defRPr sz="1350" b="0">
                <a:solidFill>
                  <a:srgbClr val="69736A"/>
                </a:solidFill>
                <a:latin typeface="Arial"/>
                <a:ea typeface="Arial"/>
                <a:cs typeface="Arial"/>
              </a:defRPr>
            </a:lvl6pPr>
            <a:lvl7pPr>
              <a:defRPr sz="1350" b="0">
                <a:solidFill>
                  <a:srgbClr val="69736A"/>
                </a:solidFill>
                <a:latin typeface="Arial"/>
                <a:ea typeface="Arial"/>
                <a:cs typeface="Arial"/>
              </a:defRPr>
            </a:lvl7pPr>
            <a:lvl8pPr>
              <a:defRPr sz="1350" b="0">
                <a:solidFill>
                  <a:srgbClr val="69736A"/>
                </a:solidFill>
                <a:latin typeface="Arial"/>
                <a:ea typeface="Arial"/>
                <a:cs typeface="Arial"/>
              </a:defRPr>
            </a:lvl8pPr>
            <a:lvl9pPr>
              <a:defRPr sz="1350" b="0">
                <a:solidFill>
                  <a:srgbClr val="69736A"/>
                </a:solidFill>
                <a:latin typeface="Arial"/>
                <a:ea typeface="Arial"/>
                <a:cs typeface="Arial"/>
              </a:defRPr>
            </a:lvl9pPr>
          </a:lstStyle>
          <a:p>
            <a:pPr>
              <a:defRPr sz="1350" b="0">
                <a:solidFill>
                  <a:srgbClr val="69736A"/>
                </a:solidFill>
                <a:latin typeface="Arial"/>
                <a:ea typeface="Arial"/>
                <a:cs typeface="Arial"/>
              </a:defRPr>
            </a:pPr>
            <a:r>
              <a:rPr sz="1350" b="0">
                <a:solidFill>
                  <a:srgbClr val="69736A"/>
                </a:solidFill>
                <a:latin typeface="Arial"/>
                <a:ea typeface="Arial"/>
                <a:cs typeface="Arial"/>
              </a:rPr>
              <a:t>Teaching example: three tree estimates of 18, 22 and 20 minutes have a mean of 20 minutes.</a:t>
            </a:r>
          </a:p>
        </p:txBody>
      </p:sp>
    </p:spTree>
    <p:extLst>
      <p:ext uri="{BB962C8B-B14F-4D97-AF65-F5344CB8AC3E}">
        <p14:creationId xmlns:p14="http://schemas.microsoft.com/office/powerpoint/2010/main" val="54891338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30"/>
                                        <p:tgtEl>
                                          <p:spTgt spid="11"/>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30"/>
                                        <p:tgtEl>
                                          <p:spTgt spid="12"/>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3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Graphic spid="11" grpId="0">
        <p:bldAsOne/>
      </p:bldGraphic>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89A14180-486F-4D94-BC94-95B9D7C4EC07}"/>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09D6D0B1-110D-4B71-A9A6-05D0B87536BB}"/>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PROJECT PRESENTATION</a:t>
            </a:r>
          </a:p>
        </p:txBody>
      </p:sp>
      <p:sp>
        <p:nvSpPr>
          <p:cNvPr id="4" name="footer-3-2">
            <a:extLst>
              <a:ext uri="{FF2B5EF4-FFF2-40B4-BE49-F238E27FC236}">
                <a16:creationId xmlns:a16="http://schemas.microsoft.com/office/drawing/2014/main" id="{653BDE0D-F74E-4D31-9BAE-5D071B767257}"/>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09 / 12</a:t>
            </a:r>
          </a:p>
        </p:txBody>
      </p:sp>
      <p:sp>
        <p:nvSpPr>
          <p:cNvPr id="5" name="title-1-3">
            <a:extLst>
              <a:ext uri="{FF2B5EF4-FFF2-40B4-BE49-F238E27FC236}">
                <a16:creationId xmlns:a16="http://schemas.microsoft.com/office/drawing/2014/main" id="{913EDF30-B414-4BB0-BA8A-351928A98FA0}"/>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Results and worked examples</a:t>
            </a:r>
          </a:p>
        </p:txBody>
      </p:sp>
      <p:sp>
        <p:nvSpPr>
          <p:cNvPr id="6" name="background-4">
            <a:extLst>
              <a:ext uri="{FF2B5EF4-FFF2-40B4-BE49-F238E27FC236}">
                <a16:creationId xmlns:a16="http://schemas.microsoft.com/office/drawing/2014/main" id="{1B03B057-D813-4D86-8303-2014CE779D6E}"/>
              </a:ext>
            </a:extLst>
          </p:cNvPr>
          <p:cNvSpPr>
            <a:spLocks noGrp="1"/>
          </p:cNvSpPr>
          <p:nvPr/>
        </p:nvSpPr>
        <p:spPr>
          <a:xfrm>
            <a:off x="552450" y="6257925"/>
            <a:ext cx="9906000" cy="9525"/>
          </a:xfrm>
          <a:prstGeom prst="rect">
            <a:avLst/>
          </a:prstGeom>
          <a:solidFill>
            <a:srgbClr val="435046"/>
          </a:solidFill>
          <a:ln w="0">
            <a:noFill/>
          </a:ln>
        </p:spPr>
      </p:sp>
      <p:sp>
        <p:nvSpPr>
          <p:cNvPr id="7" name="reveal-4-5">
            <a:extLst>
              <a:ext uri="{FF2B5EF4-FFF2-40B4-BE49-F238E27FC236}">
                <a16:creationId xmlns:a16="http://schemas.microsoft.com/office/drawing/2014/main" id="{B7CCF41C-6716-4392-9A41-12CCABF7FA57}"/>
              </a:ext>
            </a:extLst>
          </p:cNvPr>
          <p:cNvSpPr>
            <a:spLocks noGrp="1"/>
          </p:cNvSpPr>
          <p:nvPr/>
        </p:nvSpPr>
        <p:spPr>
          <a:xfrm>
            <a:off x="552450" y="1971675"/>
            <a:ext cx="3524250" cy="885825"/>
          </a:xfrm>
          <a:prstGeom prst="rect">
            <a:avLst/>
          </a:prstGeom>
          <a:noFill/>
          <a:ln w="0">
            <a:noFill/>
          </a:ln>
        </p:spPr>
        <p:txBody>
          <a:bodyPr wrap="square" lIns="0" tIns="0" rIns="0" bIns="0" anchor="t">
            <a:noAutofit/>
          </a:bodyPr>
          <a:lstStyle>
            <a:defPPr>
              <a:defRPr sz="5400" b="1">
                <a:solidFill>
                  <a:srgbClr val="D5AF83"/>
                </a:solidFill>
                <a:latin typeface="Arial"/>
                <a:ea typeface="Arial"/>
                <a:cs typeface="Arial"/>
              </a:defRPr>
            </a:defPPr>
            <a:lvl1pPr>
              <a:defRPr sz="5400" b="1">
                <a:solidFill>
                  <a:srgbClr val="D5AF83"/>
                </a:solidFill>
                <a:latin typeface="Arial"/>
                <a:ea typeface="Arial"/>
                <a:cs typeface="Arial"/>
              </a:defRPr>
            </a:lvl1pPr>
            <a:lvl2pPr>
              <a:defRPr sz="5400" b="1">
                <a:solidFill>
                  <a:srgbClr val="D5AF83"/>
                </a:solidFill>
                <a:latin typeface="Arial"/>
                <a:ea typeface="Arial"/>
                <a:cs typeface="Arial"/>
              </a:defRPr>
            </a:lvl2pPr>
            <a:lvl3pPr>
              <a:defRPr sz="5400" b="1">
                <a:solidFill>
                  <a:srgbClr val="D5AF83"/>
                </a:solidFill>
                <a:latin typeface="Arial"/>
                <a:ea typeface="Arial"/>
                <a:cs typeface="Arial"/>
              </a:defRPr>
            </a:lvl3pPr>
            <a:lvl4pPr>
              <a:defRPr sz="5400" b="1">
                <a:solidFill>
                  <a:srgbClr val="D5AF83"/>
                </a:solidFill>
                <a:latin typeface="Arial"/>
                <a:ea typeface="Arial"/>
                <a:cs typeface="Arial"/>
              </a:defRPr>
            </a:lvl4pPr>
            <a:lvl5pPr>
              <a:defRPr sz="5400" b="1">
                <a:solidFill>
                  <a:srgbClr val="D5AF83"/>
                </a:solidFill>
                <a:latin typeface="Arial"/>
                <a:ea typeface="Arial"/>
                <a:cs typeface="Arial"/>
              </a:defRPr>
            </a:lvl5pPr>
            <a:lvl6pPr>
              <a:defRPr sz="5400" b="1">
                <a:solidFill>
                  <a:srgbClr val="D5AF83"/>
                </a:solidFill>
                <a:latin typeface="Arial"/>
                <a:ea typeface="Arial"/>
                <a:cs typeface="Arial"/>
              </a:defRPr>
            </a:lvl6pPr>
            <a:lvl7pPr>
              <a:defRPr sz="5400" b="1">
                <a:solidFill>
                  <a:srgbClr val="D5AF83"/>
                </a:solidFill>
                <a:latin typeface="Arial"/>
                <a:ea typeface="Arial"/>
                <a:cs typeface="Arial"/>
              </a:defRPr>
            </a:lvl7pPr>
            <a:lvl8pPr>
              <a:defRPr sz="5400" b="1">
                <a:solidFill>
                  <a:srgbClr val="D5AF83"/>
                </a:solidFill>
                <a:latin typeface="Arial"/>
                <a:ea typeface="Arial"/>
                <a:cs typeface="Arial"/>
              </a:defRPr>
            </a:lvl8pPr>
            <a:lvl9pPr>
              <a:defRPr sz="5400" b="1">
                <a:solidFill>
                  <a:srgbClr val="D5AF83"/>
                </a:solidFill>
                <a:latin typeface="Arial"/>
                <a:ea typeface="Arial"/>
                <a:cs typeface="Arial"/>
              </a:defRPr>
            </a:lvl9pPr>
          </a:lstStyle>
          <a:p>
            <a:pPr>
              <a:defRPr sz="5400" b="1">
                <a:solidFill>
                  <a:srgbClr val="D5AF83"/>
                </a:solidFill>
                <a:latin typeface="Arial"/>
                <a:ea typeface="Arial"/>
                <a:cs typeface="Arial"/>
              </a:defRPr>
            </a:pPr>
            <a:r>
              <a:rPr sz="5400" b="1">
                <a:solidFill>
                  <a:srgbClr val="D5AF83"/>
                </a:solidFill>
                <a:latin typeface="Arial"/>
                <a:ea typeface="Arial"/>
                <a:cs typeface="Arial"/>
              </a:rPr>
              <a:t>81.1%</a:t>
            </a:r>
          </a:p>
        </p:txBody>
      </p:sp>
      <p:sp>
        <p:nvSpPr>
          <p:cNvPr id="8" name="body-5-6">
            <a:extLst>
              <a:ext uri="{FF2B5EF4-FFF2-40B4-BE49-F238E27FC236}">
                <a16:creationId xmlns:a16="http://schemas.microsoft.com/office/drawing/2014/main" id="{358C0EE1-BA17-451A-9FEA-D88CEE156DDA}"/>
              </a:ext>
            </a:extLst>
          </p:cNvPr>
          <p:cNvSpPr>
            <a:spLocks noGrp="1"/>
          </p:cNvSpPr>
          <p:nvPr/>
        </p:nvSpPr>
        <p:spPr>
          <a:xfrm>
            <a:off x="552450" y="2924175"/>
            <a:ext cx="3524250" cy="438150"/>
          </a:xfrm>
          <a:prstGeom prst="rect">
            <a:avLst/>
          </a:prstGeom>
          <a:noFill/>
          <a:ln w="0">
            <a:noFill/>
          </a:ln>
        </p:spPr>
        <p:txBody>
          <a:bodyPr wrap="square" lIns="0" tIns="0" rIns="0" bIns="0" anchor="t">
            <a:noAutofit/>
          </a:bodyPr>
          <a:lstStyle>
            <a:defPPr>
              <a:defRPr sz="1725" b="0">
                <a:solidFill>
                  <a:srgbClr val="F4F1E9"/>
                </a:solidFill>
                <a:latin typeface="Arial"/>
                <a:ea typeface="Arial"/>
                <a:cs typeface="Arial"/>
              </a:defRPr>
            </a:defPPr>
            <a:lvl1pPr>
              <a:defRPr sz="1725" b="0">
                <a:solidFill>
                  <a:srgbClr val="F4F1E9"/>
                </a:solidFill>
                <a:latin typeface="Arial"/>
                <a:ea typeface="Arial"/>
                <a:cs typeface="Arial"/>
              </a:defRPr>
            </a:lvl1pPr>
            <a:lvl2pPr>
              <a:defRPr sz="1725" b="0">
                <a:solidFill>
                  <a:srgbClr val="F4F1E9"/>
                </a:solidFill>
                <a:latin typeface="Arial"/>
                <a:ea typeface="Arial"/>
                <a:cs typeface="Arial"/>
              </a:defRPr>
            </a:lvl2pPr>
            <a:lvl3pPr>
              <a:defRPr sz="1725" b="0">
                <a:solidFill>
                  <a:srgbClr val="F4F1E9"/>
                </a:solidFill>
                <a:latin typeface="Arial"/>
                <a:ea typeface="Arial"/>
                <a:cs typeface="Arial"/>
              </a:defRPr>
            </a:lvl3pPr>
            <a:lvl4pPr>
              <a:defRPr sz="1725" b="0">
                <a:solidFill>
                  <a:srgbClr val="F4F1E9"/>
                </a:solidFill>
                <a:latin typeface="Arial"/>
                <a:ea typeface="Arial"/>
                <a:cs typeface="Arial"/>
              </a:defRPr>
            </a:lvl4pPr>
            <a:lvl5pPr>
              <a:defRPr sz="1725" b="0">
                <a:solidFill>
                  <a:srgbClr val="F4F1E9"/>
                </a:solidFill>
                <a:latin typeface="Arial"/>
                <a:ea typeface="Arial"/>
                <a:cs typeface="Arial"/>
              </a:defRPr>
            </a:lvl5pPr>
            <a:lvl6pPr>
              <a:defRPr sz="1725" b="0">
                <a:solidFill>
                  <a:srgbClr val="F4F1E9"/>
                </a:solidFill>
                <a:latin typeface="Arial"/>
                <a:ea typeface="Arial"/>
                <a:cs typeface="Arial"/>
              </a:defRPr>
            </a:lvl6pPr>
            <a:lvl7pPr>
              <a:defRPr sz="1725" b="0">
                <a:solidFill>
                  <a:srgbClr val="F4F1E9"/>
                </a:solidFill>
                <a:latin typeface="Arial"/>
                <a:ea typeface="Arial"/>
                <a:cs typeface="Arial"/>
              </a:defRPr>
            </a:lvl7pPr>
            <a:lvl8pPr>
              <a:defRPr sz="1725" b="0">
                <a:solidFill>
                  <a:srgbClr val="F4F1E9"/>
                </a:solidFill>
                <a:latin typeface="Arial"/>
                <a:ea typeface="Arial"/>
                <a:cs typeface="Arial"/>
              </a:defRPr>
            </a:lvl8pPr>
            <a:lvl9pPr>
              <a:defRPr sz="1725" b="0">
                <a:solidFill>
                  <a:srgbClr val="F4F1E9"/>
                </a:solidFill>
                <a:latin typeface="Arial"/>
                <a:ea typeface="Arial"/>
                <a:cs typeface="Arial"/>
              </a:defRPr>
            </a:lvl9pPr>
          </a:lstStyle>
          <a:p>
            <a:pPr>
              <a:defRPr sz="1725" b="0">
                <a:solidFill>
                  <a:srgbClr val="F4F1E9"/>
                </a:solidFill>
                <a:latin typeface="Arial"/>
                <a:ea typeface="Arial"/>
                <a:cs typeface="Arial"/>
              </a:defRPr>
            </a:pPr>
            <a:r>
              <a:rPr sz="1725" b="0">
                <a:solidFill>
                  <a:srgbClr val="F4F1E9"/>
                </a:solidFill>
                <a:latin typeface="Arial"/>
                <a:ea typeface="Arial"/>
                <a:cs typeface="Arial"/>
              </a:rPr>
              <a:t>Classification accuracy</a:t>
            </a:r>
          </a:p>
        </p:txBody>
      </p:sp>
      <p:sp>
        <p:nvSpPr>
          <p:cNvPr id="9" name="reveal-6-7">
            <a:extLst>
              <a:ext uri="{FF2B5EF4-FFF2-40B4-BE49-F238E27FC236}">
                <a16:creationId xmlns:a16="http://schemas.microsoft.com/office/drawing/2014/main" id="{3F076A49-BEA9-4DEA-BD32-CCE1EB7DBDBA}"/>
              </a:ext>
            </a:extLst>
          </p:cNvPr>
          <p:cNvSpPr>
            <a:spLocks noGrp="1"/>
          </p:cNvSpPr>
          <p:nvPr/>
        </p:nvSpPr>
        <p:spPr>
          <a:xfrm>
            <a:off x="4314825" y="1971675"/>
            <a:ext cx="3524250" cy="885825"/>
          </a:xfrm>
          <a:prstGeom prst="rect">
            <a:avLst/>
          </a:prstGeom>
          <a:noFill/>
          <a:ln w="0">
            <a:noFill/>
          </a:ln>
        </p:spPr>
        <p:txBody>
          <a:bodyPr wrap="square" lIns="0" tIns="0" rIns="0" bIns="0" anchor="t">
            <a:noAutofit/>
          </a:bodyPr>
          <a:lstStyle>
            <a:defPPr>
              <a:defRPr sz="5400" b="1">
                <a:solidFill>
                  <a:srgbClr val="D5AF83"/>
                </a:solidFill>
                <a:latin typeface="Arial"/>
                <a:ea typeface="Arial"/>
                <a:cs typeface="Arial"/>
              </a:defRPr>
            </a:defPPr>
            <a:lvl1pPr>
              <a:defRPr sz="5400" b="1">
                <a:solidFill>
                  <a:srgbClr val="D5AF83"/>
                </a:solidFill>
                <a:latin typeface="Arial"/>
                <a:ea typeface="Arial"/>
                <a:cs typeface="Arial"/>
              </a:defRPr>
            </a:lvl1pPr>
            <a:lvl2pPr>
              <a:defRPr sz="5400" b="1">
                <a:solidFill>
                  <a:srgbClr val="D5AF83"/>
                </a:solidFill>
                <a:latin typeface="Arial"/>
                <a:ea typeface="Arial"/>
                <a:cs typeface="Arial"/>
              </a:defRPr>
            </a:lvl2pPr>
            <a:lvl3pPr>
              <a:defRPr sz="5400" b="1">
                <a:solidFill>
                  <a:srgbClr val="D5AF83"/>
                </a:solidFill>
                <a:latin typeface="Arial"/>
                <a:ea typeface="Arial"/>
                <a:cs typeface="Arial"/>
              </a:defRPr>
            </a:lvl3pPr>
            <a:lvl4pPr>
              <a:defRPr sz="5400" b="1">
                <a:solidFill>
                  <a:srgbClr val="D5AF83"/>
                </a:solidFill>
                <a:latin typeface="Arial"/>
                <a:ea typeface="Arial"/>
                <a:cs typeface="Arial"/>
              </a:defRPr>
            </a:lvl4pPr>
            <a:lvl5pPr>
              <a:defRPr sz="5400" b="1">
                <a:solidFill>
                  <a:srgbClr val="D5AF83"/>
                </a:solidFill>
                <a:latin typeface="Arial"/>
                <a:ea typeface="Arial"/>
                <a:cs typeface="Arial"/>
              </a:defRPr>
            </a:lvl5pPr>
            <a:lvl6pPr>
              <a:defRPr sz="5400" b="1">
                <a:solidFill>
                  <a:srgbClr val="D5AF83"/>
                </a:solidFill>
                <a:latin typeface="Arial"/>
                <a:ea typeface="Arial"/>
                <a:cs typeface="Arial"/>
              </a:defRPr>
            </a:lvl6pPr>
            <a:lvl7pPr>
              <a:defRPr sz="5400" b="1">
                <a:solidFill>
                  <a:srgbClr val="D5AF83"/>
                </a:solidFill>
                <a:latin typeface="Arial"/>
                <a:ea typeface="Arial"/>
                <a:cs typeface="Arial"/>
              </a:defRPr>
            </a:lvl7pPr>
            <a:lvl8pPr>
              <a:defRPr sz="5400" b="1">
                <a:solidFill>
                  <a:srgbClr val="D5AF83"/>
                </a:solidFill>
                <a:latin typeface="Arial"/>
                <a:ea typeface="Arial"/>
                <a:cs typeface="Arial"/>
              </a:defRPr>
            </a:lvl8pPr>
            <a:lvl9pPr>
              <a:defRPr sz="5400" b="1">
                <a:solidFill>
                  <a:srgbClr val="D5AF83"/>
                </a:solidFill>
                <a:latin typeface="Arial"/>
                <a:ea typeface="Arial"/>
                <a:cs typeface="Arial"/>
              </a:defRPr>
            </a:lvl9pPr>
          </a:lstStyle>
          <a:p>
            <a:pPr>
              <a:defRPr sz="5400" b="1">
                <a:solidFill>
                  <a:srgbClr val="D5AF83"/>
                </a:solidFill>
                <a:latin typeface="Arial"/>
                <a:ea typeface="Arial"/>
                <a:cs typeface="Arial"/>
              </a:defRPr>
            </a:pPr>
            <a:r>
              <a:rPr sz="5400" b="1">
                <a:solidFill>
                  <a:srgbClr val="D5AF83"/>
                </a:solidFill>
                <a:latin typeface="Arial"/>
                <a:ea typeface="Arial"/>
                <a:cs typeface="Arial"/>
              </a:rPr>
              <a:t>85.5%</a:t>
            </a:r>
          </a:p>
        </p:txBody>
      </p:sp>
      <p:sp>
        <p:nvSpPr>
          <p:cNvPr id="10" name="body-7-8">
            <a:extLst>
              <a:ext uri="{FF2B5EF4-FFF2-40B4-BE49-F238E27FC236}">
                <a16:creationId xmlns:a16="http://schemas.microsoft.com/office/drawing/2014/main" id="{D9AD6061-34E2-4562-B93D-C2105CD4E89B}"/>
              </a:ext>
            </a:extLst>
          </p:cNvPr>
          <p:cNvSpPr>
            <a:spLocks noGrp="1"/>
          </p:cNvSpPr>
          <p:nvPr/>
        </p:nvSpPr>
        <p:spPr>
          <a:xfrm>
            <a:off x="4314825" y="2924175"/>
            <a:ext cx="3524250" cy="438150"/>
          </a:xfrm>
          <a:prstGeom prst="rect">
            <a:avLst/>
          </a:prstGeom>
          <a:noFill/>
          <a:ln w="0">
            <a:noFill/>
          </a:ln>
        </p:spPr>
        <p:txBody>
          <a:bodyPr wrap="square" lIns="0" tIns="0" rIns="0" bIns="0" anchor="t">
            <a:noAutofit/>
          </a:bodyPr>
          <a:lstStyle>
            <a:defPPr>
              <a:defRPr sz="1725" b="0">
                <a:solidFill>
                  <a:srgbClr val="F4F1E9"/>
                </a:solidFill>
                <a:latin typeface="Arial"/>
                <a:ea typeface="Arial"/>
                <a:cs typeface="Arial"/>
              </a:defRPr>
            </a:defPPr>
            <a:lvl1pPr>
              <a:defRPr sz="1725" b="0">
                <a:solidFill>
                  <a:srgbClr val="F4F1E9"/>
                </a:solidFill>
                <a:latin typeface="Arial"/>
                <a:ea typeface="Arial"/>
                <a:cs typeface="Arial"/>
              </a:defRPr>
            </a:lvl1pPr>
            <a:lvl2pPr>
              <a:defRPr sz="1725" b="0">
                <a:solidFill>
                  <a:srgbClr val="F4F1E9"/>
                </a:solidFill>
                <a:latin typeface="Arial"/>
                <a:ea typeface="Arial"/>
                <a:cs typeface="Arial"/>
              </a:defRPr>
            </a:lvl2pPr>
            <a:lvl3pPr>
              <a:defRPr sz="1725" b="0">
                <a:solidFill>
                  <a:srgbClr val="F4F1E9"/>
                </a:solidFill>
                <a:latin typeface="Arial"/>
                <a:ea typeface="Arial"/>
                <a:cs typeface="Arial"/>
              </a:defRPr>
            </a:lvl3pPr>
            <a:lvl4pPr>
              <a:defRPr sz="1725" b="0">
                <a:solidFill>
                  <a:srgbClr val="F4F1E9"/>
                </a:solidFill>
                <a:latin typeface="Arial"/>
                <a:ea typeface="Arial"/>
                <a:cs typeface="Arial"/>
              </a:defRPr>
            </a:lvl4pPr>
            <a:lvl5pPr>
              <a:defRPr sz="1725" b="0">
                <a:solidFill>
                  <a:srgbClr val="F4F1E9"/>
                </a:solidFill>
                <a:latin typeface="Arial"/>
                <a:ea typeface="Arial"/>
                <a:cs typeface="Arial"/>
              </a:defRPr>
            </a:lvl5pPr>
            <a:lvl6pPr>
              <a:defRPr sz="1725" b="0">
                <a:solidFill>
                  <a:srgbClr val="F4F1E9"/>
                </a:solidFill>
                <a:latin typeface="Arial"/>
                <a:ea typeface="Arial"/>
                <a:cs typeface="Arial"/>
              </a:defRPr>
            </a:lvl6pPr>
            <a:lvl7pPr>
              <a:defRPr sz="1725" b="0">
                <a:solidFill>
                  <a:srgbClr val="F4F1E9"/>
                </a:solidFill>
                <a:latin typeface="Arial"/>
                <a:ea typeface="Arial"/>
                <a:cs typeface="Arial"/>
              </a:defRPr>
            </a:lvl7pPr>
            <a:lvl8pPr>
              <a:defRPr sz="1725" b="0">
                <a:solidFill>
                  <a:srgbClr val="F4F1E9"/>
                </a:solidFill>
                <a:latin typeface="Arial"/>
                <a:ea typeface="Arial"/>
                <a:cs typeface="Arial"/>
              </a:defRPr>
            </a:lvl8pPr>
            <a:lvl9pPr>
              <a:defRPr sz="1725" b="0">
                <a:solidFill>
                  <a:srgbClr val="F4F1E9"/>
                </a:solidFill>
                <a:latin typeface="Arial"/>
                <a:ea typeface="Arial"/>
                <a:cs typeface="Arial"/>
              </a:defRPr>
            </a:lvl9pPr>
          </a:lstStyle>
          <a:p>
            <a:pPr>
              <a:defRPr sz="1725" b="0">
                <a:solidFill>
                  <a:srgbClr val="F4F1E9"/>
                </a:solidFill>
                <a:latin typeface="Arial"/>
                <a:ea typeface="Arial"/>
                <a:cs typeface="Arial"/>
              </a:defRPr>
            </a:pPr>
            <a:r>
              <a:rPr sz="1725" b="0">
                <a:solidFill>
                  <a:srgbClr val="F4F1E9"/>
                </a:solidFill>
                <a:latin typeface="Arial"/>
                <a:ea typeface="Arial"/>
                <a:cs typeface="Arial"/>
              </a:rPr>
              <a:t>F1 score</a:t>
            </a:r>
          </a:p>
        </p:txBody>
      </p:sp>
      <p:sp>
        <p:nvSpPr>
          <p:cNvPr id="11" name="reveal-8-9">
            <a:extLst>
              <a:ext uri="{FF2B5EF4-FFF2-40B4-BE49-F238E27FC236}">
                <a16:creationId xmlns:a16="http://schemas.microsoft.com/office/drawing/2014/main" id="{41894072-7D88-432E-A07F-77CF2B23C2C1}"/>
              </a:ext>
            </a:extLst>
          </p:cNvPr>
          <p:cNvSpPr>
            <a:spLocks noGrp="1"/>
          </p:cNvSpPr>
          <p:nvPr/>
        </p:nvSpPr>
        <p:spPr>
          <a:xfrm>
            <a:off x="8077200" y="1971675"/>
            <a:ext cx="3524250" cy="885825"/>
          </a:xfrm>
          <a:prstGeom prst="rect">
            <a:avLst/>
          </a:prstGeom>
          <a:noFill/>
          <a:ln w="0">
            <a:noFill/>
          </a:ln>
        </p:spPr>
        <p:txBody>
          <a:bodyPr wrap="square" lIns="0" tIns="0" rIns="0" bIns="0" anchor="t">
            <a:noAutofit/>
          </a:bodyPr>
          <a:lstStyle>
            <a:defPPr>
              <a:defRPr sz="5400" b="1">
                <a:solidFill>
                  <a:srgbClr val="9CAA8A"/>
                </a:solidFill>
                <a:latin typeface="Arial"/>
                <a:ea typeface="Arial"/>
                <a:cs typeface="Arial"/>
              </a:defRPr>
            </a:defPPr>
            <a:lvl1pPr>
              <a:defRPr sz="5400" b="1">
                <a:solidFill>
                  <a:srgbClr val="9CAA8A"/>
                </a:solidFill>
                <a:latin typeface="Arial"/>
                <a:ea typeface="Arial"/>
                <a:cs typeface="Arial"/>
              </a:defRPr>
            </a:lvl1pPr>
            <a:lvl2pPr>
              <a:defRPr sz="5400" b="1">
                <a:solidFill>
                  <a:srgbClr val="9CAA8A"/>
                </a:solidFill>
                <a:latin typeface="Arial"/>
                <a:ea typeface="Arial"/>
                <a:cs typeface="Arial"/>
              </a:defRPr>
            </a:lvl2pPr>
            <a:lvl3pPr>
              <a:defRPr sz="5400" b="1">
                <a:solidFill>
                  <a:srgbClr val="9CAA8A"/>
                </a:solidFill>
                <a:latin typeface="Arial"/>
                <a:ea typeface="Arial"/>
                <a:cs typeface="Arial"/>
              </a:defRPr>
            </a:lvl3pPr>
            <a:lvl4pPr>
              <a:defRPr sz="5400" b="1">
                <a:solidFill>
                  <a:srgbClr val="9CAA8A"/>
                </a:solidFill>
                <a:latin typeface="Arial"/>
                <a:ea typeface="Arial"/>
                <a:cs typeface="Arial"/>
              </a:defRPr>
            </a:lvl4pPr>
            <a:lvl5pPr>
              <a:defRPr sz="5400" b="1">
                <a:solidFill>
                  <a:srgbClr val="9CAA8A"/>
                </a:solidFill>
                <a:latin typeface="Arial"/>
                <a:ea typeface="Arial"/>
                <a:cs typeface="Arial"/>
              </a:defRPr>
            </a:lvl5pPr>
            <a:lvl6pPr>
              <a:defRPr sz="5400" b="1">
                <a:solidFill>
                  <a:srgbClr val="9CAA8A"/>
                </a:solidFill>
                <a:latin typeface="Arial"/>
                <a:ea typeface="Arial"/>
                <a:cs typeface="Arial"/>
              </a:defRPr>
            </a:lvl6pPr>
            <a:lvl7pPr>
              <a:defRPr sz="5400" b="1">
                <a:solidFill>
                  <a:srgbClr val="9CAA8A"/>
                </a:solidFill>
                <a:latin typeface="Arial"/>
                <a:ea typeface="Arial"/>
                <a:cs typeface="Arial"/>
              </a:defRPr>
            </a:lvl7pPr>
            <a:lvl8pPr>
              <a:defRPr sz="5400" b="1">
                <a:solidFill>
                  <a:srgbClr val="9CAA8A"/>
                </a:solidFill>
                <a:latin typeface="Arial"/>
                <a:ea typeface="Arial"/>
                <a:cs typeface="Arial"/>
              </a:defRPr>
            </a:lvl8pPr>
            <a:lvl9pPr>
              <a:defRPr sz="5400" b="1">
                <a:solidFill>
                  <a:srgbClr val="9CAA8A"/>
                </a:solidFill>
                <a:latin typeface="Arial"/>
                <a:ea typeface="Arial"/>
                <a:cs typeface="Arial"/>
              </a:defRPr>
            </a:lvl9pPr>
          </a:lstStyle>
          <a:p>
            <a:pPr>
              <a:defRPr sz="5400" b="1">
                <a:solidFill>
                  <a:srgbClr val="9CAA8A"/>
                </a:solidFill>
                <a:latin typeface="Arial"/>
                <a:ea typeface="Arial"/>
                <a:cs typeface="Arial"/>
              </a:defRPr>
            </a:pPr>
            <a:r>
              <a:rPr sz="5400" b="1">
                <a:solidFill>
                  <a:srgbClr val="9CAA8A"/>
                </a:solidFill>
                <a:latin typeface="Arial"/>
                <a:ea typeface="Arial"/>
                <a:cs typeface="Arial"/>
              </a:rPr>
              <a:t>9.15 min</a:t>
            </a:r>
          </a:p>
        </p:txBody>
      </p:sp>
      <p:sp>
        <p:nvSpPr>
          <p:cNvPr id="12" name="body-9-10">
            <a:extLst>
              <a:ext uri="{FF2B5EF4-FFF2-40B4-BE49-F238E27FC236}">
                <a16:creationId xmlns:a16="http://schemas.microsoft.com/office/drawing/2014/main" id="{5DF19AC3-BCBD-4392-9F2A-EAA6C6891FE5}"/>
              </a:ext>
            </a:extLst>
          </p:cNvPr>
          <p:cNvSpPr>
            <a:spLocks noGrp="1"/>
          </p:cNvSpPr>
          <p:nvPr/>
        </p:nvSpPr>
        <p:spPr>
          <a:xfrm>
            <a:off x="8077200" y="2924175"/>
            <a:ext cx="3524250" cy="438150"/>
          </a:xfrm>
          <a:prstGeom prst="rect">
            <a:avLst/>
          </a:prstGeom>
          <a:noFill/>
          <a:ln w="0">
            <a:noFill/>
          </a:ln>
        </p:spPr>
        <p:txBody>
          <a:bodyPr wrap="square" lIns="0" tIns="0" rIns="0" bIns="0" anchor="t">
            <a:noAutofit/>
          </a:bodyPr>
          <a:lstStyle>
            <a:defPPr>
              <a:defRPr sz="1725" b="0">
                <a:solidFill>
                  <a:srgbClr val="F4F1E9"/>
                </a:solidFill>
                <a:latin typeface="Arial"/>
                <a:ea typeface="Arial"/>
                <a:cs typeface="Arial"/>
              </a:defRPr>
            </a:defPPr>
            <a:lvl1pPr>
              <a:defRPr sz="1725" b="0">
                <a:solidFill>
                  <a:srgbClr val="F4F1E9"/>
                </a:solidFill>
                <a:latin typeface="Arial"/>
                <a:ea typeface="Arial"/>
                <a:cs typeface="Arial"/>
              </a:defRPr>
            </a:lvl1pPr>
            <a:lvl2pPr>
              <a:defRPr sz="1725" b="0">
                <a:solidFill>
                  <a:srgbClr val="F4F1E9"/>
                </a:solidFill>
                <a:latin typeface="Arial"/>
                <a:ea typeface="Arial"/>
                <a:cs typeface="Arial"/>
              </a:defRPr>
            </a:lvl2pPr>
            <a:lvl3pPr>
              <a:defRPr sz="1725" b="0">
                <a:solidFill>
                  <a:srgbClr val="F4F1E9"/>
                </a:solidFill>
                <a:latin typeface="Arial"/>
                <a:ea typeface="Arial"/>
                <a:cs typeface="Arial"/>
              </a:defRPr>
            </a:lvl3pPr>
            <a:lvl4pPr>
              <a:defRPr sz="1725" b="0">
                <a:solidFill>
                  <a:srgbClr val="F4F1E9"/>
                </a:solidFill>
                <a:latin typeface="Arial"/>
                <a:ea typeface="Arial"/>
                <a:cs typeface="Arial"/>
              </a:defRPr>
            </a:lvl4pPr>
            <a:lvl5pPr>
              <a:defRPr sz="1725" b="0">
                <a:solidFill>
                  <a:srgbClr val="F4F1E9"/>
                </a:solidFill>
                <a:latin typeface="Arial"/>
                <a:ea typeface="Arial"/>
                <a:cs typeface="Arial"/>
              </a:defRPr>
            </a:lvl5pPr>
            <a:lvl6pPr>
              <a:defRPr sz="1725" b="0">
                <a:solidFill>
                  <a:srgbClr val="F4F1E9"/>
                </a:solidFill>
                <a:latin typeface="Arial"/>
                <a:ea typeface="Arial"/>
                <a:cs typeface="Arial"/>
              </a:defRPr>
            </a:lvl6pPr>
            <a:lvl7pPr>
              <a:defRPr sz="1725" b="0">
                <a:solidFill>
                  <a:srgbClr val="F4F1E9"/>
                </a:solidFill>
                <a:latin typeface="Arial"/>
                <a:ea typeface="Arial"/>
                <a:cs typeface="Arial"/>
              </a:defRPr>
            </a:lvl7pPr>
            <a:lvl8pPr>
              <a:defRPr sz="1725" b="0">
                <a:solidFill>
                  <a:srgbClr val="F4F1E9"/>
                </a:solidFill>
                <a:latin typeface="Arial"/>
                <a:ea typeface="Arial"/>
                <a:cs typeface="Arial"/>
              </a:defRPr>
            </a:lvl8pPr>
            <a:lvl9pPr>
              <a:defRPr sz="1725" b="0">
                <a:solidFill>
                  <a:srgbClr val="F4F1E9"/>
                </a:solidFill>
                <a:latin typeface="Arial"/>
                <a:ea typeface="Arial"/>
                <a:cs typeface="Arial"/>
              </a:defRPr>
            </a:lvl9pPr>
          </a:lstStyle>
          <a:p>
            <a:pPr>
              <a:defRPr sz="1725" b="0">
                <a:solidFill>
                  <a:srgbClr val="F4F1E9"/>
                </a:solidFill>
                <a:latin typeface="Arial"/>
                <a:ea typeface="Arial"/>
                <a:cs typeface="Arial"/>
              </a:defRPr>
            </a:pPr>
            <a:r>
              <a:rPr sz="1725" b="0">
                <a:solidFill>
                  <a:srgbClr val="F4F1E9"/>
                </a:solidFill>
                <a:latin typeface="Arial"/>
                <a:ea typeface="Arial"/>
                <a:cs typeface="Arial"/>
              </a:rPr>
              <a:t>Mean absolute error</a:t>
            </a:r>
          </a:p>
        </p:txBody>
      </p:sp>
      <p:graphicFrame>
        <p:nvGraphicFramePr>
          <p:cNvPr id="13" name="Table 12">
            <a:extLst>
              <a:ext uri="{FF2B5EF4-FFF2-40B4-BE49-F238E27FC236}">
                <a16:creationId xmlns:a16="http://schemas.microsoft.com/office/drawing/2014/main" id="{56037EB6-3AA0-449B-B100-2E32EADD8B08}"/>
              </a:ext>
            </a:extLst>
          </p:cNvPr>
          <p:cNvGraphicFramePr/>
          <p:nvPr/>
        </p:nvGraphicFramePr>
        <p:xfrm>
          <a:off x="552450" y="3667125"/>
          <a:ext cx="11087100" cy="1724025"/>
        </p:xfrm>
        <a:graphic>
          <a:graphicData uri="http://schemas.openxmlformats.org/drawingml/2006/table">
            <a:tbl>
              <a:tblPr firstRow="1"/>
              <a:tblGrid>
                <a:gridCol w="3390900">
                  <a:extLst>
                    <a:ext uri="{9D8B030D-6E8A-4147-A177-3AD203B41FA5}">
                      <a16:colId xmlns:a16="http://schemas.microsoft.com/office/drawing/2014/main" val="20000"/>
                    </a:ext>
                  </a:extLst>
                </a:gridCol>
                <a:gridCol w="2876550">
                  <a:extLst>
                    <a:ext uri="{9D8B030D-6E8A-4147-A177-3AD203B41FA5}">
                      <a16:colId xmlns:a16="http://schemas.microsoft.com/office/drawing/2014/main" val="20001"/>
                    </a:ext>
                  </a:extLst>
                </a:gridCol>
                <a:gridCol w="2409825">
                  <a:extLst>
                    <a:ext uri="{9D8B030D-6E8A-4147-A177-3AD203B41FA5}">
                      <a16:colId xmlns:a16="http://schemas.microsoft.com/office/drawing/2014/main" val="20002"/>
                    </a:ext>
                  </a:extLst>
                </a:gridCol>
                <a:gridCol w="2409825">
                  <a:extLst>
                    <a:ext uri="{9D8B030D-6E8A-4147-A177-3AD203B41FA5}">
                      <a16:colId xmlns:a16="http://schemas.microsoft.com/office/drawing/2014/main" val="20003"/>
                    </a:ext>
                  </a:extLst>
                </a:gridCol>
              </a:tblGrid>
              <a:tr h="574675">
                <a:tc>
                  <a:txBody>
                    <a:bodyPr/>
                    <a:lstStyle/>
                    <a:p>
                      <a:r>
                        <a:rPr sz="1800" b="1">
                          <a:solidFill>
                            <a:srgbClr val="F4F1E9"/>
                          </a:solidFill>
                          <a:latin typeface="Arial"/>
                          <a:ea typeface="Arial"/>
                          <a:cs typeface="Arial"/>
                        </a:rPr>
                        <a:t>HYD–BLR scenario</a:t>
                      </a:r>
                    </a:p>
                  </a:txBody>
                  <a:tcPr anchor="ctr">
                    <a:lnL w="0">
                      <a:noFill/>
                      <a:prstDash val="solid"/>
                    </a:lnL>
                    <a:lnR w="0">
                      <a:noFill/>
                      <a:prstDash val="solid"/>
                    </a:lnR>
                    <a:lnT w="0">
                      <a:noFill/>
                      <a:prstDash val="solid"/>
                    </a:lnT>
                    <a:lnB w="0">
                      <a:noFill/>
                      <a:prstDash val="solid"/>
                    </a:lnB>
                    <a:solidFill>
                      <a:srgbClr val="344639"/>
                    </a:solidFill>
                  </a:tcPr>
                </a:tc>
                <a:tc>
                  <a:txBody>
                    <a:bodyPr/>
                    <a:lstStyle/>
                    <a:p>
                      <a:r>
                        <a:rPr sz="1800" b="1">
                          <a:solidFill>
                            <a:srgbClr val="F4F1E9"/>
                          </a:solidFill>
                          <a:latin typeface="Arial"/>
                          <a:ea typeface="Arial"/>
                          <a:cs typeface="Arial"/>
                        </a:rPr>
                        <a:t>Traffic / incoming</a:t>
                      </a:r>
                    </a:p>
                  </a:txBody>
                  <a:tcPr anchor="ctr">
                    <a:lnL>
                      <a:noFill/>
                    </a:lnL>
                    <a:lnR w="0">
                      <a:noFill/>
                      <a:prstDash val="solid"/>
                    </a:lnR>
                    <a:lnT w="0">
                      <a:noFill/>
                      <a:prstDash val="solid"/>
                    </a:lnT>
                    <a:lnB w="0">
                      <a:noFill/>
                      <a:prstDash val="solid"/>
                    </a:lnB>
                    <a:solidFill>
                      <a:srgbClr val="344639"/>
                    </a:solidFill>
                  </a:tcPr>
                </a:tc>
                <a:tc>
                  <a:txBody>
                    <a:bodyPr/>
                    <a:lstStyle/>
                    <a:p>
                      <a:r>
                        <a:rPr sz="1800" b="1">
                          <a:solidFill>
                            <a:srgbClr val="F4F1E9"/>
                          </a:solidFill>
                          <a:latin typeface="Arial"/>
                          <a:ea typeface="Arial"/>
                          <a:cs typeface="Arial"/>
                        </a:rPr>
                        <a:t>RF study</a:t>
                      </a:r>
                    </a:p>
                  </a:txBody>
                  <a:tcPr anchor="ctr">
                    <a:lnL>
                      <a:noFill/>
                    </a:lnL>
                    <a:lnR w="0">
                      <a:noFill/>
                      <a:prstDash val="solid"/>
                    </a:lnR>
                    <a:lnT w="0">
                      <a:noFill/>
                      <a:prstDash val="solid"/>
                    </a:lnT>
                    <a:lnB w="0">
                      <a:noFill/>
                      <a:prstDash val="solid"/>
                    </a:lnB>
                    <a:solidFill>
                      <a:srgbClr val="344639"/>
                    </a:solidFill>
                  </a:tcPr>
                </a:tc>
                <a:tc>
                  <a:txBody>
                    <a:bodyPr/>
                    <a:lstStyle/>
                    <a:p>
                      <a:r>
                        <a:rPr sz="1800" b="1">
                          <a:solidFill>
                            <a:srgbClr val="F4F1E9"/>
                          </a:solidFill>
                          <a:latin typeface="Arial"/>
                          <a:ea typeface="Arial"/>
                          <a:cs typeface="Arial"/>
                        </a:rPr>
                        <a:t>Website rules</a:t>
                      </a:r>
                    </a:p>
                  </a:txBody>
                  <a:tcPr anchor="ctr">
                    <a:lnL>
                      <a:noFill/>
                    </a:lnL>
                    <a:lnR w="0">
                      <a:noFill/>
                      <a:prstDash val="solid"/>
                    </a:lnR>
                    <a:lnT w="0">
                      <a:noFill/>
                      <a:prstDash val="solid"/>
                    </a:lnT>
                    <a:lnB w="0">
                      <a:noFill/>
                      <a:prstDash val="solid"/>
                    </a:lnB>
                    <a:solidFill>
                      <a:srgbClr val="344639"/>
                    </a:solidFill>
                  </a:tcPr>
                </a:tc>
                <a:extLst>
                  <a:ext uri="{0D108BD9-81ED-4DB2-BD59-A6C34878D82A}">
                    <a16:rowId xmlns:a16="http://schemas.microsoft.com/office/drawing/2014/main" val="10000"/>
                  </a:ext>
                </a:extLst>
              </a:tr>
              <a:tr h="574675">
                <a:tc>
                  <a:txBody>
                    <a:bodyPr/>
                    <a:lstStyle/>
                    <a:p>
                      <a:r>
                        <a:rPr sz="1875" b="1">
                          <a:solidFill>
                            <a:srgbClr val="F4F1E9"/>
                          </a:solidFill>
                          <a:latin typeface="Arial"/>
                          <a:ea typeface="Arial"/>
                          <a:cs typeface="Arial"/>
                        </a:rPr>
                        <a:t>Clear weather</a:t>
                      </a:r>
                    </a:p>
                  </a:txBody>
                  <a:tcPr anchor="ctr">
                    <a:lnL w="0">
                      <a:noFill/>
                      <a:prstDash val="solid"/>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35% / 10 min</a:t>
                      </a:r>
                    </a:p>
                  </a:txBody>
                  <a:tcPr anchor="ctr">
                    <a:lnL>
                      <a:noFill/>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8.1 min</a:t>
                      </a:r>
                    </a:p>
                  </a:txBody>
                  <a:tcPr anchor="ctr">
                    <a:lnL>
                      <a:noFill/>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21 min</a:t>
                      </a:r>
                    </a:p>
                  </a:txBody>
                  <a:tcPr anchor="ctr">
                    <a:lnL>
                      <a:noFill/>
                    </a:lnL>
                    <a:lnR w="0">
                      <a:noFill/>
                      <a:prstDash val="solid"/>
                    </a:lnR>
                    <a:lnT>
                      <a:noFill/>
                    </a:lnT>
                    <a:lnB w="0">
                      <a:noFill/>
                      <a:prstDash val="solid"/>
                    </a:lnB>
                    <a:solidFill>
                      <a:srgbClr val="171E1C"/>
                    </a:solidFill>
                  </a:tcPr>
                </a:tc>
                <a:extLst>
                  <a:ext uri="{0D108BD9-81ED-4DB2-BD59-A6C34878D82A}">
                    <a16:rowId xmlns:a16="http://schemas.microsoft.com/office/drawing/2014/main" val="10001"/>
                  </a:ext>
                </a:extLst>
              </a:tr>
              <a:tr h="574675">
                <a:tc>
                  <a:txBody>
                    <a:bodyPr/>
                    <a:lstStyle/>
                    <a:p>
                      <a:r>
                        <a:rPr sz="1875" b="1">
                          <a:solidFill>
                            <a:srgbClr val="F4F1E9"/>
                          </a:solidFill>
                          <a:latin typeface="Arial"/>
                          <a:ea typeface="Arial"/>
                          <a:cs typeface="Arial"/>
                        </a:rPr>
                        <a:t>Thunderstorm</a:t>
                      </a:r>
                    </a:p>
                  </a:txBody>
                  <a:tcPr anchor="ctr">
                    <a:lnL w="0">
                      <a:noFill/>
                      <a:prstDash val="solid"/>
                    </a:lnL>
                    <a:lnR w="0">
                      <a:noFill/>
                      <a:prstDash val="solid"/>
                    </a:lnR>
                    <a:lnT>
                      <a:noFill/>
                    </a:lnT>
                    <a:lnB w="0">
                      <a:noFill/>
                      <a:prstDash val="solid"/>
                    </a:lnB>
                    <a:solidFill>
                      <a:srgbClr val="233028"/>
                    </a:solidFill>
                  </a:tcPr>
                </a:tc>
                <a:tc>
                  <a:txBody>
                    <a:bodyPr/>
                    <a:lstStyle/>
                    <a:p>
                      <a:r>
                        <a:rPr sz="1875" b="0">
                          <a:solidFill>
                            <a:srgbClr val="F4F1E9"/>
                          </a:solidFill>
                          <a:latin typeface="Arial"/>
                          <a:ea typeface="Arial"/>
                          <a:cs typeface="Arial"/>
                        </a:rPr>
                        <a:t>85% / 45 min</a:t>
                      </a:r>
                    </a:p>
                  </a:txBody>
                  <a:tcPr anchor="ctr">
                    <a:lnL>
                      <a:noFill/>
                    </a:lnL>
                    <a:lnR w="0">
                      <a:noFill/>
                      <a:prstDash val="solid"/>
                    </a:lnR>
                    <a:lnT>
                      <a:noFill/>
                    </a:lnT>
                    <a:lnB w="0">
                      <a:noFill/>
                      <a:prstDash val="solid"/>
                    </a:lnB>
                    <a:solidFill>
                      <a:srgbClr val="233028"/>
                    </a:solidFill>
                  </a:tcPr>
                </a:tc>
                <a:tc>
                  <a:txBody>
                    <a:bodyPr/>
                    <a:lstStyle/>
                    <a:p>
                      <a:r>
                        <a:rPr sz="1875" b="0">
                          <a:solidFill>
                            <a:srgbClr val="F4F1E9"/>
                          </a:solidFill>
                          <a:latin typeface="Arial"/>
                          <a:ea typeface="Arial"/>
                          <a:cs typeface="Arial"/>
                        </a:rPr>
                        <a:t>53.2 min</a:t>
                      </a:r>
                    </a:p>
                  </a:txBody>
                  <a:tcPr anchor="ctr">
                    <a:lnL>
                      <a:noFill/>
                    </a:lnL>
                    <a:lnR w="0">
                      <a:noFill/>
                      <a:prstDash val="solid"/>
                    </a:lnR>
                    <a:lnT>
                      <a:noFill/>
                    </a:lnT>
                    <a:lnB w="0">
                      <a:noFill/>
                      <a:prstDash val="solid"/>
                    </a:lnB>
                    <a:solidFill>
                      <a:srgbClr val="233028"/>
                    </a:solidFill>
                  </a:tcPr>
                </a:tc>
                <a:tc>
                  <a:txBody>
                    <a:bodyPr/>
                    <a:lstStyle/>
                    <a:p>
                      <a:r>
                        <a:rPr sz="1875" b="0">
                          <a:solidFill>
                            <a:srgbClr val="F4F1E9"/>
                          </a:solidFill>
                          <a:latin typeface="Arial"/>
                          <a:ea typeface="Arial"/>
                          <a:cs typeface="Arial"/>
                        </a:rPr>
                        <a:t>66 min</a:t>
                      </a:r>
                    </a:p>
                  </a:txBody>
                  <a:tcPr anchor="ctr">
                    <a:lnL>
                      <a:noFill/>
                    </a:lnL>
                    <a:lnR w="0">
                      <a:noFill/>
                      <a:prstDash val="solid"/>
                    </a:lnR>
                    <a:lnT>
                      <a:noFill/>
                    </a:lnT>
                    <a:lnB w="0">
                      <a:noFill/>
                      <a:prstDash val="solid"/>
                    </a:lnB>
                    <a:solidFill>
                      <a:srgbClr val="233028"/>
                    </a:solidFill>
                  </a:tcPr>
                </a:tc>
                <a:extLst>
                  <a:ext uri="{0D108BD9-81ED-4DB2-BD59-A6C34878D82A}">
                    <a16:rowId xmlns:a16="http://schemas.microsoft.com/office/drawing/2014/main" val="10002"/>
                  </a:ext>
                </a:extLst>
              </a:tr>
            </a:tbl>
          </a:graphicData>
        </a:graphic>
      </p:graphicFrame>
      <p:sp>
        <p:nvSpPr>
          <p:cNvPr id="14" name="body-10-11">
            <a:extLst>
              <a:ext uri="{FF2B5EF4-FFF2-40B4-BE49-F238E27FC236}">
                <a16:creationId xmlns:a16="http://schemas.microsoft.com/office/drawing/2014/main" id="{9A4C2EB3-2AFD-4107-AE4B-6E9B562F1B83}"/>
              </a:ext>
            </a:extLst>
          </p:cNvPr>
          <p:cNvSpPr>
            <a:spLocks noGrp="1"/>
          </p:cNvSpPr>
          <p:nvPr/>
        </p:nvSpPr>
        <p:spPr>
          <a:xfrm>
            <a:off x="552450" y="5724525"/>
            <a:ext cx="11087100" cy="438150"/>
          </a:xfrm>
          <a:prstGeom prst="rect">
            <a:avLst/>
          </a:prstGeom>
          <a:noFill/>
          <a:ln w="0">
            <a:noFill/>
          </a:ln>
        </p:spPr>
        <p:txBody>
          <a:bodyPr wrap="square" lIns="0" tIns="0" rIns="0" bIns="0" anchor="t">
            <a:noAutofit/>
          </a:bodyPr>
          <a:lstStyle>
            <a:defPPr>
              <a:defRPr sz="1725" b="0">
                <a:solidFill>
                  <a:srgbClr val="9CAA8A"/>
                </a:solidFill>
                <a:latin typeface="Arial"/>
                <a:ea typeface="Arial"/>
                <a:cs typeface="Arial"/>
              </a:defRPr>
            </a:defPPr>
            <a:lvl1pPr>
              <a:defRPr sz="1725" b="0">
                <a:solidFill>
                  <a:srgbClr val="9CAA8A"/>
                </a:solidFill>
                <a:latin typeface="Arial"/>
                <a:ea typeface="Arial"/>
                <a:cs typeface="Arial"/>
              </a:defRPr>
            </a:lvl1pPr>
            <a:lvl2pPr>
              <a:defRPr sz="1725" b="0">
                <a:solidFill>
                  <a:srgbClr val="9CAA8A"/>
                </a:solidFill>
                <a:latin typeface="Arial"/>
                <a:ea typeface="Arial"/>
                <a:cs typeface="Arial"/>
              </a:defRPr>
            </a:lvl2pPr>
            <a:lvl3pPr>
              <a:defRPr sz="1725" b="0">
                <a:solidFill>
                  <a:srgbClr val="9CAA8A"/>
                </a:solidFill>
                <a:latin typeface="Arial"/>
                <a:ea typeface="Arial"/>
                <a:cs typeface="Arial"/>
              </a:defRPr>
            </a:lvl3pPr>
            <a:lvl4pPr>
              <a:defRPr sz="1725" b="0">
                <a:solidFill>
                  <a:srgbClr val="9CAA8A"/>
                </a:solidFill>
                <a:latin typeface="Arial"/>
                <a:ea typeface="Arial"/>
                <a:cs typeface="Arial"/>
              </a:defRPr>
            </a:lvl4pPr>
            <a:lvl5pPr>
              <a:defRPr sz="1725" b="0">
                <a:solidFill>
                  <a:srgbClr val="9CAA8A"/>
                </a:solidFill>
                <a:latin typeface="Arial"/>
                <a:ea typeface="Arial"/>
                <a:cs typeface="Arial"/>
              </a:defRPr>
            </a:lvl5pPr>
            <a:lvl6pPr>
              <a:defRPr sz="1725" b="0">
                <a:solidFill>
                  <a:srgbClr val="9CAA8A"/>
                </a:solidFill>
                <a:latin typeface="Arial"/>
                <a:ea typeface="Arial"/>
                <a:cs typeface="Arial"/>
              </a:defRPr>
            </a:lvl6pPr>
            <a:lvl7pPr>
              <a:defRPr sz="1725" b="0">
                <a:solidFill>
                  <a:srgbClr val="9CAA8A"/>
                </a:solidFill>
                <a:latin typeface="Arial"/>
                <a:ea typeface="Arial"/>
                <a:cs typeface="Arial"/>
              </a:defRPr>
            </a:lvl7pPr>
            <a:lvl8pPr>
              <a:defRPr sz="1725" b="0">
                <a:solidFill>
                  <a:srgbClr val="9CAA8A"/>
                </a:solidFill>
                <a:latin typeface="Arial"/>
                <a:ea typeface="Arial"/>
                <a:cs typeface="Arial"/>
              </a:defRPr>
            </a:lvl8pPr>
            <a:lvl9pPr>
              <a:defRPr sz="1725" b="0">
                <a:solidFill>
                  <a:srgbClr val="9CAA8A"/>
                </a:solidFill>
                <a:latin typeface="Arial"/>
                <a:ea typeface="Arial"/>
                <a:cs typeface="Arial"/>
              </a:defRPr>
            </a:lvl9pPr>
          </a:lstStyle>
          <a:p>
            <a:pPr>
              <a:defRPr sz="1725" b="0">
                <a:solidFill>
                  <a:srgbClr val="9CAA8A"/>
                </a:solidFill>
                <a:latin typeface="Arial"/>
                <a:ea typeface="Arial"/>
                <a:cs typeface="Arial"/>
              </a:defRPr>
            </a:pPr>
            <a:r>
              <a:rPr sz="1725" b="0">
                <a:solidFill>
                  <a:srgbClr val="9CAA8A"/>
                </a:solidFill>
                <a:latin typeface="Arial"/>
                <a:ea typeface="Arial"/>
                <a:cs typeface="Arial"/>
              </a:rPr>
              <a:t>Synthetic test results. Examples are hypothetical. The RF study and website rules are separate.</a:t>
            </a:r>
          </a:p>
        </p:txBody>
      </p:sp>
    </p:spTree>
    <p:extLst>
      <p:ext uri="{BB962C8B-B14F-4D97-AF65-F5344CB8AC3E}">
        <p14:creationId xmlns:p14="http://schemas.microsoft.com/office/powerpoint/2010/main" val="148258862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30"/>
                                        <p:tgtEl>
                                          <p:spTgt spid="11"/>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30"/>
                                        <p:tgtEl>
                                          <p:spTgt spid="12"/>
                                        </p:tgtEl>
                                      </p:cBhvr>
                                    </p:animEffect>
                                  </p:childTnLst>
                                </p:cTn>
                              </p:par>
                            </p:childTnLst>
                          </p:cTn>
                        </p:par>
                        <p:par>
                          <p:cTn id="32" fill="hold">
                            <p:stCondLst>
                              <p:cond delay="118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30"/>
                                        <p:tgtEl>
                                          <p:spTgt spid="13"/>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3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6AD17B57-37BC-436B-ABF7-7E50D54BDDF0}"/>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430D0D8C-93C2-4340-8981-326CB012F415}"/>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52FA57CC-7017-4944-9DA4-CCADD4518AB0}"/>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10 / 12</a:t>
            </a:r>
          </a:p>
        </p:txBody>
      </p:sp>
      <p:sp>
        <p:nvSpPr>
          <p:cNvPr id="5" name="title-1-3">
            <a:extLst>
              <a:ext uri="{FF2B5EF4-FFF2-40B4-BE49-F238E27FC236}">
                <a16:creationId xmlns:a16="http://schemas.microsoft.com/office/drawing/2014/main" id="{42631B94-5326-4015-A669-C24FB656D81F}"/>
              </a:ext>
            </a:extLst>
          </p:cNvPr>
          <p:cNvSpPr>
            <a:spLocks noGrp="1"/>
          </p:cNvSpPr>
          <p:nvPr/>
        </p:nvSpPr>
        <p:spPr>
          <a:xfrm>
            <a:off x="552450" y="752475"/>
            <a:ext cx="1057275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Model comparison</a:t>
            </a:r>
          </a:p>
        </p:txBody>
      </p:sp>
      <p:sp>
        <p:nvSpPr>
          <p:cNvPr id="6" name="background-4">
            <a:extLst>
              <a:ext uri="{FF2B5EF4-FFF2-40B4-BE49-F238E27FC236}">
                <a16:creationId xmlns:a16="http://schemas.microsoft.com/office/drawing/2014/main" id="{F88E089A-CBA5-4E84-B9D9-5EC10C9FD631}"/>
              </a:ext>
            </a:extLst>
          </p:cNvPr>
          <p:cNvSpPr>
            <a:spLocks noGrp="1"/>
          </p:cNvSpPr>
          <p:nvPr/>
        </p:nvSpPr>
        <p:spPr>
          <a:xfrm>
            <a:off x="552450" y="6257925"/>
            <a:ext cx="9906000" cy="9525"/>
          </a:xfrm>
          <a:prstGeom prst="rect">
            <a:avLst/>
          </a:prstGeom>
          <a:solidFill>
            <a:srgbClr val="D4D9CE"/>
          </a:solidFill>
          <a:ln w="0">
            <a:noFill/>
          </a:ln>
        </p:spPr>
      </p:sp>
      <p:graphicFrame>
        <p:nvGraphicFramePr>
          <p:cNvPr id="7" name="Chart">
            <a:extLst>
              <a:ext uri="{FF2B5EF4-FFF2-40B4-BE49-F238E27FC236}">
                <a16:creationId xmlns:a16="http://schemas.microsoft.com/office/drawing/2014/main" id="{87D08A3D-92CF-4205-9619-2C90617B54CA}"/>
              </a:ext>
            </a:extLst>
          </p:cNvPr>
          <p:cNvGraphicFramePr/>
          <p:nvPr/>
        </p:nvGraphicFramePr>
        <p:xfrm>
          <a:off x="552450" y="2047875"/>
          <a:ext cx="6172200" cy="34766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E4DD83D8-3F6E-42B7-9CD3-181B9F78FB32}"/>
              </a:ext>
            </a:extLst>
          </p:cNvPr>
          <p:cNvGraphicFramePr/>
          <p:nvPr/>
        </p:nvGraphicFramePr>
        <p:xfrm>
          <a:off x="7096125" y="2247900"/>
          <a:ext cx="4543425" cy="2943225"/>
        </p:xfrm>
        <a:graphic>
          <a:graphicData uri="http://schemas.openxmlformats.org/drawingml/2006/table">
            <a:tbl>
              <a:tblPr firstRow="1"/>
              <a:tblGrid>
                <a:gridCol w="1571625">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1019175">
                  <a:extLst>
                    <a:ext uri="{9D8B030D-6E8A-4147-A177-3AD203B41FA5}">
                      <a16:colId xmlns:a16="http://schemas.microsoft.com/office/drawing/2014/main" val="20003"/>
                    </a:ext>
                  </a:extLst>
                </a:gridCol>
              </a:tblGrid>
              <a:tr h="735806">
                <a:tc>
                  <a:txBody>
                    <a:bodyPr/>
                    <a:lstStyle/>
                    <a:p>
                      <a:r>
                        <a:rPr sz="1425" b="1">
                          <a:solidFill>
                            <a:srgbClr val="F4F1E9"/>
                          </a:solidFill>
                          <a:latin typeface="Arial"/>
                          <a:ea typeface="Arial"/>
                          <a:cs typeface="Arial"/>
                        </a:rPr>
                        <a:t>Model</a:t>
                      </a:r>
                    </a:p>
                  </a:txBody>
                  <a:tcPr anchor="ctr">
                    <a:lnL w="0">
                      <a:noFill/>
                      <a:prstDash val="solid"/>
                    </a:lnL>
                    <a:lnR w="0">
                      <a:noFill/>
                      <a:prstDash val="solid"/>
                    </a:lnR>
                    <a:lnT w="0">
                      <a:noFill/>
                      <a:prstDash val="solid"/>
                    </a:lnT>
                    <a:lnB w="0">
                      <a:noFill/>
                      <a:prstDash val="solid"/>
                    </a:lnB>
                    <a:solidFill>
                      <a:srgbClr val="202925"/>
                    </a:solidFill>
                  </a:tcPr>
                </a:tc>
                <a:tc>
                  <a:txBody>
                    <a:bodyPr/>
                    <a:lstStyle/>
                    <a:p>
                      <a:r>
                        <a:rPr sz="1425" b="1">
                          <a:solidFill>
                            <a:srgbClr val="F4F1E9"/>
                          </a:solidFill>
                          <a:latin typeface="Arial"/>
                          <a:ea typeface="Arial"/>
                          <a:cs typeface="Arial"/>
                        </a:rPr>
                        <a:t>Accuracy</a:t>
                      </a:r>
                    </a:p>
                  </a:txBody>
                  <a:tcPr anchor="ctr">
                    <a:lnL>
                      <a:noFill/>
                    </a:lnL>
                    <a:lnR w="0">
                      <a:noFill/>
                      <a:prstDash val="solid"/>
                    </a:lnR>
                    <a:lnT w="0">
                      <a:noFill/>
                      <a:prstDash val="solid"/>
                    </a:lnT>
                    <a:lnB w="0">
                      <a:noFill/>
                      <a:prstDash val="solid"/>
                    </a:lnB>
                    <a:solidFill>
                      <a:srgbClr val="202925"/>
                    </a:solidFill>
                  </a:tcPr>
                </a:tc>
                <a:tc>
                  <a:txBody>
                    <a:bodyPr/>
                    <a:lstStyle/>
                    <a:p>
                      <a:r>
                        <a:rPr sz="1425" b="1">
                          <a:solidFill>
                            <a:srgbClr val="F4F1E9"/>
                          </a:solidFill>
                          <a:latin typeface="Arial"/>
                          <a:ea typeface="Arial"/>
                          <a:cs typeface="Arial"/>
                        </a:rPr>
                        <a:t>F1</a:t>
                      </a:r>
                    </a:p>
                  </a:txBody>
                  <a:tcPr anchor="ctr">
                    <a:lnL>
                      <a:noFill/>
                    </a:lnL>
                    <a:lnR w="0">
                      <a:noFill/>
                      <a:prstDash val="solid"/>
                    </a:lnR>
                    <a:lnT w="0">
                      <a:noFill/>
                      <a:prstDash val="solid"/>
                    </a:lnT>
                    <a:lnB w="0">
                      <a:noFill/>
                      <a:prstDash val="solid"/>
                    </a:lnB>
                    <a:solidFill>
                      <a:srgbClr val="202925"/>
                    </a:solidFill>
                  </a:tcPr>
                </a:tc>
                <a:tc>
                  <a:txBody>
                    <a:bodyPr/>
                    <a:lstStyle/>
                    <a:p>
                      <a:r>
                        <a:rPr sz="1425" b="1">
                          <a:solidFill>
                            <a:srgbClr val="F4F1E9"/>
                          </a:solidFill>
                          <a:latin typeface="Arial"/>
                          <a:ea typeface="Arial"/>
                          <a:cs typeface="Arial"/>
                        </a:rPr>
                        <a:t>MAE (min)</a:t>
                      </a:r>
                    </a:p>
                  </a:txBody>
                  <a:tcPr anchor="ctr">
                    <a:lnL>
                      <a:noFill/>
                    </a:lnL>
                    <a:lnR w="0">
                      <a:noFill/>
                      <a:prstDash val="solid"/>
                    </a:lnR>
                    <a:lnT w="0">
                      <a:noFill/>
                      <a:prstDash val="solid"/>
                    </a:lnT>
                    <a:lnB w="0">
                      <a:noFill/>
                      <a:prstDash val="solid"/>
                    </a:lnB>
                    <a:solidFill>
                      <a:srgbClr val="202925"/>
                    </a:solidFill>
                  </a:tcPr>
                </a:tc>
                <a:extLst>
                  <a:ext uri="{0D108BD9-81ED-4DB2-BD59-A6C34878D82A}">
                    <a16:rowId xmlns:a16="http://schemas.microsoft.com/office/drawing/2014/main" val="10000"/>
                  </a:ext>
                </a:extLst>
              </a:tr>
              <a:tr h="735806">
                <a:tc>
                  <a:txBody>
                    <a:bodyPr/>
                    <a:lstStyle/>
                    <a:p>
                      <a:r>
                        <a:rPr sz="1500">
                          <a:solidFill>
                            <a:srgbClr val="202925"/>
                          </a:solidFill>
                          <a:latin typeface="Arial"/>
                          <a:ea typeface="Arial"/>
                          <a:cs typeface="Arial"/>
                        </a:rPr>
                        <a:t>Baseline</a:t>
                      </a:r>
                    </a:p>
                  </a:txBody>
                  <a:tcPr anchor="ctr">
                    <a:lnL w="0">
                      <a:noFill/>
                      <a:prstDash val="solid"/>
                    </a:lnL>
                    <a:lnR w="0">
                      <a:noFill/>
                      <a:prstDash val="solid"/>
                    </a:lnR>
                    <a:lnT>
                      <a:noFill/>
                    </a:lnT>
                    <a:lnB w="0">
                      <a:noFill/>
                      <a:prstDash val="solid"/>
                    </a:lnB>
                    <a:solidFill>
                      <a:srgbClr val="F4F1E9"/>
                    </a:solidFill>
                  </a:tcPr>
                </a:tc>
                <a:tc>
                  <a:txBody>
                    <a:bodyPr/>
                    <a:lstStyle/>
                    <a:p>
                      <a:r>
                        <a:rPr sz="1500">
                          <a:solidFill>
                            <a:srgbClr val="202925"/>
                          </a:solidFill>
                          <a:latin typeface="Arial"/>
                          <a:ea typeface="Arial"/>
                          <a:cs typeface="Arial"/>
                        </a:rPr>
                        <a:t>66.3%</a:t>
                      </a:r>
                    </a:p>
                  </a:txBody>
                  <a:tcPr anchor="ctr">
                    <a:lnL>
                      <a:noFill/>
                    </a:lnL>
                    <a:lnR w="0">
                      <a:noFill/>
                      <a:prstDash val="solid"/>
                    </a:lnR>
                    <a:lnT>
                      <a:noFill/>
                    </a:lnT>
                    <a:lnB w="0">
                      <a:noFill/>
                      <a:prstDash val="solid"/>
                    </a:lnB>
                    <a:solidFill>
                      <a:srgbClr val="F4F1E9"/>
                    </a:solidFill>
                  </a:tcPr>
                </a:tc>
                <a:tc>
                  <a:txBody>
                    <a:bodyPr/>
                    <a:lstStyle/>
                    <a:p>
                      <a:r>
                        <a:rPr sz="1500">
                          <a:solidFill>
                            <a:srgbClr val="202925"/>
                          </a:solidFill>
                          <a:latin typeface="Arial"/>
                          <a:ea typeface="Arial"/>
                          <a:cs typeface="Arial"/>
                        </a:rPr>
                        <a:t>79.8%</a:t>
                      </a:r>
                    </a:p>
                  </a:txBody>
                  <a:tcPr anchor="ctr">
                    <a:lnL>
                      <a:noFill/>
                    </a:lnL>
                    <a:lnR w="0">
                      <a:noFill/>
                      <a:prstDash val="solid"/>
                    </a:lnR>
                    <a:lnT>
                      <a:noFill/>
                    </a:lnT>
                    <a:lnB w="0">
                      <a:noFill/>
                      <a:prstDash val="solid"/>
                    </a:lnB>
                    <a:solidFill>
                      <a:srgbClr val="F4F1E9"/>
                    </a:solidFill>
                  </a:tcPr>
                </a:tc>
                <a:tc>
                  <a:txBody>
                    <a:bodyPr/>
                    <a:lstStyle/>
                    <a:p>
                      <a:r>
                        <a:rPr sz="1500">
                          <a:solidFill>
                            <a:srgbClr val="202925"/>
                          </a:solidFill>
                          <a:latin typeface="Arial"/>
                          <a:ea typeface="Arial"/>
                          <a:cs typeface="Arial"/>
                        </a:rPr>
                        <a:t>21.83</a:t>
                      </a:r>
                    </a:p>
                  </a:txBody>
                  <a:tcPr anchor="ctr">
                    <a:lnL>
                      <a:noFill/>
                    </a:lnL>
                    <a:lnR w="0">
                      <a:noFill/>
                      <a:prstDash val="solid"/>
                    </a:lnR>
                    <a:lnT>
                      <a:noFill/>
                    </a:lnT>
                    <a:lnB w="0">
                      <a:noFill/>
                      <a:prstDash val="solid"/>
                    </a:lnB>
                    <a:solidFill>
                      <a:srgbClr val="F4F1E9"/>
                    </a:solidFill>
                  </a:tcPr>
                </a:tc>
                <a:extLst>
                  <a:ext uri="{0D108BD9-81ED-4DB2-BD59-A6C34878D82A}">
                    <a16:rowId xmlns:a16="http://schemas.microsoft.com/office/drawing/2014/main" val="10001"/>
                  </a:ext>
                </a:extLst>
              </a:tr>
              <a:tr h="735806">
                <a:tc>
                  <a:txBody>
                    <a:bodyPr/>
                    <a:lstStyle/>
                    <a:p>
                      <a:r>
                        <a:rPr sz="1500">
                          <a:solidFill>
                            <a:srgbClr val="202925"/>
                          </a:solidFill>
                          <a:latin typeface="Arial"/>
                          <a:ea typeface="Arial"/>
                          <a:cs typeface="Arial"/>
                        </a:rPr>
                        <a:t>Decision Tree</a:t>
                      </a:r>
                    </a:p>
                  </a:txBody>
                  <a:tcPr anchor="ctr">
                    <a:lnL w="0">
                      <a:noFill/>
                      <a:prstDash val="solid"/>
                    </a:lnL>
                    <a:lnR w="0">
                      <a:noFill/>
                      <a:prstDash val="solid"/>
                    </a:lnR>
                    <a:lnT>
                      <a:noFill/>
                    </a:lnT>
                    <a:lnB w="0">
                      <a:noFill/>
                      <a:prstDash val="solid"/>
                    </a:lnB>
                    <a:solidFill>
                      <a:srgbClr val="E8ECE2"/>
                    </a:solidFill>
                  </a:tcPr>
                </a:tc>
                <a:tc>
                  <a:txBody>
                    <a:bodyPr/>
                    <a:lstStyle/>
                    <a:p>
                      <a:r>
                        <a:rPr sz="1500">
                          <a:solidFill>
                            <a:srgbClr val="202925"/>
                          </a:solidFill>
                          <a:latin typeface="Arial"/>
                          <a:ea typeface="Arial"/>
                          <a:cs typeface="Arial"/>
                        </a:rPr>
                        <a:t>79.9%</a:t>
                      </a:r>
                    </a:p>
                  </a:txBody>
                  <a:tcPr anchor="ctr">
                    <a:lnL>
                      <a:noFill/>
                    </a:lnL>
                    <a:lnR w="0">
                      <a:noFill/>
                      <a:prstDash val="solid"/>
                    </a:lnR>
                    <a:lnT>
                      <a:noFill/>
                    </a:lnT>
                    <a:lnB w="0">
                      <a:noFill/>
                      <a:prstDash val="solid"/>
                    </a:lnB>
                    <a:solidFill>
                      <a:srgbClr val="E8ECE2"/>
                    </a:solidFill>
                  </a:tcPr>
                </a:tc>
                <a:tc>
                  <a:txBody>
                    <a:bodyPr/>
                    <a:lstStyle/>
                    <a:p>
                      <a:r>
                        <a:rPr sz="1500">
                          <a:solidFill>
                            <a:srgbClr val="202925"/>
                          </a:solidFill>
                          <a:latin typeface="Arial"/>
                          <a:ea typeface="Arial"/>
                          <a:cs typeface="Arial"/>
                        </a:rPr>
                        <a:t>84.2%</a:t>
                      </a:r>
                    </a:p>
                  </a:txBody>
                  <a:tcPr anchor="ctr">
                    <a:lnL>
                      <a:noFill/>
                    </a:lnL>
                    <a:lnR w="0">
                      <a:noFill/>
                      <a:prstDash val="solid"/>
                    </a:lnR>
                    <a:lnT>
                      <a:noFill/>
                    </a:lnT>
                    <a:lnB w="0">
                      <a:noFill/>
                      <a:prstDash val="solid"/>
                    </a:lnB>
                    <a:solidFill>
                      <a:srgbClr val="E8ECE2"/>
                    </a:solidFill>
                  </a:tcPr>
                </a:tc>
                <a:tc>
                  <a:txBody>
                    <a:bodyPr/>
                    <a:lstStyle/>
                    <a:p>
                      <a:r>
                        <a:rPr sz="1500">
                          <a:solidFill>
                            <a:srgbClr val="202925"/>
                          </a:solidFill>
                          <a:latin typeface="Arial"/>
                          <a:ea typeface="Arial"/>
                          <a:cs typeface="Arial"/>
                        </a:rPr>
                        <a:t>9.50</a:t>
                      </a:r>
                    </a:p>
                  </a:txBody>
                  <a:tcPr anchor="ctr">
                    <a:lnL>
                      <a:noFill/>
                    </a:lnL>
                    <a:lnR w="0">
                      <a:noFill/>
                      <a:prstDash val="solid"/>
                    </a:lnR>
                    <a:lnT>
                      <a:noFill/>
                    </a:lnT>
                    <a:lnB w="0">
                      <a:noFill/>
                      <a:prstDash val="solid"/>
                    </a:lnB>
                    <a:solidFill>
                      <a:srgbClr val="E8ECE2"/>
                    </a:solidFill>
                  </a:tcPr>
                </a:tc>
                <a:extLst>
                  <a:ext uri="{0D108BD9-81ED-4DB2-BD59-A6C34878D82A}">
                    <a16:rowId xmlns:a16="http://schemas.microsoft.com/office/drawing/2014/main" val="10002"/>
                  </a:ext>
                </a:extLst>
              </a:tr>
              <a:tr h="735806">
                <a:tc>
                  <a:txBody>
                    <a:bodyPr/>
                    <a:lstStyle/>
                    <a:p>
                      <a:r>
                        <a:rPr sz="1500" b="1">
                          <a:solidFill>
                            <a:srgbClr val="202925"/>
                          </a:solidFill>
                          <a:latin typeface="Arial"/>
                          <a:ea typeface="Arial"/>
                          <a:cs typeface="Arial"/>
                        </a:rPr>
                        <a:t>Random Forest</a:t>
                      </a:r>
                    </a:p>
                  </a:txBody>
                  <a:tcPr anchor="ctr">
                    <a:lnL w="0">
                      <a:noFill/>
                      <a:prstDash val="solid"/>
                    </a:lnL>
                    <a:lnR w="0">
                      <a:noFill/>
                      <a:prstDash val="solid"/>
                    </a:lnR>
                    <a:lnT>
                      <a:noFill/>
                    </a:lnT>
                    <a:lnB w="0">
                      <a:noFill/>
                      <a:prstDash val="solid"/>
                    </a:lnB>
                    <a:solidFill>
                      <a:srgbClr val="DCE5D3"/>
                    </a:solidFill>
                  </a:tcPr>
                </a:tc>
                <a:tc>
                  <a:txBody>
                    <a:bodyPr/>
                    <a:lstStyle/>
                    <a:p>
                      <a:r>
                        <a:rPr sz="1500" b="1">
                          <a:solidFill>
                            <a:srgbClr val="202925"/>
                          </a:solidFill>
                          <a:latin typeface="Arial"/>
                          <a:ea typeface="Arial"/>
                          <a:cs typeface="Arial"/>
                        </a:rPr>
                        <a:t>81.1%</a:t>
                      </a:r>
                    </a:p>
                  </a:txBody>
                  <a:tcPr anchor="ctr">
                    <a:lnL>
                      <a:noFill/>
                    </a:lnL>
                    <a:lnR w="0">
                      <a:noFill/>
                      <a:prstDash val="solid"/>
                    </a:lnR>
                    <a:lnT>
                      <a:noFill/>
                    </a:lnT>
                    <a:lnB w="0">
                      <a:noFill/>
                      <a:prstDash val="solid"/>
                    </a:lnB>
                    <a:solidFill>
                      <a:srgbClr val="DCE5D3"/>
                    </a:solidFill>
                  </a:tcPr>
                </a:tc>
                <a:tc>
                  <a:txBody>
                    <a:bodyPr/>
                    <a:lstStyle/>
                    <a:p>
                      <a:r>
                        <a:rPr sz="1500" b="1">
                          <a:solidFill>
                            <a:srgbClr val="202925"/>
                          </a:solidFill>
                          <a:latin typeface="Arial"/>
                          <a:ea typeface="Arial"/>
                          <a:cs typeface="Arial"/>
                        </a:rPr>
                        <a:t>85.5%</a:t>
                      </a:r>
                    </a:p>
                  </a:txBody>
                  <a:tcPr anchor="ctr">
                    <a:lnL>
                      <a:noFill/>
                    </a:lnL>
                    <a:lnR w="0">
                      <a:noFill/>
                      <a:prstDash val="solid"/>
                    </a:lnR>
                    <a:lnT>
                      <a:noFill/>
                    </a:lnT>
                    <a:lnB w="0">
                      <a:noFill/>
                      <a:prstDash val="solid"/>
                    </a:lnB>
                    <a:solidFill>
                      <a:srgbClr val="DCE5D3"/>
                    </a:solidFill>
                  </a:tcPr>
                </a:tc>
                <a:tc>
                  <a:txBody>
                    <a:bodyPr/>
                    <a:lstStyle/>
                    <a:p>
                      <a:r>
                        <a:rPr sz="1500" b="1">
                          <a:solidFill>
                            <a:srgbClr val="202925"/>
                          </a:solidFill>
                          <a:latin typeface="Arial"/>
                          <a:ea typeface="Arial"/>
                          <a:cs typeface="Arial"/>
                        </a:rPr>
                        <a:t>9.15</a:t>
                      </a:r>
                    </a:p>
                  </a:txBody>
                  <a:tcPr anchor="ctr">
                    <a:lnL>
                      <a:noFill/>
                    </a:lnL>
                    <a:lnR w="0">
                      <a:noFill/>
                      <a:prstDash val="solid"/>
                    </a:lnR>
                    <a:lnT>
                      <a:noFill/>
                    </a:lnT>
                    <a:lnB w="0">
                      <a:noFill/>
                      <a:prstDash val="solid"/>
                    </a:lnB>
                    <a:solidFill>
                      <a:srgbClr val="DCE5D3"/>
                    </a:solidFill>
                  </a:tcPr>
                </a:tc>
                <a:extLst>
                  <a:ext uri="{0D108BD9-81ED-4DB2-BD59-A6C34878D82A}">
                    <a16:rowId xmlns:a16="http://schemas.microsoft.com/office/drawing/2014/main" val="10003"/>
                  </a:ext>
                </a:extLst>
              </a:tr>
            </a:tbl>
          </a:graphicData>
        </a:graphic>
      </p:graphicFrame>
      <p:sp>
        <p:nvSpPr>
          <p:cNvPr id="9" name="body-4-5">
            <a:extLst>
              <a:ext uri="{FF2B5EF4-FFF2-40B4-BE49-F238E27FC236}">
                <a16:creationId xmlns:a16="http://schemas.microsoft.com/office/drawing/2014/main" id="{70E654A2-7F2C-4311-8C37-3187278BACFA}"/>
              </a:ext>
            </a:extLst>
          </p:cNvPr>
          <p:cNvSpPr>
            <a:spLocks noGrp="1"/>
          </p:cNvSpPr>
          <p:nvPr/>
        </p:nvSpPr>
        <p:spPr>
          <a:xfrm>
            <a:off x="552450" y="5743575"/>
            <a:ext cx="11087100" cy="466725"/>
          </a:xfrm>
          <a:prstGeom prst="rect">
            <a:avLst/>
          </a:prstGeom>
          <a:noFill/>
          <a:ln w="0">
            <a:noFill/>
          </a:ln>
        </p:spPr>
        <p:txBody>
          <a:bodyPr wrap="square" lIns="0" tIns="0" rIns="0" bIns="0" anchor="t">
            <a:noAutofit/>
          </a:bodyPr>
          <a:lstStyle>
            <a:defPPr>
              <a:defRPr sz="1725" b="0">
                <a:solidFill>
                  <a:srgbClr val="69736A"/>
                </a:solidFill>
                <a:latin typeface="Arial"/>
                <a:ea typeface="Arial"/>
                <a:cs typeface="Arial"/>
              </a:defRPr>
            </a:defPPr>
            <a:lvl1pPr>
              <a:defRPr sz="1725" b="0">
                <a:solidFill>
                  <a:srgbClr val="69736A"/>
                </a:solidFill>
                <a:latin typeface="Arial"/>
                <a:ea typeface="Arial"/>
                <a:cs typeface="Arial"/>
              </a:defRPr>
            </a:lvl1pPr>
            <a:lvl2pPr>
              <a:defRPr sz="1725" b="0">
                <a:solidFill>
                  <a:srgbClr val="69736A"/>
                </a:solidFill>
                <a:latin typeface="Arial"/>
                <a:ea typeface="Arial"/>
                <a:cs typeface="Arial"/>
              </a:defRPr>
            </a:lvl2pPr>
            <a:lvl3pPr>
              <a:defRPr sz="1725" b="0">
                <a:solidFill>
                  <a:srgbClr val="69736A"/>
                </a:solidFill>
                <a:latin typeface="Arial"/>
                <a:ea typeface="Arial"/>
                <a:cs typeface="Arial"/>
              </a:defRPr>
            </a:lvl3pPr>
            <a:lvl4pPr>
              <a:defRPr sz="1725" b="0">
                <a:solidFill>
                  <a:srgbClr val="69736A"/>
                </a:solidFill>
                <a:latin typeface="Arial"/>
                <a:ea typeface="Arial"/>
                <a:cs typeface="Arial"/>
              </a:defRPr>
            </a:lvl4pPr>
            <a:lvl5pPr>
              <a:defRPr sz="1725" b="0">
                <a:solidFill>
                  <a:srgbClr val="69736A"/>
                </a:solidFill>
                <a:latin typeface="Arial"/>
                <a:ea typeface="Arial"/>
                <a:cs typeface="Arial"/>
              </a:defRPr>
            </a:lvl5pPr>
            <a:lvl6pPr>
              <a:defRPr sz="1725" b="0">
                <a:solidFill>
                  <a:srgbClr val="69736A"/>
                </a:solidFill>
                <a:latin typeface="Arial"/>
                <a:ea typeface="Arial"/>
                <a:cs typeface="Arial"/>
              </a:defRPr>
            </a:lvl6pPr>
            <a:lvl7pPr>
              <a:defRPr sz="1725" b="0">
                <a:solidFill>
                  <a:srgbClr val="69736A"/>
                </a:solidFill>
                <a:latin typeface="Arial"/>
                <a:ea typeface="Arial"/>
                <a:cs typeface="Arial"/>
              </a:defRPr>
            </a:lvl7pPr>
            <a:lvl8pPr>
              <a:defRPr sz="1725" b="0">
                <a:solidFill>
                  <a:srgbClr val="69736A"/>
                </a:solidFill>
                <a:latin typeface="Arial"/>
                <a:ea typeface="Arial"/>
                <a:cs typeface="Arial"/>
              </a:defRPr>
            </a:lvl8pPr>
            <a:lvl9pPr>
              <a:defRPr sz="1725" b="0">
                <a:solidFill>
                  <a:srgbClr val="69736A"/>
                </a:solidFill>
                <a:latin typeface="Arial"/>
                <a:ea typeface="Arial"/>
                <a:cs typeface="Arial"/>
              </a:defRPr>
            </a:lvl9pPr>
          </a:lstStyle>
          <a:p>
            <a:pPr>
              <a:defRPr sz="1725" b="0">
                <a:solidFill>
                  <a:srgbClr val="69736A"/>
                </a:solidFill>
                <a:latin typeface="Arial"/>
                <a:ea typeface="Arial"/>
                <a:cs typeface="Arial"/>
              </a:defRPr>
            </a:pPr>
            <a:r>
              <a:rPr sz="1725" b="0">
                <a:solidFill>
                  <a:srgbClr val="69736A"/>
                </a:solidFill>
                <a:latin typeface="Arial"/>
                <a:ea typeface="Arial"/>
                <a:cs typeface="Arial"/>
              </a:rPr>
              <a:t>Comparison uses 900 held-out synthetic rows. Baseline classification always predicts the majority class.</a:t>
            </a:r>
          </a:p>
        </p:txBody>
      </p:sp>
    </p:spTree>
    <p:extLst>
      <p:ext uri="{BB962C8B-B14F-4D97-AF65-F5344CB8AC3E}">
        <p14:creationId xmlns:p14="http://schemas.microsoft.com/office/powerpoint/2010/main" val="174633987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7" grpId="0">
        <p:bldAsOne/>
      </p:bldGraphic>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422FF6B3-A63D-471F-AD84-E6209379358D}"/>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2D8481A6-F969-4F6A-AE30-4F86D4ACD78C}"/>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PROJECT PRESENTATION</a:t>
            </a:r>
          </a:p>
        </p:txBody>
      </p:sp>
      <p:sp>
        <p:nvSpPr>
          <p:cNvPr id="4" name="footer-3-2">
            <a:extLst>
              <a:ext uri="{FF2B5EF4-FFF2-40B4-BE49-F238E27FC236}">
                <a16:creationId xmlns:a16="http://schemas.microsoft.com/office/drawing/2014/main" id="{9A33D312-36FF-48EC-AF39-56A049676BC6}"/>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11 / 12</a:t>
            </a:r>
          </a:p>
        </p:txBody>
      </p:sp>
      <p:sp>
        <p:nvSpPr>
          <p:cNvPr id="5" name="title-1-3">
            <a:extLst>
              <a:ext uri="{FF2B5EF4-FFF2-40B4-BE49-F238E27FC236}">
                <a16:creationId xmlns:a16="http://schemas.microsoft.com/office/drawing/2014/main" id="{4213A688-EC79-481E-AA13-F6224F38CC05}"/>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Screenshots and demonstration</a:t>
            </a:r>
          </a:p>
        </p:txBody>
      </p:sp>
      <p:sp>
        <p:nvSpPr>
          <p:cNvPr id="6" name="background-4">
            <a:extLst>
              <a:ext uri="{FF2B5EF4-FFF2-40B4-BE49-F238E27FC236}">
                <a16:creationId xmlns:a16="http://schemas.microsoft.com/office/drawing/2014/main" id="{EA0DEACD-E4CC-41C0-A122-CC2F94392F97}"/>
              </a:ext>
            </a:extLst>
          </p:cNvPr>
          <p:cNvSpPr>
            <a:spLocks noGrp="1"/>
          </p:cNvSpPr>
          <p:nvPr/>
        </p:nvSpPr>
        <p:spPr>
          <a:xfrm>
            <a:off x="552450" y="6257925"/>
            <a:ext cx="9906000" cy="9525"/>
          </a:xfrm>
          <a:prstGeom prst="rect">
            <a:avLst/>
          </a:prstGeom>
          <a:solidFill>
            <a:srgbClr val="435046"/>
          </a:solidFill>
          <a:ln w="0">
            <a:noFill/>
          </a:ln>
        </p:spPr>
      </p:sp>
      <p:pic>
        <p:nvPicPr>
          <p:cNvPr id="7" name="Picture 6">
            <a:extLst>
              <a:ext uri="{FF2B5EF4-FFF2-40B4-BE49-F238E27FC236}">
                <a16:creationId xmlns:a16="http://schemas.microsoft.com/office/drawing/2014/main" id="{850266F6-F9A9-4656-9329-66F99EDDE057}"/>
              </a:ext>
            </a:extLst>
          </p:cNvPr>
          <p:cNvPicPr>
            <a:picLocks noChangeAspect="1"/>
          </p:cNvPicPr>
          <p:nvPr/>
        </p:nvPicPr>
        <p:blipFill>
          <a:blip r:embed="rId3"/>
          <a:stretch/>
        </p:blipFill>
        <p:spPr>
          <a:xfrm>
            <a:off x="439738" y="1895475"/>
            <a:ext cx="7416800" cy="4171950"/>
          </a:xfrm>
          <a:prstGeom prst="rect">
            <a:avLst/>
          </a:prstGeom>
        </p:spPr>
      </p:pic>
      <p:sp>
        <p:nvSpPr>
          <p:cNvPr id="8" name="reveal-4-5">
            <a:extLst>
              <a:ext uri="{FF2B5EF4-FFF2-40B4-BE49-F238E27FC236}">
                <a16:creationId xmlns:a16="http://schemas.microsoft.com/office/drawing/2014/main" id="{8146F767-2259-40B3-B561-F199D8F103AD}"/>
              </a:ext>
            </a:extLst>
          </p:cNvPr>
          <p:cNvSpPr>
            <a:spLocks noGrp="1"/>
          </p:cNvSpPr>
          <p:nvPr/>
        </p:nvSpPr>
        <p:spPr>
          <a:xfrm>
            <a:off x="8286750" y="2047875"/>
            <a:ext cx="3333750"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Route and camera</a:t>
            </a:r>
          </a:p>
        </p:txBody>
      </p:sp>
      <p:sp>
        <p:nvSpPr>
          <p:cNvPr id="9" name="reveal-5-6">
            <a:extLst>
              <a:ext uri="{FF2B5EF4-FFF2-40B4-BE49-F238E27FC236}">
                <a16:creationId xmlns:a16="http://schemas.microsoft.com/office/drawing/2014/main" id="{46CEEF5D-6AAA-4A33-A19C-10FDFE8983F9}"/>
              </a:ext>
            </a:extLst>
          </p:cNvPr>
          <p:cNvSpPr>
            <a:spLocks noGrp="1"/>
          </p:cNvSpPr>
          <p:nvPr/>
        </p:nvSpPr>
        <p:spPr>
          <a:xfrm>
            <a:off x="8286750" y="2647950"/>
            <a:ext cx="3333750" cy="13716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Top, Side and Along route change the viewing angle around the same connection.</a:t>
            </a:r>
          </a:p>
        </p:txBody>
      </p:sp>
      <p:sp>
        <p:nvSpPr>
          <p:cNvPr id="10" name="reveal-6-7">
            <a:extLst>
              <a:ext uri="{FF2B5EF4-FFF2-40B4-BE49-F238E27FC236}">
                <a16:creationId xmlns:a16="http://schemas.microsoft.com/office/drawing/2014/main" id="{CACA027D-9AD6-4C77-AEBA-D75F26BF5D1B}"/>
              </a:ext>
            </a:extLst>
          </p:cNvPr>
          <p:cNvSpPr>
            <a:spLocks noGrp="1"/>
          </p:cNvSpPr>
          <p:nvPr/>
        </p:nvSpPr>
        <p:spPr>
          <a:xfrm>
            <a:off x="8286750" y="4171950"/>
            <a:ext cx="3333750" cy="4381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Airport film</a:t>
            </a:r>
          </a:p>
        </p:txBody>
      </p:sp>
      <p:sp>
        <p:nvSpPr>
          <p:cNvPr id="11" name="reveal-7-8">
            <a:extLst>
              <a:ext uri="{FF2B5EF4-FFF2-40B4-BE49-F238E27FC236}">
                <a16:creationId xmlns:a16="http://schemas.microsoft.com/office/drawing/2014/main" id="{2F7657DB-9343-4478-A78A-F8BEADD588E3}"/>
              </a:ext>
            </a:extLst>
          </p:cNvPr>
          <p:cNvSpPr>
            <a:spLocks noGrp="1"/>
          </p:cNvSpPr>
          <p:nvPr/>
        </p:nvSpPr>
        <p:spPr>
          <a:xfrm>
            <a:off x="8286750" y="4695825"/>
            <a:ext cx="3333750" cy="139065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Taxi, takeoff, globe cruise, landing and baggage unloading share one clock.</a:t>
            </a:r>
          </a:p>
        </p:txBody>
      </p:sp>
      <p:sp>
        <p:nvSpPr>
          <p:cNvPr id="12" name="body-8-9">
            <a:extLst>
              <a:ext uri="{FF2B5EF4-FFF2-40B4-BE49-F238E27FC236}">
                <a16:creationId xmlns:a16="http://schemas.microsoft.com/office/drawing/2014/main" id="{8C65FE82-5D8B-41B3-BA47-86F94393F88B}"/>
              </a:ext>
            </a:extLst>
          </p:cNvPr>
          <p:cNvSpPr>
            <a:spLocks noGrp="1"/>
          </p:cNvSpPr>
          <p:nvPr/>
        </p:nvSpPr>
        <p:spPr>
          <a:xfrm>
            <a:off x="552450" y="6429375"/>
            <a:ext cx="9810750" cy="285750"/>
          </a:xfrm>
          <a:prstGeom prst="rect">
            <a:avLst/>
          </a:prstGeom>
          <a:noFill/>
          <a:ln w="0">
            <a:noFill/>
          </a:ln>
        </p:spPr>
        <p:txBody>
          <a:bodyPr wrap="square" lIns="0" tIns="0" rIns="0" bIns="0" anchor="t">
            <a:noAutofit/>
          </a:bodyPr>
          <a:lstStyle>
            <a:defPPr>
              <a:defRPr sz="1350" b="0">
                <a:solidFill>
                  <a:srgbClr val="F4F1E9"/>
                </a:solidFill>
                <a:latin typeface="Arial"/>
                <a:ea typeface="Arial"/>
                <a:cs typeface="Arial"/>
              </a:defRPr>
            </a:defPPr>
            <a:lvl1pPr>
              <a:defRPr sz="1350" b="0">
                <a:solidFill>
                  <a:srgbClr val="F4F1E9"/>
                </a:solidFill>
                <a:latin typeface="Arial"/>
                <a:ea typeface="Arial"/>
                <a:cs typeface="Arial"/>
              </a:defRPr>
            </a:lvl1pPr>
            <a:lvl2pPr>
              <a:defRPr sz="1350" b="0">
                <a:solidFill>
                  <a:srgbClr val="F4F1E9"/>
                </a:solidFill>
                <a:latin typeface="Arial"/>
                <a:ea typeface="Arial"/>
                <a:cs typeface="Arial"/>
              </a:defRPr>
            </a:lvl2pPr>
            <a:lvl3pPr>
              <a:defRPr sz="1350" b="0">
                <a:solidFill>
                  <a:srgbClr val="F4F1E9"/>
                </a:solidFill>
                <a:latin typeface="Arial"/>
                <a:ea typeface="Arial"/>
                <a:cs typeface="Arial"/>
              </a:defRPr>
            </a:lvl3pPr>
            <a:lvl4pPr>
              <a:defRPr sz="1350" b="0">
                <a:solidFill>
                  <a:srgbClr val="F4F1E9"/>
                </a:solidFill>
                <a:latin typeface="Arial"/>
                <a:ea typeface="Arial"/>
                <a:cs typeface="Arial"/>
              </a:defRPr>
            </a:lvl4pPr>
            <a:lvl5pPr>
              <a:defRPr sz="1350" b="0">
                <a:solidFill>
                  <a:srgbClr val="F4F1E9"/>
                </a:solidFill>
                <a:latin typeface="Arial"/>
                <a:ea typeface="Arial"/>
                <a:cs typeface="Arial"/>
              </a:defRPr>
            </a:lvl5pPr>
            <a:lvl6pPr>
              <a:defRPr sz="1350" b="0">
                <a:solidFill>
                  <a:srgbClr val="F4F1E9"/>
                </a:solidFill>
                <a:latin typeface="Arial"/>
                <a:ea typeface="Arial"/>
                <a:cs typeface="Arial"/>
              </a:defRPr>
            </a:lvl6pPr>
            <a:lvl7pPr>
              <a:defRPr sz="1350" b="0">
                <a:solidFill>
                  <a:srgbClr val="F4F1E9"/>
                </a:solidFill>
                <a:latin typeface="Arial"/>
                <a:ea typeface="Arial"/>
                <a:cs typeface="Arial"/>
              </a:defRPr>
            </a:lvl7pPr>
            <a:lvl8pPr>
              <a:defRPr sz="1350" b="0">
                <a:solidFill>
                  <a:srgbClr val="F4F1E9"/>
                </a:solidFill>
                <a:latin typeface="Arial"/>
                <a:ea typeface="Arial"/>
                <a:cs typeface="Arial"/>
              </a:defRPr>
            </a:lvl8pPr>
            <a:lvl9pPr>
              <a:defRPr sz="1350" b="0">
                <a:solidFill>
                  <a:srgbClr val="F4F1E9"/>
                </a:solidFill>
                <a:latin typeface="Arial"/>
                <a:ea typeface="Arial"/>
                <a:cs typeface="Arial"/>
              </a:defRPr>
            </a:lvl9pPr>
          </a:lstStyle>
          <a:p>
            <a:pPr>
              <a:defRPr sz="1350" b="0">
                <a:solidFill>
                  <a:srgbClr val="F4F1E9"/>
                </a:solidFill>
                <a:latin typeface="Arial"/>
                <a:ea typeface="Arial"/>
                <a:cs typeface="Arial"/>
              </a:defRPr>
            </a:pPr>
            <a:r>
              <a:rPr sz="1350" b="0">
                <a:solidFill>
                  <a:srgbClr val="F4F1E9"/>
                </a:solidFill>
                <a:latin typeface="Arial"/>
                <a:ea typeface="Arial"/>
                <a:cs typeface="Arial"/>
              </a:rPr>
              <a:t>Camera controls change the view. They do not change the model output.</a:t>
            </a:r>
          </a:p>
        </p:txBody>
      </p:sp>
    </p:spTree>
    <p:extLst>
      <p:ext uri="{BB962C8B-B14F-4D97-AF65-F5344CB8AC3E}">
        <p14:creationId xmlns:p14="http://schemas.microsoft.com/office/powerpoint/2010/main" val="138834784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600" fill="hold"/>
                                        <p:tgtEl>
                                          <p:spTgt spid="7"/>
                                        </p:tgtEl>
                                        <p:attrNameLst>
                                          <p:attrName>ppt_w</p:attrName>
                                        </p:attrNameLst>
                                      </p:cBhvr>
                                      <p:tavLst>
                                        <p:tav tm="0">
                                          <p:val>
                                            <p:fltVal val="0"/>
                                          </p:val>
                                        </p:tav>
                                        <p:tav tm="100000">
                                          <p:val>
                                            <p:strVal val="#ppt_w"/>
                                          </p:val>
                                        </p:tav>
                                      </p:tavLst>
                                    </p:anim>
                                    <p:anim calcmode="lin" valueType="num">
                                      <p:cBhvr>
                                        <p:cTn id="11" dur="600" fill="hold"/>
                                        <p:tgtEl>
                                          <p:spTgt spid="7"/>
                                        </p:tgtEl>
                                        <p:attrNameLst>
                                          <p:attrName>ppt_h</p:attrName>
                                        </p:attrNameLst>
                                      </p:cBhvr>
                                      <p:tavLst>
                                        <p:tav tm="0">
                                          <p:val>
                                            <p:fltVal val="0"/>
                                          </p:val>
                                        </p:tav>
                                        <p:tav tm="100000">
                                          <p:val>
                                            <p:strVal val="#ppt_h"/>
                                          </p:val>
                                        </p:tav>
                                      </p:tavLst>
                                    </p:anim>
                                    <p:animEffect transition="in" filter="fade">
                                      <p:cBhvr>
                                        <p:cTn id="12" dur="600"/>
                                        <p:tgtEl>
                                          <p:spTgt spid="7"/>
                                        </p:tgtEl>
                                      </p:cBhvr>
                                    </p:animEffect>
                                  </p:childTnLst>
                                </p:cTn>
                              </p:par>
                            </p:childTnLst>
                          </p:cTn>
                        </p:par>
                        <p:par>
                          <p:cTn id="13"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30"/>
                                        <p:tgtEl>
                                          <p:spTgt spid="8"/>
                                        </p:tgtEl>
                                      </p:cBhvr>
                                    </p:animEffect>
                                  </p:childTnLst>
                                </p:cTn>
                              </p:par>
                            </p:childTnLst>
                          </p:cTn>
                        </p:par>
                        <p:par>
                          <p:cTn id="17" fill="hold">
                            <p:stCondLst>
                              <p:cond delay="73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30"/>
                                        <p:tgtEl>
                                          <p:spTgt spid="9"/>
                                        </p:tgtEl>
                                      </p:cBhvr>
                                    </p:animEffect>
                                  </p:childTnLst>
                                </p:cTn>
                              </p:par>
                            </p:childTnLst>
                          </p:cTn>
                        </p:par>
                        <p:par>
                          <p:cTn id="21" fill="hold">
                            <p:stCondLst>
                              <p:cond delay="86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30"/>
                                        <p:tgtEl>
                                          <p:spTgt spid="10"/>
                                        </p:tgtEl>
                                      </p:cBhvr>
                                    </p:animEffect>
                                  </p:childTnLst>
                                </p:cTn>
                              </p:par>
                            </p:childTnLst>
                          </p:cTn>
                        </p:par>
                        <p:par>
                          <p:cTn id="25" fill="hold">
                            <p:stCondLst>
                              <p:cond delay="99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30"/>
                                        <p:tgtEl>
                                          <p:spTgt spid="11"/>
                                        </p:tgtEl>
                                      </p:cBhvr>
                                    </p:animEffect>
                                  </p:childTnLst>
                                </p:cTn>
                              </p:par>
                            </p:childTnLst>
                          </p:cTn>
                        </p:par>
                        <p:par>
                          <p:cTn id="29" fill="hold">
                            <p:stCondLst>
                              <p:cond delay="1120"/>
                            </p:stCondLst>
                            <p:childTnLst>
                              <p:par>
                                <p:cTn id="30" presetID="10"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3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5BF213AF-0C58-42A0-9D99-721A368E00A3}"/>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1847298C-AA46-4862-981B-670F231C3E40}"/>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PROJECT PRESENTATION</a:t>
            </a:r>
          </a:p>
        </p:txBody>
      </p:sp>
      <p:sp>
        <p:nvSpPr>
          <p:cNvPr id="4" name="footer-3-2">
            <a:extLst>
              <a:ext uri="{FF2B5EF4-FFF2-40B4-BE49-F238E27FC236}">
                <a16:creationId xmlns:a16="http://schemas.microsoft.com/office/drawing/2014/main" id="{80E7903D-72B1-421E-A398-82ED63DA462A}"/>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12 / 12</a:t>
            </a:r>
          </a:p>
        </p:txBody>
      </p:sp>
      <p:sp>
        <p:nvSpPr>
          <p:cNvPr id="5" name="title-1-3">
            <a:extLst>
              <a:ext uri="{FF2B5EF4-FFF2-40B4-BE49-F238E27FC236}">
                <a16:creationId xmlns:a16="http://schemas.microsoft.com/office/drawing/2014/main" id="{FE8628DE-684D-49E9-AADE-E62AC32C121E}"/>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150" b="1">
                <a:solidFill>
                  <a:srgbClr val="202925"/>
                </a:solidFill>
                <a:latin typeface="Arial"/>
                <a:ea typeface="Arial"/>
                <a:cs typeface="Arial"/>
              </a:defRPr>
            </a:defPPr>
            <a:lvl1pPr>
              <a:defRPr sz="3150" b="1">
                <a:solidFill>
                  <a:srgbClr val="202925"/>
                </a:solidFill>
                <a:latin typeface="Arial"/>
                <a:ea typeface="Arial"/>
                <a:cs typeface="Arial"/>
              </a:defRPr>
            </a:lvl1pPr>
            <a:lvl2pPr>
              <a:defRPr sz="3150" b="1">
                <a:solidFill>
                  <a:srgbClr val="202925"/>
                </a:solidFill>
                <a:latin typeface="Arial"/>
                <a:ea typeface="Arial"/>
                <a:cs typeface="Arial"/>
              </a:defRPr>
            </a:lvl2pPr>
            <a:lvl3pPr>
              <a:defRPr sz="3150" b="1">
                <a:solidFill>
                  <a:srgbClr val="202925"/>
                </a:solidFill>
                <a:latin typeface="Arial"/>
                <a:ea typeface="Arial"/>
                <a:cs typeface="Arial"/>
              </a:defRPr>
            </a:lvl3pPr>
            <a:lvl4pPr>
              <a:defRPr sz="3150" b="1">
                <a:solidFill>
                  <a:srgbClr val="202925"/>
                </a:solidFill>
                <a:latin typeface="Arial"/>
                <a:ea typeface="Arial"/>
                <a:cs typeface="Arial"/>
              </a:defRPr>
            </a:lvl4pPr>
            <a:lvl5pPr>
              <a:defRPr sz="3150" b="1">
                <a:solidFill>
                  <a:srgbClr val="202925"/>
                </a:solidFill>
                <a:latin typeface="Arial"/>
                <a:ea typeface="Arial"/>
                <a:cs typeface="Arial"/>
              </a:defRPr>
            </a:lvl5pPr>
            <a:lvl6pPr>
              <a:defRPr sz="3150" b="1">
                <a:solidFill>
                  <a:srgbClr val="202925"/>
                </a:solidFill>
                <a:latin typeface="Arial"/>
                <a:ea typeface="Arial"/>
                <a:cs typeface="Arial"/>
              </a:defRPr>
            </a:lvl6pPr>
            <a:lvl7pPr>
              <a:defRPr sz="3150" b="1">
                <a:solidFill>
                  <a:srgbClr val="202925"/>
                </a:solidFill>
                <a:latin typeface="Arial"/>
                <a:ea typeface="Arial"/>
                <a:cs typeface="Arial"/>
              </a:defRPr>
            </a:lvl7pPr>
            <a:lvl8pPr>
              <a:defRPr sz="3150" b="1">
                <a:solidFill>
                  <a:srgbClr val="202925"/>
                </a:solidFill>
                <a:latin typeface="Arial"/>
                <a:ea typeface="Arial"/>
                <a:cs typeface="Arial"/>
              </a:defRPr>
            </a:lvl8pPr>
            <a:lvl9pPr>
              <a:defRPr sz="3150" b="1">
                <a:solidFill>
                  <a:srgbClr val="202925"/>
                </a:solidFill>
                <a:latin typeface="Arial"/>
                <a:ea typeface="Arial"/>
                <a:cs typeface="Arial"/>
              </a:defRPr>
            </a:lvl9pPr>
          </a:lstStyle>
          <a:p>
            <a:pPr>
              <a:defRPr sz="3150" b="1">
                <a:solidFill>
                  <a:srgbClr val="202925"/>
                </a:solidFill>
                <a:latin typeface="Arial"/>
                <a:ea typeface="Arial"/>
                <a:cs typeface="Arial"/>
              </a:defRPr>
            </a:pPr>
            <a:r>
              <a:rPr sz="3150" b="1">
                <a:solidFill>
                  <a:srgbClr val="202925"/>
                </a:solidFill>
                <a:latin typeface="Arial"/>
                <a:ea typeface="Arial"/>
                <a:cs typeface="Arial"/>
              </a:rPr>
              <a:t>Conclusion, future scope and references</a:t>
            </a:r>
          </a:p>
        </p:txBody>
      </p:sp>
      <p:sp>
        <p:nvSpPr>
          <p:cNvPr id="6" name="background-4">
            <a:extLst>
              <a:ext uri="{FF2B5EF4-FFF2-40B4-BE49-F238E27FC236}">
                <a16:creationId xmlns:a16="http://schemas.microsoft.com/office/drawing/2014/main" id="{F8630370-3659-4525-8E3B-16A553210727}"/>
              </a:ext>
            </a:extLst>
          </p:cNvPr>
          <p:cNvSpPr>
            <a:spLocks noGrp="1"/>
          </p:cNvSpPr>
          <p:nvPr/>
        </p:nvSpPr>
        <p:spPr>
          <a:xfrm>
            <a:off x="552450" y="6257925"/>
            <a:ext cx="9906000" cy="9525"/>
          </a:xfrm>
          <a:prstGeom prst="rect">
            <a:avLst/>
          </a:prstGeom>
          <a:solidFill>
            <a:srgbClr val="D4D9CE"/>
          </a:solidFill>
          <a:ln w="0">
            <a:noFill/>
          </a:ln>
        </p:spPr>
      </p:sp>
      <p:sp>
        <p:nvSpPr>
          <p:cNvPr id="7" name="reveal-4-5">
            <a:extLst>
              <a:ext uri="{FF2B5EF4-FFF2-40B4-BE49-F238E27FC236}">
                <a16:creationId xmlns:a16="http://schemas.microsoft.com/office/drawing/2014/main" id="{EAA8B4BA-A51A-4C9F-9D75-D04DB4AC95DF}"/>
              </a:ext>
            </a:extLst>
          </p:cNvPr>
          <p:cNvSpPr>
            <a:spLocks noGrp="1"/>
          </p:cNvSpPr>
          <p:nvPr/>
        </p:nvSpPr>
        <p:spPr>
          <a:xfrm>
            <a:off x="552450" y="2000250"/>
            <a:ext cx="5238750" cy="438150"/>
          </a:xfrm>
          <a:prstGeom prst="rect">
            <a:avLst/>
          </a:prstGeom>
          <a:noFill/>
          <a:ln w="0">
            <a:noFill/>
          </a:ln>
        </p:spPr>
        <p:txBody>
          <a:bodyPr wrap="square" lIns="0" tIns="0" rIns="0" bIns="0" anchor="t">
            <a:noAutofit/>
          </a:bodyPr>
          <a:lstStyle>
            <a:defPPr>
              <a:defRPr sz="2250" b="1">
                <a:solidFill>
                  <a:srgbClr val="B98251"/>
                </a:solidFill>
                <a:latin typeface="Arial"/>
                <a:ea typeface="Arial"/>
                <a:cs typeface="Arial"/>
              </a:defRPr>
            </a:defPPr>
            <a:lvl1pPr>
              <a:defRPr sz="2250" b="1">
                <a:solidFill>
                  <a:srgbClr val="B98251"/>
                </a:solidFill>
                <a:latin typeface="Arial"/>
                <a:ea typeface="Arial"/>
                <a:cs typeface="Arial"/>
              </a:defRPr>
            </a:lvl1pPr>
            <a:lvl2pPr>
              <a:defRPr sz="2250" b="1">
                <a:solidFill>
                  <a:srgbClr val="B98251"/>
                </a:solidFill>
                <a:latin typeface="Arial"/>
                <a:ea typeface="Arial"/>
                <a:cs typeface="Arial"/>
              </a:defRPr>
            </a:lvl2pPr>
            <a:lvl3pPr>
              <a:defRPr sz="2250" b="1">
                <a:solidFill>
                  <a:srgbClr val="B98251"/>
                </a:solidFill>
                <a:latin typeface="Arial"/>
                <a:ea typeface="Arial"/>
                <a:cs typeface="Arial"/>
              </a:defRPr>
            </a:lvl3pPr>
            <a:lvl4pPr>
              <a:defRPr sz="2250" b="1">
                <a:solidFill>
                  <a:srgbClr val="B98251"/>
                </a:solidFill>
                <a:latin typeface="Arial"/>
                <a:ea typeface="Arial"/>
                <a:cs typeface="Arial"/>
              </a:defRPr>
            </a:lvl4pPr>
            <a:lvl5pPr>
              <a:defRPr sz="2250" b="1">
                <a:solidFill>
                  <a:srgbClr val="B98251"/>
                </a:solidFill>
                <a:latin typeface="Arial"/>
                <a:ea typeface="Arial"/>
                <a:cs typeface="Arial"/>
              </a:defRPr>
            </a:lvl5pPr>
            <a:lvl6pPr>
              <a:defRPr sz="2250" b="1">
                <a:solidFill>
                  <a:srgbClr val="B98251"/>
                </a:solidFill>
                <a:latin typeface="Arial"/>
                <a:ea typeface="Arial"/>
                <a:cs typeface="Arial"/>
              </a:defRPr>
            </a:lvl6pPr>
            <a:lvl7pPr>
              <a:defRPr sz="2250" b="1">
                <a:solidFill>
                  <a:srgbClr val="B98251"/>
                </a:solidFill>
                <a:latin typeface="Arial"/>
                <a:ea typeface="Arial"/>
                <a:cs typeface="Arial"/>
              </a:defRPr>
            </a:lvl7pPr>
            <a:lvl8pPr>
              <a:defRPr sz="2250" b="1">
                <a:solidFill>
                  <a:srgbClr val="B98251"/>
                </a:solidFill>
                <a:latin typeface="Arial"/>
                <a:ea typeface="Arial"/>
                <a:cs typeface="Arial"/>
              </a:defRPr>
            </a:lvl8pPr>
            <a:lvl9pPr>
              <a:defRPr sz="2250" b="1">
                <a:solidFill>
                  <a:srgbClr val="B98251"/>
                </a:solidFill>
                <a:latin typeface="Arial"/>
                <a:ea typeface="Arial"/>
                <a:cs typeface="Arial"/>
              </a:defRPr>
            </a:lvl9pPr>
          </a:lstStyle>
          <a:p>
            <a:pPr>
              <a:defRPr sz="2250" b="1">
                <a:solidFill>
                  <a:srgbClr val="B98251"/>
                </a:solidFill>
                <a:latin typeface="Arial"/>
                <a:ea typeface="Arial"/>
                <a:cs typeface="Arial"/>
              </a:defRPr>
            </a:pPr>
            <a:r>
              <a:rPr sz="2250" b="1">
                <a:solidFill>
                  <a:srgbClr val="B98251"/>
                </a:solidFill>
                <a:latin typeface="Arial"/>
                <a:ea typeface="Arial"/>
                <a:cs typeface="Arial"/>
              </a:rPr>
              <a:t>Conclusion</a:t>
            </a:r>
          </a:p>
        </p:txBody>
      </p:sp>
      <p:sp>
        <p:nvSpPr>
          <p:cNvPr id="8" name="reveal-5-6">
            <a:extLst>
              <a:ext uri="{FF2B5EF4-FFF2-40B4-BE49-F238E27FC236}">
                <a16:creationId xmlns:a16="http://schemas.microsoft.com/office/drawing/2014/main" id="{DC1CB534-4B22-422C-9AB0-980B46009B1C}"/>
              </a:ext>
            </a:extLst>
          </p:cNvPr>
          <p:cNvSpPr>
            <a:spLocks noGrp="1"/>
          </p:cNvSpPr>
          <p:nvPr/>
        </p:nvSpPr>
        <p:spPr>
          <a:xfrm>
            <a:off x="552450" y="2590800"/>
            <a:ext cx="5095875" cy="1257300"/>
          </a:xfrm>
          <a:prstGeom prst="rect">
            <a:avLst/>
          </a:prstGeom>
          <a:noFill/>
          <a:ln w="0">
            <a:noFill/>
          </a:ln>
        </p:spPr>
        <p:txBody>
          <a:bodyPr wrap="square" lIns="0" tIns="0" rIns="0" bIns="0" anchor="t">
            <a:noAutofit/>
          </a:bodyPr>
          <a:lstStyle>
            <a:defPPr>
              <a:defRPr sz="2175" b="0">
                <a:solidFill>
                  <a:srgbClr val="202925"/>
                </a:solidFill>
                <a:latin typeface="Arial"/>
                <a:ea typeface="Arial"/>
                <a:cs typeface="Arial"/>
              </a:defRPr>
            </a:defPPr>
            <a:lvl1pPr>
              <a:defRPr sz="2175" b="0">
                <a:solidFill>
                  <a:srgbClr val="202925"/>
                </a:solidFill>
                <a:latin typeface="Arial"/>
                <a:ea typeface="Arial"/>
                <a:cs typeface="Arial"/>
              </a:defRPr>
            </a:lvl1pPr>
            <a:lvl2pPr>
              <a:defRPr sz="2175" b="0">
                <a:solidFill>
                  <a:srgbClr val="202925"/>
                </a:solidFill>
                <a:latin typeface="Arial"/>
                <a:ea typeface="Arial"/>
                <a:cs typeface="Arial"/>
              </a:defRPr>
            </a:lvl2pPr>
            <a:lvl3pPr>
              <a:defRPr sz="2175" b="0">
                <a:solidFill>
                  <a:srgbClr val="202925"/>
                </a:solidFill>
                <a:latin typeface="Arial"/>
                <a:ea typeface="Arial"/>
                <a:cs typeface="Arial"/>
              </a:defRPr>
            </a:lvl3pPr>
            <a:lvl4pPr>
              <a:defRPr sz="2175" b="0">
                <a:solidFill>
                  <a:srgbClr val="202925"/>
                </a:solidFill>
                <a:latin typeface="Arial"/>
                <a:ea typeface="Arial"/>
                <a:cs typeface="Arial"/>
              </a:defRPr>
            </a:lvl4pPr>
            <a:lvl5pPr>
              <a:defRPr sz="2175" b="0">
                <a:solidFill>
                  <a:srgbClr val="202925"/>
                </a:solidFill>
                <a:latin typeface="Arial"/>
                <a:ea typeface="Arial"/>
                <a:cs typeface="Arial"/>
              </a:defRPr>
            </a:lvl5pPr>
            <a:lvl6pPr>
              <a:defRPr sz="2175" b="0">
                <a:solidFill>
                  <a:srgbClr val="202925"/>
                </a:solidFill>
                <a:latin typeface="Arial"/>
                <a:ea typeface="Arial"/>
                <a:cs typeface="Arial"/>
              </a:defRPr>
            </a:lvl6pPr>
            <a:lvl7pPr>
              <a:defRPr sz="2175" b="0">
                <a:solidFill>
                  <a:srgbClr val="202925"/>
                </a:solidFill>
                <a:latin typeface="Arial"/>
                <a:ea typeface="Arial"/>
                <a:cs typeface="Arial"/>
              </a:defRPr>
            </a:lvl7pPr>
            <a:lvl8pPr>
              <a:defRPr sz="2175" b="0">
                <a:solidFill>
                  <a:srgbClr val="202925"/>
                </a:solidFill>
                <a:latin typeface="Arial"/>
                <a:ea typeface="Arial"/>
                <a:cs typeface="Arial"/>
              </a:defRPr>
            </a:lvl8pPr>
            <a:lvl9pPr>
              <a:defRPr sz="2175" b="0">
                <a:solidFill>
                  <a:srgbClr val="202925"/>
                </a:solidFill>
                <a:latin typeface="Arial"/>
                <a:ea typeface="Arial"/>
                <a:cs typeface="Arial"/>
              </a:defRPr>
            </a:lvl9pPr>
          </a:lstStyle>
          <a:p>
            <a:pPr>
              <a:defRPr sz="2175" b="0">
                <a:solidFill>
                  <a:srgbClr val="202925"/>
                </a:solidFill>
                <a:latin typeface="Arial"/>
                <a:ea typeface="Arial"/>
                <a:cs typeface="Arial"/>
              </a:defRPr>
            </a:pPr>
            <a:r>
              <a:rPr sz="2175" b="0">
                <a:solidFill>
                  <a:srgbClr val="202925"/>
                </a:solidFill>
                <a:latin typeface="Arial"/>
                <a:ea typeface="Arial"/>
                <a:cs typeface="Arial"/>
              </a:rPr>
              <a:t>The unchanged data supports a measured Random Forest study and an interactive project demonstration.</a:t>
            </a:r>
          </a:p>
        </p:txBody>
      </p:sp>
      <p:sp>
        <p:nvSpPr>
          <p:cNvPr id="9" name="reveal-6-7">
            <a:extLst>
              <a:ext uri="{FF2B5EF4-FFF2-40B4-BE49-F238E27FC236}">
                <a16:creationId xmlns:a16="http://schemas.microsoft.com/office/drawing/2014/main" id="{136C684D-5D6C-4E6A-BBEB-B24378158983}"/>
              </a:ext>
            </a:extLst>
          </p:cNvPr>
          <p:cNvSpPr>
            <a:spLocks noGrp="1"/>
          </p:cNvSpPr>
          <p:nvPr/>
        </p:nvSpPr>
        <p:spPr>
          <a:xfrm>
            <a:off x="552450" y="4257675"/>
            <a:ext cx="5238750" cy="438150"/>
          </a:xfrm>
          <a:prstGeom prst="rect">
            <a:avLst/>
          </a:prstGeom>
          <a:noFill/>
          <a:ln w="0">
            <a:noFill/>
          </a:ln>
        </p:spPr>
        <p:txBody>
          <a:bodyPr wrap="square" lIns="0" tIns="0" rIns="0" bIns="0" anchor="t">
            <a:noAutofit/>
          </a:bodyPr>
          <a:lstStyle>
            <a:defPPr>
              <a:defRPr sz="2250" b="1">
                <a:solidFill>
                  <a:srgbClr val="B98251"/>
                </a:solidFill>
                <a:latin typeface="Arial"/>
                <a:ea typeface="Arial"/>
                <a:cs typeface="Arial"/>
              </a:defRPr>
            </a:defPPr>
            <a:lvl1pPr>
              <a:defRPr sz="2250" b="1">
                <a:solidFill>
                  <a:srgbClr val="B98251"/>
                </a:solidFill>
                <a:latin typeface="Arial"/>
                <a:ea typeface="Arial"/>
                <a:cs typeface="Arial"/>
              </a:defRPr>
            </a:lvl1pPr>
            <a:lvl2pPr>
              <a:defRPr sz="2250" b="1">
                <a:solidFill>
                  <a:srgbClr val="B98251"/>
                </a:solidFill>
                <a:latin typeface="Arial"/>
                <a:ea typeface="Arial"/>
                <a:cs typeface="Arial"/>
              </a:defRPr>
            </a:lvl2pPr>
            <a:lvl3pPr>
              <a:defRPr sz="2250" b="1">
                <a:solidFill>
                  <a:srgbClr val="B98251"/>
                </a:solidFill>
                <a:latin typeface="Arial"/>
                <a:ea typeface="Arial"/>
                <a:cs typeface="Arial"/>
              </a:defRPr>
            </a:lvl3pPr>
            <a:lvl4pPr>
              <a:defRPr sz="2250" b="1">
                <a:solidFill>
                  <a:srgbClr val="B98251"/>
                </a:solidFill>
                <a:latin typeface="Arial"/>
                <a:ea typeface="Arial"/>
                <a:cs typeface="Arial"/>
              </a:defRPr>
            </a:lvl4pPr>
            <a:lvl5pPr>
              <a:defRPr sz="2250" b="1">
                <a:solidFill>
                  <a:srgbClr val="B98251"/>
                </a:solidFill>
                <a:latin typeface="Arial"/>
                <a:ea typeface="Arial"/>
                <a:cs typeface="Arial"/>
              </a:defRPr>
            </a:lvl5pPr>
            <a:lvl6pPr>
              <a:defRPr sz="2250" b="1">
                <a:solidFill>
                  <a:srgbClr val="B98251"/>
                </a:solidFill>
                <a:latin typeface="Arial"/>
                <a:ea typeface="Arial"/>
                <a:cs typeface="Arial"/>
              </a:defRPr>
            </a:lvl6pPr>
            <a:lvl7pPr>
              <a:defRPr sz="2250" b="1">
                <a:solidFill>
                  <a:srgbClr val="B98251"/>
                </a:solidFill>
                <a:latin typeface="Arial"/>
                <a:ea typeface="Arial"/>
                <a:cs typeface="Arial"/>
              </a:defRPr>
            </a:lvl7pPr>
            <a:lvl8pPr>
              <a:defRPr sz="2250" b="1">
                <a:solidFill>
                  <a:srgbClr val="B98251"/>
                </a:solidFill>
                <a:latin typeface="Arial"/>
                <a:ea typeface="Arial"/>
                <a:cs typeface="Arial"/>
              </a:defRPr>
            </a:lvl8pPr>
            <a:lvl9pPr>
              <a:defRPr sz="2250" b="1">
                <a:solidFill>
                  <a:srgbClr val="B98251"/>
                </a:solidFill>
                <a:latin typeface="Arial"/>
                <a:ea typeface="Arial"/>
                <a:cs typeface="Arial"/>
              </a:defRPr>
            </a:lvl9pPr>
          </a:lstStyle>
          <a:p>
            <a:pPr>
              <a:defRPr sz="2250" b="1">
                <a:solidFill>
                  <a:srgbClr val="B98251"/>
                </a:solidFill>
                <a:latin typeface="Arial"/>
                <a:ea typeface="Arial"/>
                <a:cs typeface="Arial"/>
              </a:defRPr>
            </a:pPr>
            <a:r>
              <a:rPr sz="2250" b="1">
                <a:solidFill>
                  <a:srgbClr val="B98251"/>
                </a:solidFill>
                <a:latin typeface="Arial"/>
                <a:ea typeface="Arial"/>
                <a:cs typeface="Arial"/>
              </a:rPr>
              <a:t>Future scope</a:t>
            </a:r>
          </a:p>
        </p:txBody>
      </p:sp>
      <p:sp>
        <p:nvSpPr>
          <p:cNvPr id="10" name="reveal-7-8">
            <a:extLst>
              <a:ext uri="{FF2B5EF4-FFF2-40B4-BE49-F238E27FC236}">
                <a16:creationId xmlns:a16="http://schemas.microsoft.com/office/drawing/2014/main" id="{FA6ACE93-4AC7-4731-8E63-C723425925A4}"/>
              </a:ext>
            </a:extLst>
          </p:cNvPr>
          <p:cNvSpPr>
            <a:spLocks noGrp="1"/>
          </p:cNvSpPr>
          <p:nvPr/>
        </p:nvSpPr>
        <p:spPr>
          <a:xfrm>
            <a:off x="552450" y="4819650"/>
            <a:ext cx="5095875" cy="1295400"/>
          </a:xfrm>
          <a:prstGeom prst="rect">
            <a:avLst/>
          </a:prstGeom>
          <a:noFill/>
          <a:ln w="0">
            <a:noFill/>
          </a:ln>
        </p:spPr>
        <p:txBody>
          <a:bodyPr wrap="square" lIns="0" tIns="0" rIns="0" bIns="0" anchor="t">
            <a:noAutofit/>
          </a:bodyPr>
          <a:lstStyle>
            <a:defPPr>
              <a:defRPr sz="2175" b="0">
                <a:solidFill>
                  <a:srgbClr val="202925"/>
                </a:solidFill>
                <a:latin typeface="Arial"/>
                <a:ea typeface="Arial"/>
                <a:cs typeface="Arial"/>
              </a:defRPr>
            </a:defPPr>
            <a:lvl1pPr>
              <a:defRPr sz="2175" b="0">
                <a:solidFill>
                  <a:srgbClr val="202925"/>
                </a:solidFill>
                <a:latin typeface="Arial"/>
                <a:ea typeface="Arial"/>
                <a:cs typeface="Arial"/>
              </a:defRPr>
            </a:lvl1pPr>
            <a:lvl2pPr>
              <a:defRPr sz="2175" b="0">
                <a:solidFill>
                  <a:srgbClr val="202925"/>
                </a:solidFill>
                <a:latin typeface="Arial"/>
                <a:ea typeface="Arial"/>
                <a:cs typeface="Arial"/>
              </a:defRPr>
            </a:lvl2pPr>
            <a:lvl3pPr>
              <a:defRPr sz="2175" b="0">
                <a:solidFill>
                  <a:srgbClr val="202925"/>
                </a:solidFill>
                <a:latin typeface="Arial"/>
                <a:ea typeface="Arial"/>
                <a:cs typeface="Arial"/>
              </a:defRPr>
            </a:lvl3pPr>
            <a:lvl4pPr>
              <a:defRPr sz="2175" b="0">
                <a:solidFill>
                  <a:srgbClr val="202925"/>
                </a:solidFill>
                <a:latin typeface="Arial"/>
                <a:ea typeface="Arial"/>
                <a:cs typeface="Arial"/>
              </a:defRPr>
            </a:lvl4pPr>
            <a:lvl5pPr>
              <a:defRPr sz="2175" b="0">
                <a:solidFill>
                  <a:srgbClr val="202925"/>
                </a:solidFill>
                <a:latin typeface="Arial"/>
                <a:ea typeface="Arial"/>
                <a:cs typeface="Arial"/>
              </a:defRPr>
            </a:lvl5pPr>
            <a:lvl6pPr>
              <a:defRPr sz="2175" b="0">
                <a:solidFill>
                  <a:srgbClr val="202925"/>
                </a:solidFill>
                <a:latin typeface="Arial"/>
                <a:ea typeface="Arial"/>
                <a:cs typeface="Arial"/>
              </a:defRPr>
            </a:lvl6pPr>
            <a:lvl7pPr>
              <a:defRPr sz="2175" b="0">
                <a:solidFill>
                  <a:srgbClr val="202925"/>
                </a:solidFill>
                <a:latin typeface="Arial"/>
                <a:ea typeface="Arial"/>
                <a:cs typeface="Arial"/>
              </a:defRPr>
            </a:lvl7pPr>
            <a:lvl8pPr>
              <a:defRPr sz="2175" b="0">
                <a:solidFill>
                  <a:srgbClr val="202925"/>
                </a:solidFill>
                <a:latin typeface="Arial"/>
                <a:ea typeface="Arial"/>
                <a:cs typeface="Arial"/>
              </a:defRPr>
            </a:lvl8pPr>
            <a:lvl9pPr>
              <a:defRPr sz="2175" b="0">
                <a:solidFill>
                  <a:srgbClr val="202925"/>
                </a:solidFill>
                <a:latin typeface="Arial"/>
                <a:ea typeface="Arial"/>
                <a:cs typeface="Arial"/>
              </a:defRPr>
            </a:lvl9pPr>
          </a:lstStyle>
          <a:p>
            <a:pPr>
              <a:defRPr sz="2175" b="0">
                <a:solidFill>
                  <a:srgbClr val="202925"/>
                </a:solidFill>
                <a:latin typeface="Arial"/>
                <a:ea typeface="Arial"/>
                <a:cs typeface="Arial"/>
              </a:defRPr>
            </a:pPr>
            <a:r>
              <a:rPr sz="2175" b="0">
                <a:solidFill>
                  <a:srgbClr val="202925"/>
                </a:solidFill>
                <a:latin typeface="Arial"/>
                <a:ea typeface="Arial"/>
                <a:cs typeface="Arial"/>
              </a:rPr>
              <a:t>Integrate the trained model into the website and evaluate on licensed historical flight outcomes.</a:t>
            </a:r>
          </a:p>
        </p:txBody>
      </p:sp>
      <p:sp>
        <p:nvSpPr>
          <p:cNvPr id="11" name="background-9">
            <a:extLst>
              <a:ext uri="{FF2B5EF4-FFF2-40B4-BE49-F238E27FC236}">
                <a16:creationId xmlns:a16="http://schemas.microsoft.com/office/drawing/2014/main" id="{1A1E5F60-4B09-4ECA-AC98-1528F54B8D66}"/>
              </a:ext>
            </a:extLst>
          </p:cNvPr>
          <p:cNvSpPr>
            <a:spLocks noGrp="1"/>
          </p:cNvSpPr>
          <p:nvPr/>
        </p:nvSpPr>
        <p:spPr>
          <a:xfrm>
            <a:off x="6105525" y="1828800"/>
            <a:ext cx="6086475" cy="4429125"/>
          </a:xfrm>
          <a:prstGeom prst="rect">
            <a:avLst/>
          </a:prstGeom>
          <a:solidFill>
            <a:srgbClr val="171E1C"/>
          </a:solidFill>
          <a:ln w="0">
            <a:noFill/>
          </a:ln>
        </p:spPr>
      </p:sp>
      <p:sp>
        <p:nvSpPr>
          <p:cNvPr id="12" name="body-8-10">
            <a:extLst>
              <a:ext uri="{FF2B5EF4-FFF2-40B4-BE49-F238E27FC236}">
                <a16:creationId xmlns:a16="http://schemas.microsoft.com/office/drawing/2014/main" id="{50618252-6A83-4BDA-8CD3-E30E39A7F175}"/>
              </a:ext>
            </a:extLst>
          </p:cNvPr>
          <p:cNvSpPr>
            <a:spLocks noGrp="1"/>
          </p:cNvSpPr>
          <p:nvPr/>
        </p:nvSpPr>
        <p:spPr>
          <a:xfrm>
            <a:off x="6496050" y="2057400"/>
            <a:ext cx="4953000" cy="419100"/>
          </a:xfrm>
          <a:prstGeom prst="rect">
            <a:avLst/>
          </a:prstGeom>
          <a:noFill/>
          <a:ln w="0">
            <a:noFill/>
          </a:ln>
        </p:spPr>
        <p:txBody>
          <a:bodyPr wrap="square" lIns="0" tIns="0" rIns="0" bIns="0" anchor="t">
            <a:noAutofit/>
          </a:bodyPr>
          <a:lstStyle>
            <a:defPPr>
              <a:defRPr sz="2175" b="1">
                <a:solidFill>
                  <a:srgbClr val="D5AF83"/>
                </a:solidFill>
                <a:latin typeface="Arial"/>
                <a:ea typeface="Arial"/>
                <a:cs typeface="Arial"/>
              </a:defRPr>
            </a:defPPr>
            <a:lvl1pPr>
              <a:defRPr sz="2175" b="1">
                <a:solidFill>
                  <a:srgbClr val="D5AF83"/>
                </a:solidFill>
                <a:latin typeface="Arial"/>
                <a:ea typeface="Arial"/>
                <a:cs typeface="Arial"/>
              </a:defRPr>
            </a:lvl1pPr>
            <a:lvl2pPr>
              <a:defRPr sz="2175" b="1">
                <a:solidFill>
                  <a:srgbClr val="D5AF83"/>
                </a:solidFill>
                <a:latin typeface="Arial"/>
                <a:ea typeface="Arial"/>
                <a:cs typeface="Arial"/>
              </a:defRPr>
            </a:lvl2pPr>
            <a:lvl3pPr>
              <a:defRPr sz="2175" b="1">
                <a:solidFill>
                  <a:srgbClr val="D5AF83"/>
                </a:solidFill>
                <a:latin typeface="Arial"/>
                <a:ea typeface="Arial"/>
                <a:cs typeface="Arial"/>
              </a:defRPr>
            </a:lvl3pPr>
            <a:lvl4pPr>
              <a:defRPr sz="2175" b="1">
                <a:solidFill>
                  <a:srgbClr val="D5AF83"/>
                </a:solidFill>
                <a:latin typeface="Arial"/>
                <a:ea typeface="Arial"/>
                <a:cs typeface="Arial"/>
              </a:defRPr>
            </a:lvl4pPr>
            <a:lvl5pPr>
              <a:defRPr sz="2175" b="1">
                <a:solidFill>
                  <a:srgbClr val="D5AF83"/>
                </a:solidFill>
                <a:latin typeface="Arial"/>
                <a:ea typeface="Arial"/>
                <a:cs typeface="Arial"/>
              </a:defRPr>
            </a:lvl5pPr>
            <a:lvl6pPr>
              <a:defRPr sz="2175" b="1">
                <a:solidFill>
                  <a:srgbClr val="D5AF83"/>
                </a:solidFill>
                <a:latin typeface="Arial"/>
                <a:ea typeface="Arial"/>
                <a:cs typeface="Arial"/>
              </a:defRPr>
            </a:lvl6pPr>
            <a:lvl7pPr>
              <a:defRPr sz="2175" b="1">
                <a:solidFill>
                  <a:srgbClr val="D5AF83"/>
                </a:solidFill>
                <a:latin typeface="Arial"/>
                <a:ea typeface="Arial"/>
                <a:cs typeface="Arial"/>
              </a:defRPr>
            </a:lvl7pPr>
            <a:lvl8pPr>
              <a:defRPr sz="2175" b="1">
                <a:solidFill>
                  <a:srgbClr val="D5AF83"/>
                </a:solidFill>
                <a:latin typeface="Arial"/>
                <a:ea typeface="Arial"/>
                <a:cs typeface="Arial"/>
              </a:defRPr>
            </a:lvl8pPr>
            <a:lvl9pPr>
              <a:defRPr sz="2175" b="1">
                <a:solidFill>
                  <a:srgbClr val="D5AF83"/>
                </a:solidFill>
                <a:latin typeface="Arial"/>
                <a:ea typeface="Arial"/>
                <a:cs typeface="Arial"/>
              </a:defRPr>
            </a:lvl9pPr>
          </a:lstStyle>
          <a:p>
            <a:pPr>
              <a:defRPr sz="2175" b="1">
                <a:solidFill>
                  <a:srgbClr val="D5AF83"/>
                </a:solidFill>
                <a:latin typeface="Arial"/>
                <a:ea typeface="Arial"/>
                <a:cs typeface="Arial"/>
              </a:defRPr>
            </a:pPr>
            <a:r>
              <a:rPr sz="2175" b="1">
                <a:solidFill>
                  <a:srgbClr val="D5AF83"/>
                </a:solidFill>
                <a:latin typeface="Arial"/>
                <a:ea typeface="Arial"/>
                <a:cs typeface="Arial"/>
              </a:rPr>
              <a:t>References</a:t>
            </a:r>
          </a:p>
        </p:txBody>
      </p:sp>
      <p:sp>
        <p:nvSpPr>
          <p:cNvPr id="13" name="hyperlink__https%3A%2F%2Fscikit-learn.org%2Fstable%2Fmodules%2Fgenerated%2Fsklearn.ensemble.RandomForestClassifier.html-9-11">
            <a:hlinkClick r:id="rId3"/>
            <a:extLst>
              <a:ext uri="{FF2B5EF4-FFF2-40B4-BE49-F238E27FC236}">
                <a16:creationId xmlns:a16="http://schemas.microsoft.com/office/drawing/2014/main" id="{61B6CF2E-EB19-45EB-AEB9-AE6845CBA79F}"/>
              </a:ext>
            </a:extLst>
          </p:cNvPr>
          <p:cNvSpPr>
            <a:spLocks noGrp="1"/>
          </p:cNvSpPr>
          <p:nvPr/>
        </p:nvSpPr>
        <p:spPr>
          <a:xfrm>
            <a:off x="6496050" y="2647950"/>
            <a:ext cx="5095875" cy="466725"/>
          </a:xfrm>
          <a:prstGeom prst="rect">
            <a:avLst/>
          </a:prstGeom>
          <a:noFill/>
          <a:ln w="0">
            <a:noFill/>
          </a:ln>
        </p:spPr>
        <p:txBody>
          <a:bodyPr wrap="square" lIns="0" tIns="0" rIns="0" bIns="0" anchor="t">
            <a:noAutofit/>
          </a:bodyPr>
          <a:lstStyle>
            <a:defPPr>
              <a:defRPr sz="1650" b="1">
                <a:solidFill>
                  <a:srgbClr val="F4F1E9"/>
                </a:solidFill>
                <a:latin typeface="Arial"/>
                <a:ea typeface="Arial"/>
                <a:cs typeface="Arial"/>
              </a:defRPr>
            </a:defPPr>
            <a:lvl1pPr>
              <a:defRPr sz="1650" b="1">
                <a:solidFill>
                  <a:srgbClr val="F4F1E9"/>
                </a:solidFill>
                <a:latin typeface="Arial"/>
                <a:ea typeface="Arial"/>
                <a:cs typeface="Arial"/>
              </a:defRPr>
            </a:lvl1pPr>
            <a:lvl2pPr>
              <a:defRPr sz="1650" b="1">
                <a:solidFill>
                  <a:srgbClr val="F4F1E9"/>
                </a:solidFill>
                <a:latin typeface="Arial"/>
                <a:ea typeface="Arial"/>
                <a:cs typeface="Arial"/>
              </a:defRPr>
            </a:lvl2pPr>
            <a:lvl3pPr>
              <a:defRPr sz="1650" b="1">
                <a:solidFill>
                  <a:srgbClr val="F4F1E9"/>
                </a:solidFill>
                <a:latin typeface="Arial"/>
                <a:ea typeface="Arial"/>
                <a:cs typeface="Arial"/>
              </a:defRPr>
            </a:lvl3pPr>
            <a:lvl4pPr>
              <a:defRPr sz="1650" b="1">
                <a:solidFill>
                  <a:srgbClr val="F4F1E9"/>
                </a:solidFill>
                <a:latin typeface="Arial"/>
                <a:ea typeface="Arial"/>
                <a:cs typeface="Arial"/>
              </a:defRPr>
            </a:lvl4pPr>
            <a:lvl5pPr>
              <a:defRPr sz="1650" b="1">
                <a:solidFill>
                  <a:srgbClr val="F4F1E9"/>
                </a:solidFill>
                <a:latin typeface="Arial"/>
                <a:ea typeface="Arial"/>
                <a:cs typeface="Arial"/>
              </a:defRPr>
            </a:lvl5pPr>
            <a:lvl6pPr>
              <a:defRPr sz="1650" b="1">
                <a:solidFill>
                  <a:srgbClr val="F4F1E9"/>
                </a:solidFill>
                <a:latin typeface="Arial"/>
                <a:ea typeface="Arial"/>
                <a:cs typeface="Arial"/>
              </a:defRPr>
            </a:lvl6pPr>
            <a:lvl7pPr>
              <a:defRPr sz="1650" b="1">
                <a:solidFill>
                  <a:srgbClr val="F4F1E9"/>
                </a:solidFill>
                <a:latin typeface="Arial"/>
                <a:ea typeface="Arial"/>
                <a:cs typeface="Arial"/>
              </a:defRPr>
            </a:lvl7pPr>
            <a:lvl8pPr>
              <a:defRPr sz="1650" b="1">
                <a:solidFill>
                  <a:srgbClr val="F4F1E9"/>
                </a:solidFill>
                <a:latin typeface="Arial"/>
                <a:ea typeface="Arial"/>
                <a:cs typeface="Arial"/>
              </a:defRPr>
            </a:lvl8pPr>
            <a:lvl9pPr>
              <a:defRPr sz="1650" b="1">
                <a:solidFill>
                  <a:srgbClr val="F4F1E9"/>
                </a:solidFill>
                <a:latin typeface="Arial"/>
                <a:ea typeface="Arial"/>
                <a:cs typeface="Arial"/>
              </a:defRPr>
            </a:lvl9pPr>
          </a:lstStyle>
          <a:p>
            <a:pPr>
              <a:defRPr sz="1650" b="1">
                <a:solidFill>
                  <a:srgbClr val="F4F1E9"/>
                </a:solidFill>
                <a:latin typeface="Arial"/>
                <a:ea typeface="Arial"/>
                <a:cs typeface="Arial"/>
              </a:defRPr>
            </a:pPr>
            <a:r>
              <a:rPr sz="1650" b="1" u="sng">
                <a:latin typeface="Arial"/>
                <a:ea typeface="Arial"/>
                <a:cs typeface="Arial"/>
              </a:rPr>
              <a:t>Random Forest classifier documentation</a:t>
            </a:r>
          </a:p>
        </p:txBody>
      </p:sp>
      <p:sp>
        <p:nvSpPr>
          <p:cNvPr id="14" name="hyperlink__https%3A%2F%2Fscikit-learn.org%2Fstable%2Fmodules%2Fgenerated%2Fsklearn.ensemble.RandomForestRegressor.html-10-12">
            <a:hlinkClick r:id="rId4"/>
            <a:extLst>
              <a:ext uri="{FF2B5EF4-FFF2-40B4-BE49-F238E27FC236}">
                <a16:creationId xmlns:a16="http://schemas.microsoft.com/office/drawing/2014/main" id="{EFBA46BF-357F-413E-8773-5A6B47709230}"/>
              </a:ext>
            </a:extLst>
          </p:cNvPr>
          <p:cNvSpPr>
            <a:spLocks noGrp="1"/>
          </p:cNvSpPr>
          <p:nvPr/>
        </p:nvSpPr>
        <p:spPr>
          <a:xfrm>
            <a:off x="6496050" y="3314700"/>
            <a:ext cx="5095875" cy="466725"/>
          </a:xfrm>
          <a:prstGeom prst="rect">
            <a:avLst/>
          </a:prstGeom>
          <a:noFill/>
          <a:ln w="0">
            <a:noFill/>
          </a:ln>
        </p:spPr>
        <p:txBody>
          <a:bodyPr wrap="square" lIns="0" tIns="0" rIns="0" bIns="0" anchor="t">
            <a:noAutofit/>
          </a:bodyPr>
          <a:lstStyle>
            <a:defPPr>
              <a:defRPr sz="1650" b="1">
                <a:solidFill>
                  <a:srgbClr val="F4F1E9"/>
                </a:solidFill>
                <a:latin typeface="Arial"/>
                <a:ea typeface="Arial"/>
                <a:cs typeface="Arial"/>
              </a:defRPr>
            </a:defPPr>
            <a:lvl1pPr>
              <a:defRPr sz="1650" b="1">
                <a:solidFill>
                  <a:srgbClr val="F4F1E9"/>
                </a:solidFill>
                <a:latin typeface="Arial"/>
                <a:ea typeface="Arial"/>
                <a:cs typeface="Arial"/>
              </a:defRPr>
            </a:lvl1pPr>
            <a:lvl2pPr>
              <a:defRPr sz="1650" b="1">
                <a:solidFill>
                  <a:srgbClr val="F4F1E9"/>
                </a:solidFill>
                <a:latin typeface="Arial"/>
                <a:ea typeface="Arial"/>
                <a:cs typeface="Arial"/>
              </a:defRPr>
            </a:lvl2pPr>
            <a:lvl3pPr>
              <a:defRPr sz="1650" b="1">
                <a:solidFill>
                  <a:srgbClr val="F4F1E9"/>
                </a:solidFill>
                <a:latin typeface="Arial"/>
                <a:ea typeface="Arial"/>
                <a:cs typeface="Arial"/>
              </a:defRPr>
            </a:lvl3pPr>
            <a:lvl4pPr>
              <a:defRPr sz="1650" b="1">
                <a:solidFill>
                  <a:srgbClr val="F4F1E9"/>
                </a:solidFill>
                <a:latin typeface="Arial"/>
                <a:ea typeface="Arial"/>
                <a:cs typeface="Arial"/>
              </a:defRPr>
            </a:lvl4pPr>
            <a:lvl5pPr>
              <a:defRPr sz="1650" b="1">
                <a:solidFill>
                  <a:srgbClr val="F4F1E9"/>
                </a:solidFill>
                <a:latin typeface="Arial"/>
                <a:ea typeface="Arial"/>
                <a:cs typeface="Arial"/>
              </a:defRPr>
            </a:lvl5pPr>
            <a:lvl6pPr>
              <a:defRPr sz="1650" b="1">
                <a:solidFill>
                  <a:srgbClr val="F4F1E9"/>
                </a:solidFill>
                <a:latin typeface="Arial"/>
                <a:ea typeface="Arial"/>
                <a:cs typeface="Arial"/>
              </a:defRPr>
            </a:lvl6pPr>
            <a:lvl7pPr>
              <a:defRPr sz="1650" b="1">
                <a:solidFill>
                  <a:srgbClr val="F4F1E9"/>
                </a:solidFill>
                <a:latin typeface="Arial"/>
                <a:ea typeface="Arial"/>
                <a:cs typeface="Arial"/>
              </a:defRPr>
            </a:lvl7pPr>
            <a:lvl8pPr>
              <a:defRPr sz="1650" b="1">
                <a:solidFill>
                  <a:srgbClr val="F4F1E9"/>
                </a:solidFill>
                <a:latin typeface="Arial"/>
                <a:ea typeface="Arial"/>
                <a:cs typeface="Arial"/>
              </a:defRPr>
            </a:lvl8pPr>
            <a:lvl9pPr>
              <a:defRPr sz="1650" b="1">
                <a:solidFill>
                  <a:srgbClr val="F4F1E9"/>
                </a:solidFill>
                <a:latin typeface="Arial"/>
                <a:ea typeface="Arial"/>
                <a:cs typeface="Arial"/>
              </a:defRPr>
            </a:lvl9pPr>
          </a:lstStyle>
          <a:p>
            <a:pPr>
              <a:defRPr sz="1650" b="1">
                <a:solidFill>
                  <a:srgbClr val="F4F1E9"/>
                </a:solidFill>
                <a:latin typeface="Arial"/>
                <a:ea typeface="Arial"/>
                <a:cs typeface="Arial"/>
              </a:defRPr>
            </a:pPr>
            <a:r>
              <a:rPr sz="1650" b="1" u="sng">
                <a:latin typeface="Arial"/>
                <a:ea typeface="Arial"/>
                <a:cs typeface="Arial"/>
              </a:rPr>
              <a:t>Random Forest regressor documentation</a:t>
            </a:r>
          </a:p>
        </p:txBody>
      </p:sp>
      <p:sp>
        <p:nvSpPr>
          <p:cNvPr id="17" name="hyperlink__https%3A%2F%2Fthreejs.org%2Fdocs%2F-13-15">
            <a:hlinkClick r:id="rId5"/>
            <a:extLst>
              <a:ext uri="{FF2B5EF4-FFF2-40B4-BE49-F238E27FC236}">
                <a16:creationId xmlns:a16="http://schemas.microsoft.com/office/drawing/2014/main" id="{380974D5-4E05-4285-A231-C8642F79E7B1}"/>
              </a:ext>
            </a:extLst>
          </p:cNvPr>
          <p:cNvSpPr>
            <a:spLocks noGrp="1"/>
          </p:cNvSpPr>
          <p:nvPr/>
        </p:nvSpPr>
        <p:spPr>
          <a:xfrm>
            <a:off x="6496050" y="3981450"/>
            <a:ext cx="5095875" cy="466725"/>
          </a:xfrm>
          <a:prstGeom prst="rect">
            <a:avLst/>
          </a:prstGeom>
          <a:noFill/>
          <a:ln w="0">
            <a:noFill/>
          </a:ln>
        </p:spPr>
        <p:txBody>
          <a:bodyPr wrap="square" lIns="0" tIns="0" rIns="0" bIns="0" anchor="t">
            <a:noAutofit/>
          </a:bodyPr>
          <a:lstStyle>
            <a:defPPr>
              <a:defRPr sz="1650" b="1">
                <a:solidFill>
                  <a:srgbClr val="F4F1E9"/>
                </a:solidFill>
                <a:latin typeface="Arial"/>
                <a:ea typeface="Arial"/>
                <a:cs typeface="Arial"/>
              </a:defRPr>
            </a:defPPr>
            <a:lvl1pPr>
              <a:defRPr sz="1650" b="1">
                <a:solidFill>
                  <a:srgbClr val="F4F1E9"/>
                </a:solidFill>
                <a:latin typeface="Arial"/>
                <a:ea typeface="Arial"/>
                <a:cs typeface="Arial"/>
              </a:defRPr>
            </a:lvl1pPr>
            <a:lvl2pPr>
              <a:defRPr sz="1650" b="1">
                <a:solidFill>
                  <a:srgbClr val="F4F1E9"/>
                </a:solidFill>
                <a:latin typeface="Arial"/>
                <a:ea typeface="Arial"/>
                <a:cs typeface="Arial"/>
              </a:defRPr>
            </a:lvl2pPr>
            <a:lvl3pPr>
              <a:defRPr sz="1650" b="1">
                <a:solidFill>
                  <a:srgbClr val="F4F1E9"/>
                </a:solidFill>
                <a:latin typeface="Arial"/>
                <a:ea typeface="Arial"/>
                <a:cs typeface="Arial"/>
              </a:defRPr>
            </a:lvl3pPr>
            <a:lvl4pPr>
              <a:defRPr sz="1650" b="1">
                <a:solidFill>
                  <a:srgbClr val="F4F1E9"/>
                </a:solidFill>
                <a:latin typeface="Arial"/>
                <a:ea typeface="Arial"/>
                <a:cs typeface="Arial"/>
              </a:defRPr>
            </a:lvl4pPr>
            <a:lvl5pPr>
              <a:defRPr sz="1650" b="1">
                <a:solidFill>
                  <a:srgbClr val="F4F1E9"/>
                </a:solidFill>
                <a:latin typeface="Arial"/>
                <a:ea typeface="Arial"/>
                <a:cs typeface="Arial"/>
              </a:defRPr>
            </a:lvl5pPr>
            <a:lvl6pPr>
              <a:defRPr sz="1650" b="1">
                <a:solidFill>
                  <a:srgbClr val="F4F1E9"/>
                </a:solidFill>
                <a:latin typeface="Arial"/>
                <a:ea typeface="Arial"/>
                <a:cs typeface="Arial"/>
              </a:defRPr>
            </a:lvl6pPr>
            <a:lvl7pPr>
              <a:defRPr sz="1650" b="1">
                <a:solidFill>
                  <a:srgbClr val="F4F1E9"/>
                </a:solidFill>
                <a:latin typeface="Arial"/>
                <a:ea typeface="Arial"/>
                <a:cs typeface="Arial"/>
              </a:defRPr>
            </a:lvl7pPr>
            <a:lvl8pPr>
              <a:defRPr sz="1650" b="1">
                <a:solidFill>
                  <a:srgbClr val="F4F1E9"/>
                </a:solidFill>
                <a:latin typeface="Arial"/>
                <a:ea typeface="Arial"/>
                <a:cs typeface="Arial"/>
              </a:defRPr>
            </a:lvl8pPr>
            <a:lvl9pPr>
              <a:defRPr sz="1650" b="1">
                <a:solidFill>
                  <a:srgbClr val="F4F1E9"/>
                </a:solidFill>
                <a:latin typeface="Arial"/>
                <a:ea typeface="Arial"/>
                <a:cs typeface="Arial"/>
              </a:defRPr>
            </a:lvl9pPr>
          </a:lstStyle>
          <a:p>
            <a:pPr>
              <a:defRPr sz="1650" b="1">
                <a:solidFill>
                  <a:srgbClr val="F4F1E9"/>
                </a:solidFill>
                <a:latin typeface="Arial"/>
                <a:ea typeface="Arial"/>
                <a:cs typeface="Arial"/>
              </a:defRPr>
            </a:pPr>
            <a:r>
              <a:rPr sz="1650" b="1" u="sng">
                <a:latin typeface="Arial"/>
                <a:ea typeface="Arial"/>
                <a:cs typeface="Arial"/>
              </a:rPr>
              <a:t>Three.js documentation</a:t>
            </a:r>
          </a:p>
        </p:txBody>
      </p:sp>
      <p:sp>
        <p:nvSpPr>
          <p:cNvPr id="18" name="body-14-16">
            <a:extLst>
              <a:ext uri="{FF2B5EF4-FFF2-40B4-BE49-F238E27FC236}">
                <a16:creationId xmlns:a16="http://schemas.microsoft.com/office/drawing/2014/main" id="{8050D516-79B7-455A-A298-01BF1929B021}"/>
              </a:ext>
            </a:extLst>
          </p:cNvPr>
          <p:cNvSpPr>
            <a:spLocks noGrp="1"/>
          </p:cNvSpPr>
          <p:nvPr/>
        </p:nvSpPr>
        <p:spPr>
          <a:xfrm>
            <a:off x="6496050" y="5410200"/>
            <a:ext cx="5095875" cy="742950"/>
          </a:xfrm>
          <a:prstGeom prst="rect">
            <a:avLst/>
          </a:prstGeom>
          <a:noFill/>
          <a:ln w="0">
            <a:noFill/>
          </a:ln>
        </p:spPr>
        <p:txBody>
          <a:bodyPr wrap="square" lIns="0" tIns="0" rIns="0" bIns="0" anchor="t">
            <a:noAutofit/>
          </a:bodyPr>
          <a:lstStyle>
            <a:defPPr>
              <a:defRPr sz="1650" b="0">
                <a:solidFill>
                  <a:srgbClr val="9CAA8A"/>
                </a:solidFill>
                <a:latin typeface="Arial"/>
                <a:ea typeface="Arial"/>
                <a:cs typeface="Arial"/>
              </a:defRPr>
            </a:defPPr>
            <a:lvl1pPr>
              <a:defRPr sz="1650" b="0">
                <a:solidFill>
                  <a:srgbClr val="9CAA8A"/>
                </a:solidFill>
                <a:latin typeface="Arial"/>
                <a:ea typeface="Arial"/>
                <a:cs typeface="Arial"/>
              </a:defRPr>
            </a:lvl1pPr>
            <a:lvl2pPr>
              <a:defRPr sz="1650" b="0">
                <a:solidFill>
                  <a:srgbClr val="9CAA8A"/>
                </a:solidFill>
                <a:latin typeface="Arial"/>
                <a:ea typeface="Arial"/>
                <a:cs typeface="Arial"/>
              </a:defRPr>
            </a:lvl2pPr>
            <a:lvl3pPr>
              <a:defRPr sz="1650" b="0">
                <a:solidFill>
                  <a:srgbClr val="9CAA8A"/>
                </a:solidFill>
                <a:latin typeface="Arial"/>
                <a:ea typeface="Arial"/>
                <a:cs typeface="Arial"/>
              </a:defRPr>
            </a:lvl3pPr>
            <a:lvl4pPr>
              <a:defRPr sz="1650" b="0">
                <a:solidFill>
                  <a:srgbClr val="9CAA8A"/>
                </a:solidFill>
                <a:latin typeface="Arial"/>
                <a:ea typeface="Arial"/>
                <a:cs typeface="Arial"/>
              </a:defRPr>
            </a:lvl4pPr>
            <a:lvl5pPr>
              <a:defRPr sz="1650" b="0">
                <a:solidFill>
                  <a:srgbClr val="9CAA8A"/>
                </a:solidFill>
                <a:latin typeface="Arial"/>
                <a:ea typeface="Arial"/>
                <a:cs typeface="Arial"/>
              </a:defRPr>
            </a:lvl5pPr>
            <a:lvl6pPr>
              <a:defRPr sz="1650" b="0">
                <a:solidFill>
                  <a:srgbClr val="9CAA8A"/>
                </a:solidFill>
                <a:latin typeface="Arial"/>
                <a:ea typeface="Arial"/>
                <a:cs typeface="Arial"/>
              </a:defRPr>
            </a:lvl6pPr>
            <a:lvl7pPr>
              <a:defRPr sz="1650" b="0">
                <a:solidFill>
                  <a:srgbClr val="9CAA8A"/>
                </a:solidFill>
                <a:latin typeface="Arial"/>
                <a:ea typeface="Arial"/>
                <a:cs typeface="Arial"/>
              </a:defRPr>
            </a:lvl7pPr>
            <a:lvl8pPr>
              <a:defRPr sz="1650" b="0">
                <a:solidFill>
                  <a:srgbClr val="9CAA8A"/>
                </a:solidFill>
                <a:latin typeface="Arial"/>
                <a:ea typeface="Arial"/>
                <a:cs typeface="Arial"/>
              </a:defRPr>
            </a:lvl8pPr>
            <a:lvl9pPr>
              <a:defRPr sz="1650" b="0">
                <a:solidFill>
                  <a:srgbClr val="9CAA8A"/>
                </a:solidFill>
                <a:latin typeface="Arial"/>
                <a:ea typeface="Arial"/>
                <a:cs typeface="Arial"/>
              </a:defRPr>
            </a:lvl9pPr>
          </a:lstStyle>
          <a:p>
            <a:pPr>
              <a:defRPr sz="1650" b="0">
                <a:solidFill>
                  <a:srgbClr val="9CAA8A"/>
                </a:solidFill>
                <a:latin typeface="Arial"/>
                <a:ea typeface="Arial"/>
                <a:cs typeface="Arial"/>
              </a:defRPr>
            </a:pPr>
            <a:r>
              <a:rPr sz="1650" b="0">
                <a:solidFill>
                  <a:srgbClr val="9CAA8A"/>
                </a:solidFill>
                <a:latin typeface="Arial"/>
                <a:ea typeface="Arial"/>
                <a:cs typeface="Arial"/>
              </a:rPr>
              <a:t>Local source: original dataset metadata</a:t>
            </a:r>
          </a:p>
          <a:p>
            <a:pPr>
              <a:defRPr sz="1650" b="0">
                <a:solidFill>
                  <a:srgbClr val="9CAA8A"/>
                </a:solidFill>
                <a:latin typeface="Arial"/>
                <a:ea typeface="Arial"/>
                <a:cs typeface="Arial"/>
              </a:defRPr>
            </a:pPr>
            <a:r>
              <a:rPr sz="1650" b="0">
                <a:solidFill>
                  <a:srgbClr val="9CAA8A"/>
                </a:solidFill>
                <a:latin typeface="Arial"/>
                <a:ea typeface="Arial"/>
                <a:cs typeface="Arial"/>
              </a:rPr>
              <a:t>and the reproducible RF study.</a:t>
            </a:r>
          </a:p>
        </p:txBody>
      </p:sp>
    </p:spTree>
    <p:extLst>
      <p:ext uri="{BB962C8B-B14F-4D97-AF65-F5344CB8AC3E}">
        <p14:creationId xmlns:p14="http://schemas.microsoft.com/office/powerpoint/2010/main" val="64700600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30"/>
                                        <p:tgtEl>
                                          <p:spTgt spid="12"/>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30"/>
                                        <p:tgtEl>
                                          <p:spTgt spid="13"/>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30"/>
                                        <p:tgtEl>
                                          <p:spTgt spid="14"/>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30"/>
                                        <p:tgtEl>
                                          <p:spTgt spid="17"/>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3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2" grpId="0"/>
      <p:bldP spid="13" grpId="0"/>
      <p:bldP spid="14" grpId="0"/>
      <p:bldP spid="17" grpId="0"/>
      <p:bldP spid="18"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3566</Words>
  <Application>Microsoft Office PowerPoint</Application>
  <DocSecurity>0</DocSecurity>
  <PresentationFormat>Widescreen</PresentationFormat>
  <Paragraphs>267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Shaik Shahid786</cp:lastModifiedBy>
  <cp:revision>2</cp:revision>
  <dcterms:created xsi:type="dcterms:W3CDTF">2026-10-24T15:53:15Z</dcterms:created>
  <dcterms:modified xsi:type="dcterms:W3CDTF">2026-10-24T16:07:42Z</dcterms:modified>
</cp:coreProperties>
</file>